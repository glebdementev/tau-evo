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7A829E"/>
            </a:solidFill>
          </c:spPr>
          <c:cat>
            <c:strRef>
              <c:f>Sheet1!$A$2:$A$4</c:f>
              <c:strCache>
                <c:ptCount val="3"/>
                <c:pt idx="0">
                  <c:v>Qwen3
30B-A3B</c:v>
                </c:pt>
                <c:pt idx="1">
                  <c:v>Qwen3.5
Flash</c:v>
                </c:pt>
                <c:pt idx="2">
                  <c:v>GLM 4.7
Flash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27</c:v>
                </c:pt>
                <c:pt idx="1">
                  <c:v>60</c:v>
                </c:pt>
                <c:pt idx="2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all patches</c:v>
                </c:pt>
              </c:strCache>
            </c:strRef>
          </c:tx>
          <c:spPr>
            <a:solidFill>
              <a:srgbClr val="3D8BFD"/>
            </a:solidFill>
          </c:spPr>
          <c:cat>
            <c:strRef>
              <c:f>Sheet1!$A$2:$A$4</c:f>
              <c:strCache>
                <c:ptCount val="3"/>
                <c:pt idx="0">
                  <c:v>Qwen3
30B-A3B</c:v>
                </c:pt>
                <c:pt idx="1">
                  <c:v>Qwen3.5
Flash</c:v>
                </c:pt>
                <c:pt idx="2">
                  <c:v>GLM 4.7
Flash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</c:v>
                </c:pt>
                <c:pt idx="1">
                  <c:v>63</c:v>
                </c:pt>
                <c:pt idx="2">
                  <c:v>40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200"/>
                </a:pPr>
                <a:r>
                  <a:t>Trial Pass Rate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>
                <a:solidFill>
                  <a:srgbClr val="1E2761"/>
                </a:solidFill>
              </a:defRPr>
            </a:pPr>
            <a:r>
              <a:t>Qwen3 30B-A3B Across Scales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trial rate</c:v>
                </c:pt>
              </c:strCache>
            </c:strRef>
          </c:tx>
          <c:spPr>
            <a:solidFill>
              <a:srgbClr val="7A829E"/>
            </a:solidFill>
          </c:spPr>
          <c:cat>
            <c:strRef>
              <c:f>Sheet1!$A$2:$A$4</c:f>
              <c:strCache>
                <c:ptCount val="3"/>
                <c:pt idx="0">
                  <c:v>5 tasks</c:v>
                </c:pt>
                <c:pt idx="1">
                  <c:v>10 tasks</c:v>
                </c:pt>
                <c:pt idx="2">
                  <c:v>20 tasks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</c:v>
                </c:pt>
                <c:pt idx="1">
                  <c:v>27</c:v>
                </c:pt>
                <c:pt idx="2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all patches</c:v>
                </c:pt>
              </c:strCache>
            </c:strRef>
          </c:tx>
          <c:spPr>
            <a:solidFill>
              <a:srgbClr val="3D8BFD"/>
            </a:solidFill>
          </c:spPr>
          <c:cat>
            <c:strRef>
              <c:f>Sheet1!$A$2:$A$4</c:f>
              <c:strCache>
                <c:ptCount val="3"/>
                <c:pt idx="0">
                  <c:v>5 tasks</c:v>
                </c:pt>
                <c:pt idx="1">
                  <c:v>10 tasks</c:v>
                </c:pt>
                <c:pt idx="2">
                  <c:v>20 tasks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73</c:v>
                </c:pt>
                <c:pt idx="1">
                  <c:v>50</c:v>
                </c:pt>
                <c:pt idx="2">
                  <c:v>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Fix rate (%)</c:v>
                </c:pt>
              </c:strCache>
            </c:strRef>
          </c:tx>
          <c:spPr>
            <a:solidFill>
              <a:srgbClr val="1CC98A"/>
            </a:solidFill>
          </c:spPr>
          <c:cat>
            <c:strRef>
              <c:f>Sheet1!$A$2:$A$4</c:f>
              <c:strCache>
                <c:ptCount val="3"/>
                <c:pt idx="0">
                  <c:v>5 tasks</c:v>
                </c:pt>
                <c:pt idx="1">
                  <c:v>10 tasks</c:v>
                </c:pt>
                <c:pt idx="2">
                  <c:v>20 tasks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56</c:v>
                </c:pt>
                <c:pt idx="2">
                  <c:v>53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Fix Tier Breakdown Across All Experiments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Instruction</c:v>
                </c:pt>
              </c:strCache>
            </c:strRef>
          </c:tx>
          <c:spPr>
            <a:solidFill>
              <a:srgbClr val="3D8BFD"/>
            </a:solidFill>
          </c:spPr>
          <c:cat>
            <c:strRef>
              <c:f>Sheet1!$A$2:$A$8</c:f>
              <c:strCache>
                <c:ptCount val="7"/>
                <c:pt idx="0">
                  <c:v>Q3-30B
5 tasks</c:v>
                </c:pt>
                <c:pt idx="1">
                  <c:v>Q3-30B
10 tasks</c:v>
                </c:pt>
                <c:pt idx="2">
                  <c:v>Q3-30B
20 tasks</c:v>
                </c:pt>
                <c:pt idx="3">
                  <c:v>Q3.5 Flash
10 tasks</c:v>
                </c:pt>
                <c:pt idx="4">
                  <c:v>Q3.5 Flash
20 tasks</c:v>
                </c:pt>
                <c:pt idx="5">
                  <c:v>GLM 4.7
5 tasks</c:v>
                </c:pt>
                <c:pt idx="6">
                  <c:v>GLM 4.7
10 tasks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7</c:v>
                </c:pt>
                <c:pt idx="3">
                  <c:v>4</c:v>
                </c:pt>
                <c:pt idx="4">
                  <c:v>11</c:v>
                </c:pt>
                <c:pt idx="5">
                  <c:v>3</c:v>
                </c:pt>
                <c:pt idx="6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Tool Schema</c:v>
                </c:pt>
              </c:strCache>
            </c:strRef>
          </c:tx>
          <c:spPr>
            <a:solidFill>
              <a:srgbClr val="1CC98A"/>
            </a:solidFill>
          </c:spPr>
          <c:cat>
            <c:strRef>
              <c:f>Sheet1!$A$2:$A$8</c:f>
              <c:strCache>
                <c:ptCount val="7"/>
                <c:pt idx="0">
                  <c:v>Q3-30B
5 tasks</c:v>
                </c:pt>
                <c:pt idx="1">
                  <c:v>Q3-30B
10 tasks</c:v>
                </c:pt>
                <c:pt idx="2">
                  <c:v>Q3-30B
20 tasks</c:v>
                </c:pt>
                <c:pt idx="3">
                  <c:v>Q3.5 Flash
10 tasks</c:v>
                </c:pt>
                <c:pt idx="4">
                  <c:v>Q3.5 Flash
20 tasks</c:v>
                </c:pt>
                <c:pt idx="5">
                  <c:v>GLM 4.7
5 tasks</c:v>
                </c:pt>
                <c:pt idx="6">
                  <c:v>GLM 4.7
10 tasks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Guardrail</c:v>
                </c:pt>
              </c:strCache>
            </c:strRef>
          </c:tx>
          <c:spPr>
            <a:solidFill>
              <a:srgbClr val="F5A623"/>
            </a:solidFill>
          </c:spPr>
          <c:cat>
            <c:strRef>
              <c:f>Sheet1!$A$2:$A$8</c:f>
              <c:strCache>
                <c:ptCount val="7"/>
                <c:pt idx="0">
                  <c:v>Q3-30B
5 tasks</c:v>
                </c:pt>
                <c:pt idx="1">
                  <c:v>Q3-30B
10 tasks</c:v>
                </c:pt>
                <c:pt idx="2">
                  <c:v>Q3-30B
20 tasks</c:v>
                </c:pt>
                <c:pt idx="3">
                  <c:v>Q3.5 Flash
10 tasks</c:v>
                </c:pt>
                <c:pt idx="4">
                  <c:v>Q3.5 Flash
20 tasks</c:v>
                </c:pt>
                <c:pt idx="5">
                  <c:v>GLM 4.7
5 tasks</c:v>
                </c:pt>
                <c:pt idx="6">
                  <c:v>GLM 4.7
10 tasks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10-Task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Qwen3 30B-A3B</c:v>
                </c:pt>
              </c:strCache>
            </c:strRef>
          </c:tx>
          <c:spPr>
            <a:solidFill>
              <a:srgbClr val="3D8BFD"/>
            </a:solidFill>
          </c:spPr>
          <c:cat>
            <c:strRef>
              <c:f>Sheet1!$A$2:$A$5</c:f>
              <c:strCache>
                <c:ptCount val="4"/>
                <c:pt idx="0">
                  <c:v>Baseline
majority</c:v>
                </c:pt>
                <c:pt idx="1">
                  <c:v>Final
majority</c:v>
                </c:pt>
                <c:pt idx="2">
                  <c:v>Fix rate
(failing)</c:v>
                </c:pt>
                <c:pt idx="3">
                  <c:v>Unfixable
tasks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50</c:v>
                </c:pt>
                <c:pt idx="2">
                  <c:v>71</c:v>
                </c:pt>
                <c:pt idx="3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Qwen3.5 Flash</c:v>
                </c:pt>
              </c:strCache>
            </c:strRef>
          </c:tx>
          <c:spPr>
            <a:solidFill>
              <a:srgbClr val="1CC98A"/>
            </a:solidFill>
          </c:spPr>
          <c:cat>
            <c:strRef>
              <c:f>Sheet1!$A$2:$A$5</c:f>
              <c:strCache>
                <c:ptCount val="4"/>
                <c:pt idx="0">
                  <c:v>Baseline
majority</c:v>
                </c:pt>
                <c:pt idx="1">
                  <c:v>Final
majority</c:v>
                </c:pt>
                <c:pt idx="2">
                  <c:v>Fix rate
(failing)</c:v>
                </c:pt>
                <c:pt idx="3">
                  <c:v>Unfixable
tasks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70</c:v>
                </c:pt>
                <c:pt idx="2">
                  <c:v>80</c:v>
                </c:pt>
                <c:pt idx="3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GLM 4.7 Flash</c:v>
                </c:pt>
              </c:strCache>
            </c:strRef>
          </c:tx>
          <c:spPr>
            <a:solidFill>
              <a:srgbClr val="F5A623"/>
            </a:solidFill>
          </c:spPr>
          <c:cat>
            <c:strRef>
              <c:f>Sheet1!$A$2:$A$5</c:f>
              <c:strCache>
                <c:ptCount val="4"/>
                <c:pt idx="0">
                  <c:v>Baseline
majority</c:v>
                </c:pt>
                <c:pt idx="1">
                  <c:v>Final
majority</c:v>
                </c:pt>
                <c:pt idx="2">
                  <c:v>Fix rate
(failing)</c:v>
                </c:pt>
                <c:pt idx="3">
                  <c:v>Unfixable
tasks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</c:v>
                </c:pt>
                <c:pt idx="1">
                  <c:v>50</c:v>
                </c:pt>
                <c:pt idx="2">
                  <c:v>0</c:v>
                </c:pt>
                <c:pt idx="3">
                  <c:v>40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majorTickMark val="out"/>
        <c:minorTickMark val="none"/>
        <c:tickLblPos val="nextTo"/>
        <c:crossAx val="-2068027336"/>
        <c:crosses val="autoZero"/>
      </c:valAx>
    </c:plotArea>
    <c:legend>
      <c:legendPos val="b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FFFFFF"/>
                </a:solidFill>
                <a:latin typeface="Georgia"/>
              </a:defRPr>
            </a:pPr>
            <a:r>
              <a:t>Experimental Results &amp;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10896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CADCFC"/>
                </a:solidFill>
                <a:latin typeface="Calibri"/>
              </a:defRPr>
            </a:pPr>
            <a:r>
              <a:t>Diagnose-Patch-Validate: Teacher-Driven Prompt Evolution for LLM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A829E"/>
                </a:solidFill>
                <a:latin typeface="Calibri"/>
              </a:defRPr>
            </a:pPr>
            <a:r>
              <a:t>Gleb Dementyev  |  Business Informatics  | 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2743200" cy="36576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Research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4846320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2761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D303E"/>
                </a:solidFill>
                <a:latin typeface="Calibri"/>
              </a:rPr>
              <a:t>LLM agents in customer service fail ~2% of the time on structured benchmarks. At enterprise scale, that means thousands of mishandled interactions daily.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303E"/>
                </a:solidFill>
                <a:latin typeface="Calibri"/>
              </a:rPr>
              <a:t>Deployed agents are static</a:t>
            </a:r>
            <a:r>
              <a:rPr sz="1500" b="0">
                <a:solidFill>
                  <a:srgbClr val="2D303E"/>
                </a:solidFill>
                <a:latin typeface="Calibri"/>
              </a:rPr>
              <a:t> — once configured, they don't learn from failures. Fine-tuning is expensive and inaccessible for API consumers.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3D8BFD"/>
                </a:solidFill>
                <a:latin typeface="Calibri"/>
              </a:rPr>
              <a:t>Research question: </a:t>
            </a:r>
            <a:r>
              <a:rPr sz="1500" b="1">
                <a:solidFill>
                  <a:srgbClr val="1E2761"/>
                </a:solidFill>
                <a:latin typeface="Calibri"/>
              </a:rPr>
              <a:t>How can agent performance be improved through automated, teacher-model-driven prompt and tool evolution?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73152" cy="4846320"/>
          </a:xfrm>
          <a:prstGeom prst="rect">
            <a:avLst/>
          </a:prstGeom>
          <a:solidFill>
            <a:srgbClr val="1C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54480"/>
            <a:ext cx="4389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2761"/>
                </a:solidFill>
                <a:latin typeface="Calibri"/>
              </a:defRPr>
            </a:pPr>
            <a:r>
              <a:t>The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0312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303E"/>
                </a:solidFill>
                <a:latin typeface="Calibri"/>
              </a:rPr>
              <a:t>Diagnose-Patch-Validate Framework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D303E"/>
                </a:solidFill>
                <a:latin typeface="Calibri"/>
              </a:rPr>
              <a:t>A teacher model (Kimi K2.5) analyzes a student's failed conversation traces, proposes structured patches, and validates before merging.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303E"/>
                </a:solidFill>
                <a:latin typeface="Calibri"/>
              </a:rPr>
              <a:t>Three student models tested: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• Qwen3 30B-A3B (weak, MoE)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• Qwen3.5 Flash (strong)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• GLM 4.7 Flash (moderate, different family)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0">
                <a:solidFill>
                  <a:srgbClr val="2D303E"/>
                </a:solidFill>
                <a:latin typeface="Calibri"/>
              </a:rPr>
              <a:t>Evaluated on τ²-bench airline domain at 5, 10, and 20 tasks across 8 experimental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Failure Diagnosis → Patch Surfaces</a:t>
            </a:r>
          </a:p>
        </p:txBody>
      </p:sp>
      <p:pic>
        <p:nvPicPr>
          <p:cNvPr id="4" name="Picture 3" descr="slide_fig_06_patch_sur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029200" cy="3365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217920" y="1371600"/>
            <a:ext cx="530352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73152" cy="4846320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200" b="1">
                <a:solidFill>
                  <a:srgbClr val="1E2761"/>
                </a:solidFill>
                <a:latin typeface="Calibri"/>
              </a:rPr>
              <a:t>Three Patch Tiers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3D8BFD"/>
                </a:solidFill>
                <a:latin typeface="Calibri"/>
              </a:rPr>
              <a:t>1. Instruction Patches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Behavioral rules added to the system prompt. Dominant lever across all experiments (70–92% of fixes).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1CC98A"/>
                </a:solidFill>
                <a:latin typeface="Calibri"/>
              </a:rPr>
              <a:t>2. Tool Schema Patches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Parameter descriptions, constraint notes, usage hints in tool definitions. Emerge only at 20-task scale.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600" b="1">
                <a:solidFill>
                  <a:srgbClr val="F5A623"/>
                </a:solidFill>
                <a:latin typeface="Calibri"/>
              </a:rPr>
              <a:t>3. Guardrail Preprocessors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Input coercion, format normalization. Most expensive fixes (3 attempts, 30+ messages on average).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The escalation order (instruction → tools → guardrail) ensures the cheapest fix is tried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Result 1: Five-Task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91840" cy="73152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Qwen3 30B-A3B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829E"/>
                </a:solidFill>
                <a:latin typeface="Calibri"/>
              </a:defRPr>
            </a:pPr>
            <a:r>
              <a:t>Weak student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3D8BFD"/>
                </a:solidFill>
                <a:latin typeface="Georgia"/>
              </a:defRPr>
            </a:pPr>
            <a:r>
              <a:t>+20pp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829E"/>
                </a:solidFill>
                <a:latin typeface="Calibri"/>
              </a:defRPr>
            </a:pPr>
            <a:r>
              <a:t>net change after all sweeps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Baseline: </a:t>
            </a:r>
            <a:r>
              <a:rPr sz="1400" b="1">
                <a:solidFill>
                  <a:srgbClr val="2D303E"/>
                </a:solidFill>
                <a:latin typeface="Calibri"/>
              </a:rPr>
              <a:t>53%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After all patches: </a:t>
            </a:r>
            <a:r>
              <a:rPr sz="1400" b="1">
                <a:solidFill>
                  <a:srgbClr val="2D303E"/>
                </a:solidFill>
                <a:latin typeface="Calibri"/>
              </a:rPr>
              <a:t>73%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Fix rate: </a:t>
            </a:r>
            <a:r>
              <a:rPr sz="1400" b="1">
                <a:solidFill>
                  <a:srgbClr val="2D303E"/>
                </a:solidFill>
                <a:latin typeface="Calibri"/>
              </a:rPr>
              <a:t>100%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137160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3291840" cy="73152"/>
          </a:xfrm>
          <a:prstGeom prst="rect">
            <a:avLst/>
          </a:prstGeom>
          <a:solidFill>
            <a:srgbClr val="1C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645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Qwen3.5 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011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829E"/>
                </a:solidFill>
                <a:latin typeface="Calibri"/>
              </a:defRPr>
            </a:pPr>
            <a:r>
              <a:t>Strong student (ceiling)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46888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1CC98A"/>
                </a:solidFill>
                <a:latin typeface="Georgia"/>
              </a:defRPr>
            </a:pPr>
            <a:r>
              <a:t>0pp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383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829E"/>
                </a:solidFill>
                <a:latin typeface="Calibri"/>
              </a:defRPr>
            </a:pPr>
            <a:r>
              <a:t>net change after all sweeps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Baseline: </a:t>
            </a:r>
            <a:r>
              <a:rPr sz="1400" b="1">
                <a:solidFill>
                  <a:srgbClr val="2D303E"/>
                </a:solidFill>
                <a:latin typeface="Calibri"/>
              </a:rPr>
              <a:t>100%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After all patches: </a:t>
            </a:r>
            <a:r>
              <a:rPr sz="1400" b="1">
                <a:solidFill>
                  <a:srgbClr val="2D303E"/>
                </a:solidFill>
                <a:latin typeface="Calibri"/>
              </a:rPr>
              <a:t>100%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Fix rate: </a:t>
            </a:r>
            <a:r>
              <a:rPr sz="1400" b="1">
                <a:solidFill>
                  <a:srgbClr val="2D303E"/>
                </a:solidFill>
                <a:latin typeface="Calibri"/>
              </a:rPr>
              <a:t>N/A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32918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291840" cy="73152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164592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GLM 4.7 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20116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829E"/>
                </a:solidFill>
                <a:latin typeface="Calibri"/>
              </a:defRPr>
            </a:pPr>
            <a:r>
              <a:t>Different model family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468880"/>
            <a:ext cx="2743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E84D60"/>
                </a:solidFill>
                <a:latin typeface="Georgia"/>
              </a:defRPr>
            </a:pPr>
            <a:r>
              <a:t>0pp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383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7A829E"/>
                </a:solidFill>
                <a:latin typeface="Calibri"/>
              </a:defRPr>
            </a:pPr>
            <a:r>
              <a:t>net change after all sweeps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931920"/>
            <a:ext cx="2743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Baseline: </a:t>
            </a:r>
            <a:r>
              <a:rPr sz="1400" b="1">
                <a:solidFill>
                  <a:srgbClr val="2D303E"/>
                </a:solidFill>
                <a:latin typeface="Calibri"/>
              </a:rPr>
              <a:t>47%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After all patches: </a:t>
            </a:r>
            <a:r>
              <a:rPr sz="1400" b="1">
                <a:solidFill>
                  <a:srgbClr val="2D303E"/>
                </a:solidFill>
                <a:latin typeface="Calibri"/>
              </a:rPr>
              <a:t>47%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Fix rate: </a:t>
            </a:r>
            <a:r>
              <a:rPr sz="1400" b="1">
                <a:solidFill>
                  <a:srgbClr val="2D303E"/>
                </a:solidFill>
                <a:latin typeface="Calibri"/>
              </a:rPr>
              <a:t>67%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1264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29E"/>
                </a:solidFill>
                <a:latin typeface="Calibri"/>
              </a:defRPr>
            </a:pPr>
            <a:r>
              <a:t>5-task evaluation on τ²-bench airline domain  |  3 trials per task  |  Teacher: Kimi K2.5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Result 2: Ten-Task Evaluation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80160"/>
          <a:ext cx="5943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132320" y="1371600"/>
            <a:ext cx="43891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0" y="1371600"/>
            <a:ext cx="73152" cy="45720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Key Findings at 10 Tasks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E84D60"/>
                </a:solidFill>
                <a:latin typeface="Calibri"/>
              </a:rPr>
              <a:t>GLM 4.7 Flash: net decline to 40%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Patches cause net harm. Trial rate drops from 50% baseline to 40% after all sweeps. Zero genuinely failing tasks were repaired.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CC98A"/>
                </a:solidFill>
                <a:latin typeface="Calibri"/>
              </a:rPr>
              <a:t>Qwen3.5 Flash: +3pp net (60% → 63%)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Peaked at 80% in sweep 2 but regressed to 63% after sweep 3 patches. Fixed tasks that Qwen3 30B-A3B could not (11, 12).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Hard core of resistant tasks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Tasks 7, 9, 11, 12 resist repair for weaker models. The framework has a minimum student capability threshold.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Result 3: Twenty-Task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73152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2761"/>
                </a:solidFill>
                <a:latin typeface="Calibri"/>
              </a:defRPr>
            </a:pPr>
            <a:r>
              <a:t>Qwen3 30B-A3B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4400" b="1">
                <a:solidFill>
                  <a:srgbClr val="7A829E"/>
                </a:solidFill>
                <a:latin typeface="Georgia"/>
              </a:rPr>
              <a:t>22%</a:t>
            </a:r>
            <a:r>
              <a:rPr sz="2800" b="0">
                <a:solidFill>
                  <a:srgbClr val="7A829E"/>
                </a:solidFill>
                <a:latin typeface="Calibri"/>
              </a:rPr>
              <a:t>  →  </a:t>
            </a:r>
            <a:r>
              <a:rPr sz="4400" b="1">
                <a:solidFill>
                  <a:srgbClr val="3D8BFD"/>
                </a:solidFill>
                <a:latin typeface="Georgia"/>
              </a:rPr>
              <a:t>30%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7A829E"/>
                </a:solidFill>
                <a:latin typeface="Calibri"/>
              </a:rPr>
              <a:t>trial pass rate (baseline → after all patches)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303E"/>
                </a:solidFill>
                <a:latin typeface="Calibri"/>
              </a:rPr>
              <a:t>+8pp net improvement  |  53% fix rate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E84D60"/>
                </a:solidFill>
                <a:latin typeface="Calibri"/>
              </a:rPr>
              <a:t>11 of 15 failing tasks unfixable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800+ messages, 300+ tool calls, 7+ hours on failed attempts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3D8BFD"/>
                </a:solidFill>
                <a:latin typeface="Calibri"/>
              </a:rPr>
              <a:t>Tool-schema fixes emerge (20% of fixes)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029200" cy="73152"/>
          </a:xfrm>
          <a:prstGeom prst="rect">
            <a:avLst/>
          </a:prstGeom>
          <a:solidFill>
            <a:srgbClr val="1C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2761"/>
                </a:solidFill>
                <a:latin typeface="Calibri"/>
              </a:defRPr>
            </a:pPr>
            <a:r>
              <a:t>Qwen3.5 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4400" b="1">
                <a:solidFill>
                  <a:srgbClr val="7A829E"/>
                </a:solidFill>
                <a:latin typeface="Georgia"/>
              </a:rPr>
              <a:t>47%</a:t>
            </a:r>
            <a:r>
              <a:rPr sz="2800" b="0">
                <a:solidFill>
                  <a:srgbClr val="7A829E"/>
                </a:solidFill>
                <a:latin typeface="Calibri"/>
              </a:rPr>
              <a:t>  →  </a:t>
            </a:r>
            <a:r>
              <a:rPr sz="4400" b="1">
                <a:solidFill>
                  <a:srgbClr val="1CC98A"/>
                </a:solidFill>
                <a:latin typeface="Georgia"/>
              </a:rPr>
              <a:t>58%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300" b="0">
                <a:solidFill>
                  <a:srgbClr val="7A829E"/>
                </a:solidFill>
                <a:latin typeface="Calibri"/>
              </a:rPr>
              <a:t>trial pass rate (baseline → after all patches)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2D303E"/>
                </a:solidFill>
                <a:latin typeface="Calibri"/>
              </a:rPr>
              <a:t>+11pp net  |  +20pp majority (45% → 65%)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CC98A"/>
                </a:solidFill>
                <a:latin typeface="Calibri"/>
              </a:rPr>
              <a:t>92% instruction-tier fixes (no tool patches needed)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Stronger model renders tool-schema patches unnecessary.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1CC98A"/>
                </a:solidFill>
                <a:latin typeface="Calibri"/>
              </a:rPr>
              <a:t>Stable between sweeps 2 &amp; 3 — majority holds at 65%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Result 4: Scaling Behavior — Capacity Ceiling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594360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6858000" y="1371600"/>
            <a:ext cx="475488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1371600"/>
            <a:ext cx="73152" cy="4754880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0" y="155448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Two Regimes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3D8BFD"/>
                </a:solidFill>
                <a:latin typeface="Calibri"/>
              </a:rPr>
              <a:t>5 → 10 tasks: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Net gain +20pp at 5 tasks, +23pp at 10. Fix rate drops sharply (100% → 56%) as harder tasks enter.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3D8BFD"/>
                </a:solidFill>
                <a:latin typeface="Calibri"/>
              </a:rPr>
              <a:t>10 → 20 tasks: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Net gain drops to +8pp. Fix rate stabilises (53%) but regression erodes gains. Framework hits capacity ceiling.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Capacity ceiling: ~5–8 fixable tasks per run regardless of pool size.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Successful fixes: 7 → 7 → 10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Doubling from 10→20 tasks yields only 3 extra fixes. The framework encounters more of the same resistant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Result 5: Instruction Patches Dominate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0" y="1371600"/>
            <a:ext cx="39319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371600"/>
            <a:ext cx="73152" cy="4754880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5544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4000" b="1">
                <a:solidFill>
                  <a:srgbClr val="3D8BFD"/>
                </a:solidFill>
                <a:latin typeface="Georgia"/>
              </a:rPr>
              <a:t>70–92%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of all fixes are instruction-tier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Supports the Superficial Alignment Hypothesis: models already have capability; they lack explicit knowledge that they should follow a particular policy.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Stronger student → higher instruction share (80% → 92%) and fewer guardrail escalations.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0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7A829E"/>
                </a:solidFill>
                <a:latin typeface="Calibri"/>
              </a:rPr>
              <a:t>Tool-schema patches appear only for the weakest model at the largest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Georgia"/>
              </a:defRPr>
            </a:pPr>
            <a:r>
              <a:t>Result 6: Patch Interference Across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383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73152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761"/>
                </a:solidFill>
                <a:latin typeface="Calibri"/>
              </a:defRPr>
            </a:pPr>
            <a:r>
              <a:t>Qwen3 30B-A3B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2834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3D8BFD"/>
                </a:solidFill>
                <a:latin typeface="Georgia"/>
              </a:defRPr>
            </a:pPr>
            <a:r>
              <a:t>Mild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260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29E"/>
                </a:solidFill>
                <a:latin typeface="Calibri"/>
              </a:defRPr>
            </a:pPr>
            <a:r>
              <a:t>Low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8328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Task 5 regresses between sweeps 2→3 (3/3 → 1/3). Otherwise stable. Most tolerant of accumulated patches.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371600"/>
            <a:ext cx="3383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33832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64592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761"/>
                </a:solidFill>
                <a:latin typeface="Calibri"/>
              </a:defRPr>
            </a:pPr>
            <a:r>
              <a:t>Qwen3.5 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103120"/>
            <a:ext cx="2834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5A623"/>
                </a:solidFill>
                <a:latin typeface="Georgia"/>
              </a:defRPr>
            </a:pPr>
            <a:r>
              <a:t>Severe at 10 tasks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9260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29E"/>
                </a:solidFill>
                <a:latin typeface="Calibri"/>
              </a:defRPr>
            </a:pPr>
            <a:r>
              <a:t>Scale-dependent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338328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Trial rate drops -17pp in sweep 3. Task 11 collapses (3/3 → 0/3). But stable at 20 tasks — larger pool dilutes interference.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1371600"/>
            <a:ext cx="338328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598" y="1371600"/>
            <a:ext cx="3383280" cy="73152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18" y="164592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2761"/>
                </a:solidFill>
                <a:latin typeface="Calibri"/>
              </a:defRPr>
            </a:pPr>
            <a:r>
              <a:t>GLM 4.7 Flash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8" y="2103120"/>
            <a:ext cx="28346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E84D60"/>
                </a:solidFill>
                <a:latin typeface="Georgia"/>
              </a:defRPr>
            </a:pPr>
            <a:r>
              <a:t>Catastrophic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8" y="2926080"/>
            <a:ext cx="28346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A829E"/>
                </a:solidFill>
                <a:latin typeface="Calibri"/>
              </a:defRPr>
            </a:pPr>
            <a:r>
              <a:t>Disqualifying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8" y="3383280"/>
            <a:ext cx="2834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Sweep 3 at 5 tasks: -40pp majority collapse to baseline. At 10 tasks: continuous decline, never recovers. Framework causes net harm.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Result 7: Stronger Student → Amplified (Not Equalised) Gains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68580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772400" y="1371600"/>
            <a:ext cx="393192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0" y="1371600"/>
            <a:ext cx="73152" cy="4754880"/>
          </a:xfrm>
          <a:prstGeom prst="rect">
            <a:avLst/>
          </a:prstGeom>
          <a:solidFill>
            <a:srgbClr val="1C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0" y="15544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1E2761"/>
                </a:solidFill>
                <a:latin typeface="Calibri"/>
              </a:rPr>
              <a:t>Framework amplifies capability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The ceiling tracks the student's intrinsic capability, not the teacher's diagnostic power.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2D303E"/>
                </a:solidFill>
                <a:latin typeface="Calibri"/>
              </a:rPr>
              <a:t>Same patches, different outcomes: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Task 11: fails with Qwen3 30B, fixed in 42s with Qwen3.5 Flash. The knowledge in the patch is identical; what differs is the student's capacity.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1CC98A"/>
                </a:solidFill>
                <a:latin typeface="Calibri"/>
              </a:rPr>
              <a:t>Only Task 7 is truly model-agnostic resistant — all others are student-dependent.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100" b="0">
                <a:solidFill>
                  <a:srgbClr val="7A829E"/>
                </a:solidFill>
                <a:latin typeface="Calibri"/>
              </a:rPr>
              <a:t>Note: 'Unfixable tasks' shown as % of 10 for chart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Contribution: Prompt-Level Knowledge Distillation</a:t>
            </a:r>
          </a:p>
        </p:txBody>
      </p:sp>
      <p:pic>
        <p:nvPicPr>
          <p:cNvPr id="4" name="Picture 3" descr="fig_14_knowledge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7772400" cy="32424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503920" y="1371600"/>
            <a:ext cx="32004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503920" y="1371600"/>
            <a:ext cx="73152" cy="4846320"/>
          </a:xfrm>
          <a:prstGeom prst="rect">
            <a:avLst/>
          </a:prstGeom>
          <a:solidFill>
            <a:srgbClr val="1C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0" y="155448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800" b="1">
                <a:solidFill>
                  <a:srgbClr val="1E2761"/>
                </a:solidFill>
                <a:latin typeface="Calibri"/>
              </a:rPr>
              <a:t>Novel modality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Classical distillation transfers knowledge into weights.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This work distills into operating instructions — compatible with API-only model access.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8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1">
                <a:solidFill>
                  <a:srgbClr val="1CC98A"/>
                </a:solidFill>
                <a:latin typeface="Calibri"/>
              </a:rPr>
              <a:t>Preserves the student's original capabilities while augmenting behavior.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Georgia"/>
              </a:defRPr>
            </a:pPr>
            <a: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CC98A"/>
                </a:solidFill>
                <a:latin typeface="Calibri"/>
              </a:defRPr>
            </a:pPr>
            <a:r>
              <a:t>What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CC98A"/>
                </a:solidFill>
                <a:latin typeface="Calibri"/>
              </a:rPr>
              <a:t>1. </a:t>
            </a:r>
            <a:r>
              <a:rPr sz="1500" b="0">
                <a:solidFill>
                  <a:srgbClr val="CADCFC"/>
                </a:solidFill>
                <a:latin typeface="Calibri"/>
              </a:rPr>
              <a:t>Input-space-only evolution produces +8 to +23pp net improvement without weight updates, GPU infra, or preference data.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CC98A"/>
                </a:solidFill>
                <a:latin typeface="Calibri"/>
              </a:rPr>
              <a:t>2. </a:t>
            </a:r>
            <a:r>
              <a:rPr sz="1500" b="0">
                <a:solidFill>
                  <a:srgbClr val="CADCFC"/>
                </a:solidFill>
                <a:latin typeface="Calibri"/>
              </a:rPr>
              <a:t>Plain-text instruction patches dominate (70–92%), supporting the Superficial Alignment Hypothesis in agentic settings.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CC98A"/>
                </a:solidFill>
                <a:latin typeface="Calibri"/>
              </a:rPr>
              <a:t>3. </a:t>
            </a:r>
            <a:r>
              <a:rPr sz="1500" b="0">
                <a:solidFill>
                  <a:srgbClr val="CADCFC"/>
                </a:solidFill>
                <a:latin typeface="Calibri"/>
              </a:rPr>
              <a:t>The framework is efficient: value is concentrated in the first 1–2 sweeps. Practical for deployment.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1CC98A"/>
                </a:solidFill>
                <a:latin typeface="Calibri"/>
              </a:rPr>
              <a:t>4. </a:t>
            </a:r>
            <a:r>
              <a:rPr sz="1500" b="0">
                <a:solidFill>
                  <a:srgbClr val="CADCFC"/>
                </a:solidFill>
                <a:latin typeface="Calibri"/>
              </a:rPr>
              <a:t>Patches are human-readable, versionable, and compatible with existing change-management workflows.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4D60"/>
                </a:solidFill>
                <a:latin typeface="Calibri"/>
              </a:defRPr>
            </a:pPr>
            <a:r>
              <a:t>What Doesn't (Yet)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E84D60"/>
                </a:solidFill>
                <a:latin typeface="Calibri"/>
              </a:rPr>
              <a:t>1. </a:t>
            </a:r>
            <a:r>
              <a:rPr sz="1500" b="0">
                <a:solidFill>
                  <a:srgbClr val="CADCFC"/>
                </a:solidFill>
                <a:latin typeface="Calibri"/>
              </a:rPr>
              <a:t>Capacity ceiling of ~5–8 fixable tasks per run. Improvement halves from 10 to 20 tasks.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E84D60"/>
                </a:solidFill>
                <a:latin typeface="Calibri"/>
              </a:rPr>
              <a:t>2. </a:t>
            </a:r>
            <a:r>
              <a:rPr sz="1500" b="0">
                <a:solidFill>
                  <a:srgbClr val="CADCFC"/>
                </a:solidFill>
                <a:latin typeface="Calibri"/>
              </a:rPr>
              <a:t>Patch interference causes 'prompt-space forgetting.' Unbounded accumulation degrades performance.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E84D60"/>
                </a:solidFill>
                <a:latin typeface="Calibri"/>
              </a:rPr>
              <a:t>3. </a:t>
            </a:r>
            <a:r>
              <a:rPr sz="1500" b="0">
                <a:solidFill>
                  <a:srgbClr val="CADCFC"/>
                </a:solidFill>
                <a:latin typeface="Calibri"/>
              </a:rPr>
              <a:t>Not all models benefit. GLM 4.7 Flash experienced net harm from evolution at 10 tasks.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500" b="1">
                <a:solidFill>
                  <a:srgbClr val="E84D60"/>
                </a:solidFill>
                <a:latin typeface="Calibri"/>
              </a:rPr>
              <a:t>4. </a:t>
            </a:r>
            <a:r>
              <a:rPr sz="1500" b="0">
                <a:solidFill>
                  <a:srgbClr val="CADCFC"/>
                </a:solidFill>
                <a:latin typeface="Calibri"/>
              </a:rPr>
              <a:t>Final post-evo: 73% (5t), 50–63% (10t), 30–58% (20t). Regression erodes peaks. Far from 99.99% enterprise target.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Georgia"/>
              </a:defRPr>
            </a:pPr>
            <a:r>
              <a:t>Practical Implications for Enterprise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2286000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Invest in the Base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The framework amplifies capability differences. Qwen3.5 Flash reaches 65% vs 30% at 20 tasks. Choose the strongest feasible model before applying evolution.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73152" cy="2286000"/>
          </a:xfrm>
          <a:prstGeom prst="rect">
            <a:avLst/>
          </a:prstGeom>
          <a:solidFill>
            <a:srgbClr val="1C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645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Pilot Before Deploying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9456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Model compatibility testing is essential. GLM 4.7 Flash results show evolution can be actively harmful. A brief 5-task pilot reveals whether patches will destabilise.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73152" cy="2286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206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Manage Patches Actively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548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Version, regression-test, and potentially retire patches. Different models need different sweep limits: 2 sweeps for Qwen3.5 Flash, avoid evolution for incompatible models.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931920"/>
            <a:ext cx="53035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931920"/>
            <a:ext cx="73152" cy="228600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0" y="420624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E2761"/>
                </a:solidFill>
                <a:latin typeface="Calibri"/>
              </a:defRPr>
            </a:pPr>
            <a:r>
              <a:t>Layer with Other Methods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47548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Prompt evolution handles policy-encodable failures efficiently but cannot reach four-nines alone. Combine with stronger models, fine-tuning, architectural improvements, and human escalation.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0584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Limitations &amp; Future Directions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73152" cy="4846320"/>
          </a:xfrm>
          <a:prstGeom prst="rect">
            <a:avLst/>
          </a:prstGeom>
          <a:solidFill>
            <a:srgbClr val="E84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2761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Single domain (airline) — retail &amp; telecom untested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Single teacher model (Kimi K2.5) — sensitivity to teacher choice unknown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Only 3 trials per task — limited statistical power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LLM user simulator may share biases with student models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No comparison with RLHF, DPO, or LoRA fine-tuning baselines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No patch retirement or consolidation mechanism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029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73152" cy="4846320"/>
          </a:xfrm>
          <a:prstGeom prst="rect">
            <a:avLst/>
          </a:prstGeom>
          <a:solidFill>
            <a:srgbClr val="1CC9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544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E2761"/>
                </a:solidFill>
                <a:latin typeface="Calibri"/>
              </a:defRPr>
            </a:pPr>
            <a:r>
              <a:t>Future Directions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0312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Cross-domain &amp; cross-benchmark validation (CRMArena, τ-bench)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Teacher-student ablations — mapping the design space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Hybrid prompt + weight evolution (prompt for easy wins, LoRA for resistant tasks)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Patch management: consolidation, regression-aware selection, retirement policies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Comparison with GEPA self-reflective evolution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600" b="0">
                <a:solidFill>
                  <a:srgbClr val="2D303E"/>
                </a:solidFill>
                <a:latin typeface="Calibri"/>
              </a:rPr>
              <a:t/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sz="1400" b="0">
                <a:solidFill>
                  <a:srgbClr val="2D303E"/>
                </a:solidFill>
                <a:latin typeface="Calibri"/>
              </a:rPr>
              <a:t>Real-world deployment study with production customer service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CADCFC"/>
                </a:solidFill>
                <a:latin typeface="Georgia"/>
              </a:defRPr>
            </a:pPr>
            <a:r>
              <a:t>"A lightweight mechanism for continuous improvement</a:t>
            </a:r>
            <a:br/>
            <a:r>
              <a:t>in the input space that works within the constraints</a:t>
            </a:r>
            <a:br/>
            <a:r>
              <a:t>most enterprises actually face."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657600"/>
            <a:ext cx="2103120" cy="36576"/>
          </a:xfrm>
          <a:prstGeom prst="rect">
            <a:avLst/>
          </a:prstGeom>
          <a:solidFill>
            <a:srgbClr val="3D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503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7A829E"/>
                </a:solidFill>
                <a:latin typeface="Calibri"/>
              </a:defRPr>
            </a:pPr>
            <a:r>
              <a:t>No weight access  ·  No training infra  ·  Human-readable patches  ·  API-compatible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5303520"/>
            <a:ext cx="66751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Georgia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