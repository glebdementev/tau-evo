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1" r:id="rId2"/>
    <p:sldId id="259" r:id="rId3"/>
    <p:sldId id="287" r:id="rId4"/>
    <p:sldId id="274" r:id="rId5"/>
    <p:sldId id="272" r:id="rId6"/>
    <p:sldId id="275" r:id="rId7"/>
    <p:sldId id="277" r:id="rId8"/>
    <p:sldId id="278" r:id="rId9"/>
    <p:sldId id="286" r:id="rId10"/>
    <p:sldId id="280" r:id="rId11"/>
    <p:sldId id="281" r:id="rId12"/>
    <p:sldId id="282" r:id="rId13"/>
    <p:sldId id="289" r:id="rId14"/>
    <p:sldId id="284" r:id="rId15"/>
    <p:sldId id="29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D69"/>
    <a:srgbClr val="CD5A5A"/>
    <a:srgbClr val="004986"/>
    <a:srgbClr val="E61E3C"/>
    <a:srgbClr val="FFCDD2"/>
    <a:srgbClr val="C8E6C9"/>
    <a:srgbClr val="234B9B"/>
    <a:srgbClr val="F5C3C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09" autoAdjust="0"/>
  </p:normalViewPr>
  <p:slideViewPr>
    <p:cSldViewPr snapToGrid="0">
      <p:cViewPr varScale="1">
        <p:scale>
          <a:sx n="103" d="100"/>
          <a:sy n="103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4D81D-654F-48DB-A33D-3E6F325A101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93330-6B9A-4C0D-8499-7E41F07687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750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050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405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129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435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052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110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405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732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307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4346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973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440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624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90" y="417310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3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6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27" name="Рисунок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21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607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43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5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2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1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55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93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5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39BA1-5047-414E-8A3F-E19F7F2DED6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3F6F1-63BF-4504-A93A-2FA8850D4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40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gddementev@mail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5B76545-6C8B-F946-9634-A413147AEE89}"/>
              </a:ext>
            </a:extLst>
          </p:cNvPr>
          <p:cNvSpPr txBox="1"/>
          <p:nvPr/>
        </p:nvSpPr>
        <p:spPr>
          <a:xfrm>
            <a:off x="5708404" y="614270"/>
            <a:ext cx="2346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SE Sans" panose="02000000000000000000" pitchFamily="2" charset="0"/>
              </a:rPr>
              <a:t>Конференция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Научный телеграф</a:t>
            </a:r>
            <a:endParaRPr lang="en-US" sz="1200" dirty="0">
              <a:latin typeface="HSE Sans" panose="02000000000000000000" pitchFamily="2" charset="0"/>
            </a:endParaRPr>
          </a:p>
        </p:txBody>
      </p:sp>
      <p:cxnSp>
        <p:nvCxnSpPr>
          <p:cNvPr id="18" name="Straight Connector 48">
            <a:extLst>
              <a:ext uri="{FF2B5EF4-FFF2-40B4-BE49-F238E27FC236}">
                <a16:creationId xmlns:a16="http://schemas.microsoft.com/office/drawing/2014/main" id="{46457941-DFD6-9241-8BB6-CA0A3EDA88BB}"/>
              </a:ext>
            </a:extLst>
          </p:cNvPr>
          <p:cNvCxnSpPr>
            <a:cxnSpLocks/>
          </p:cNvCxnSpPr>
          <p:nvPr/>
        </p:nvCxnSpPr>
        <p:spPr>
          <a:xfrm>
            <a:off x="5649835" y="463409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50">
            <a:extLst>
              <a:ext uri="{FF2B5EF4-FFF2-40B4-BE49-F238E27FC236}">
                <a16:creationId xmlns:a16="http://schemas.microsoft.com/office/drawing/2014/main" id="{AB235920-EBA7-1044-AF40-A268EBD25FF0}"/>
              </a:ext>
            </a:extLst>
          </p:cNvPr>
          <p:cNvCxnSpPr>
            <a:cxnSpLocks/>
          </p:cNvCxnSpPr>
          <p:nvPr/>
        </p:nvCxnSpPr>
        <p:spPr>
          <a:xfrm>
            <a:off x="8202204" y="463409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3541BE7-2DE2-6447-9069-9E74408E6EED}"/>
              </a:ext>
            </a:extLst>
          </p:cNvPr>
          <p:cNvSpPr txBox="1"/>
          <p:nvPr/>
        </p:nvSpPr>
        <p:spPr>
          <a:xfrm>
            <a:off x="8357009" y="614270"/>
            <a:ext cx="2079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HSE Sans" panose="02000000000000000000" pitchFamily="2" charset="0"/>
              </a:rPr>
              <a:t>Москва</a:t>
            </a:r>
          </a:p>
          <a:p>
            <a:r>
              <a:rPr lang="en-GB" sz="1200" dirty="0">
                <a:latin typeface="HSE Sans" panose="02000000000000000000" pitchFamily="2" charset="0"/>
              </a:rPr>
              <a:t>Май 2026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C8D9CC-A3BB-C448-9CE9-6C4EC5E63B4E}"/>
              </a:ext>
            </a:extLst>
          </p:cNvPr>
          <p:cNvSpPr txBox="1"/>
          <p:nvPr/>
        </p:nvSpPr>
        <p:spPr>
          <a:xfrm>
            <a:off x="1215000" y="5388136"/>
            <a:ext cx="44348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HSE Sans" panose="02000000000000000000" pitchFamily="2" charset="0"/>
              </a:rPr>
              <a:t>Автор: </a:t>
            </a:r>
            <a:r>
              <a:rPr lang="en-US" sz="1600" dirty="0" err="1">
                <a:latin typeface="HSE Sans" panose="02000000000000000000" pitchFamily="2" charset="0"/>
              </a:rPr>
              <a:t>Глеб</a:t>
            </a:r>
            <a:r>
              <a:rPr lang="en-US" sz="1600" dirty="0">
                <a:latin typeface="HSE Sans" panose="02000000000000000000" pitchFamily="2" charset="0"/>
              </a:rPr>
              <a:t> </a:t>
            </a:r>
            <a:r>
              <a:rPr lang="en-US" sz="1600" dirty="0" err="1">
                <a:latin typeface="HSE Sans" panose="02000000000000000000" pitchFamily="2" charset="0"/>
              </a:rPr>
              <a:t>Дементьев</a:t>
            </a:r>
            <a:r>
              <a:rPr lang="ru-RU" sz="1600" dirty="0">
                <a:latin typeface="HSE Sans" panose="02000000000000000000" pitchFamily="2" charset="0"/>
              </a:rPr>
              <a:t>, НИУ ВШЭ</a:t>
            </a:r>
            <a:endParaRPr lang="en-US" sz="1600" dirty="0">
              <a:latin typeface="HSE Sans" panose="02000000000000000000" pitchFamily="2" charset="0"/>
            </a:endParaRPr>
          </a:p>
          <a:p>
            <a:r>
              <a:rPr lang="en-US" sz="1600" b="1" dirty="0">
                <a:latin typeface="HSE Sans" panose="02000000000000000000" pitchFamily="2" charset="0"/>
              </a:rPr>
              <a:t>Руководитель: </a:t>
            </a:r>
            <a:r>
              <a:rPr lang="ru-RU" sz="1600" dirty="0" err="1">
                <a:latin typeface="HSE Sans" panose="02000000000000000000" pitchFamily="2" charset="0"/>
              </a:rPr>
              <a:t>Сеунгмин</a:t>
            </a:r>
            <a:r>
              <a:rPr lang="ru-RU" sz="1600" dirty="0">
                <a:latin typeface="HSE Sans" panose="02000000000000000000" pitchFamily="2" charset="0"/>
              </a:rPr>
              <a:t> </a:t>
            </a:r>
            <a:r>
              <a:rPr lang="en-US" sz="1600" dirty="0" err="1">
                <a:latin typeface="HSE Sans" panose="02000000000000000000" pitchFamily="2" charset="0"/>
              </a:rPr>
              <a:t>Джин</a:t>
            </a:r>
            <a:r>
              <a:rPr lang="en-US" sz="1600" dirty="0">
                <a:latin typeface="HSE Sans" panose="02000000000000000000" pitchFamily="2" charset="0"/>
              </a:rPr>
              <a:t>, PhD</a:t>
            </a:r>
            <a:r>
              <a:rPr lang="ru-RU" sz="1600" dirty="0">
                <a:latin typeface="HSE Sans" panose="02000000000000000000" pitchFamily="2" charset="0"/>
              </a:rPr>
              <a:t>, НИУ ВШЭ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0795D0-177E-C14A-8687-B5C8733160E7}"/>
              </a:ext>
            </a:extLst>
          </p:cNvPr>
          <p:cNvSpPr txBox="1"/>
          <p:nvPr/>
        </p:nvSpPr>
        <p:spPr>
          <a:xfrm>
            <a:off x="1142942" y="3585079"/>
            <a:ext cx="8486252" cy="107721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Автоматическая эволюция </a:t>
            </a:r>
            <a:r>
              <a:rPr lang="en-US" sz="3200" dirty="0">
                <a:solidFill>
                  <a:srgbClr val="102D69"/>
                </a:solidFill>
                <a:latin typeface="HSE Sans" panose="02000000000000000000" pitchFamily="2" charset="0"/>
              </a:rPr>
              <a:t>LLM-</a:t>
            </a: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агентов через рефлексивное редактирование контекста</a:t>
            </a:r>
            <a:endParaRPr lang="en-US" sz="32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3676073"/>
            <a:ext cx="674255" cy="91440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0243127" y="3676073"/>
            <a:ext cx="1948874" cy="91440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57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957D266-9D18-4C25-BA0C-D9B9D8B3506C}"/>
              </a:ext>
            </a:extLst>
          </p:cNvPr>
          <p:cNvSpPr/>
          <p:nvPr/>
        </p:nvSpPr>
        <p:spPr>
          <a:xfrm>
            <a:off x="419878" y="2090058"/>
            <a:ext cx="2606735" cy="1596117"/>
          </a:xfrm>
          <a:prstGeom prst="roundRect">
            <a:avLst>
              <a:gd name="adj" fmla="val 0"/>
            </a:avLst>
          </a:prstGeom>
          <a:solidFill>
            <a:srgbClr val="0F2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E475B51-8C32-422D-ACBF-EF9DAD6C923F}"/>
              </a:ext>
            </a:extLst>
          </p:cNvPr>
          <p:cNvSpPr/>
          <p:nvPr/>
        </p:nvSpPr>
        <p:spPr>
          <a:xfrm>
            <a:off x="3235631" y="2090058"/>
            <a:ext cx="2606735" cy="1596117"/>
          </a:xfrm>
          <a:prstGeom prst="roundRect">
            <a:avLst>
              <a:gd name="adj" fmla="val 0"/>
            </a:avLst>
          </a:prstGeom>
          <a:solidFill>
            <a:srgbClr val="0F2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053EE7B-0424-4632-B738-743D9CFC47BA}"/>
              </a:ext>
            </a:extLst>
          </p:cNvPr>
          <p:cNvSpPr/>
          <p:nvPr/>
        </p:nvSpPr>
        <p:spPr>
          <a:xfrm>
            <a:off x="6048014" y="2090058"/>
            <a:ext cx="2606735" cy="1596117"/>
          </a:xfrm>
          <a:prstGeom prst="roundRect">
            <a:avLst>
              <a:gd name="adj" fmla="val 0"/>
            </a:avLst>
          </a:prstGeom>
          <a:solidFill>
            <a:srgbClr val="0F2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1B1D0DC-6441-4682-8AEC-A60F7AF6DFB2}"/>
              </a:ext>
            </a:extLst>
          </p:cNvPr>
          <p:cNvSpPr/>
          <p:nvPr/>
        </p:nvSpPr>
        <p:spPr>
          <a:xfrm>
            <a:off x="8878642" y="2090058"/>
            <a:ext cx="2606735" cy="1596117"/>
          </a:xfrm>
          <a:prstGeom prst="roundRect">
            <a:avLst>
              <a:gd name="adj" fmla="val 0"/>
            </a:avLst>
          </a:prstGeom>
          <a:solidFill>
            <a:srgbClr val="0F2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2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132991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Ключевые понятия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Автоматическая эволюция LLM-агентов через рефлексивное редактирование контекста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Введение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DC0E45-D267-4888-9E6E-DAA6BCCECCE0}"/>
              </a:ext>
            </a:extLst>
          </p:cNvPr>
          <p:cNvSpPr txBox="1"/>
          <p:nvPr/>
        </p:nvSpPr>
        <p:spPr>
          <a:xfrm>
            <a:off x="555290" y="2203018"/>
            <a:ext cx="2486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SE Sans" panose="02000000000000000000" pitchFamily="2" charset="0"/>
              </a:rPr>
              <a:t>Большая языковая модель</a:t>
            </a:r>
            <a:endParaRPr lang="ru-RU" sz="18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5C3732-B662-4527-B223-6BFD3FB3BBA3}"/>
              </a:ext>
            </a:extLst>
          </p:cNvPr>
          <p:cNvSpPr txBox="1"/>
          <p:nvPr/>
        </p:nvSpPr>
        <p:spPr>
          <a:xfrm>
            <a:off x="3417052" y="2173380"/>
            <a:ext cx="2106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SE Sans" panose="02000000000000000000" pitchFamily="2" charset="0"/>
              </a:rPr>
              <a:t>Агент с вызовом инструментов</a:t>
            </a:r>
            <a:endParaRPr lang="ru-RU" sz="18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5141F5-681D-4797-A0A3-507E9277DB7F}"/>
              </a:ext>
            </a:extLst>
          </p:cNvPr>
          <p:cNvSpPr txBox="1"/>
          <p:nvPr/>
        </p:nvSpPr>
        <p:spPr>
          <a:xfrm>
            <a:off x="9046962" y="2201130"/>
            <a:ext cx="1976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HSE Sans" panose="02000000000000000000" pitchFamily="2" charset="0"/>
              </a:rPr>
              <a:t>Эволюция промптов</a:t>
            </a:r>
            <a:endParaRPr lang="ru-RU" sz="18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1F3B82-DC0D-4D67-9144-756B36347D55}"/>
              </a:ext>
            </a:extLst>
          </p:cNvPr>
          <p:cNvSpPr txBox="1"/>
          <p:nvPr/>
        </p:nvSpPr>
        <p:spPr>
          <a:xfrm>
            <a:off x="444825" y="5545041"/>
            <a:ext cx="2486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F2D69"/>
                </a:solidFill>
                <a:latin typeface="HSE Sans" panose="02000000000000000000" pitchFamily="2" charset="0"/>
              </a:rPr>
              <a:t>G</a:t>
            </a:r>
            <a:r>
              <a:rPr lang="en-US" dirty="0">
                <a:solidFill>
                  <a:srgbClr val="0F2D69"/>
                </a:solidFill>
                <a:latin typeface="HSE Sans" panose="02000000000000000000" pitchFamily="2" charset="0"/>
              </a:rPr>
              <a:t>PT-5.4, Opus 4.6, Gemini 3.1</a:t>
            </a:r>
            <a:endParaRPr lang="ru-RU" sz="1800" dirty="0">
              <a:solidFill>
                <a:srgbClr val="0F2D69"/>
              </a:solidFill>
              <a:latin typeface="HSE Sans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D81B54-71A9-48DC-9A21-B4B0C24282EC}"/>
              </a:ext>
            </a:extLst>
          </p:cNvPr>
          <p:cNvSpPr txBox="1"/>
          <p:nvPr/>
        </p:nvSpPr>
        <p:spPr>
          <a:xfrm>
            <a:off x="3334953" y="5545041"/>
            <a:ext cx="2486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F2D69"/>
                </a:solidFill>
                <a:latin typeface="HSE Sans" panose="02000000000000000000" pitchFamily="2" charset="0"/>
              </a:rPr>
              <a:t>Claude Code, </a:t>
            </a:r>
            <a:r>
              <a:rPr lang="en-US" sz="1800" dirty="0" err="1">
                <a:solidFill>
                  <a:srgbClr val="0F2D69"/>
                </a:solidFill>
                <a:latin typeface="HSE Sans" panose="02000000000000000000" pitchFamily="2" charset="0"/>
              </a:rPr>
              <a:t>OpenAI</a:t>
            </a:r>
            <a:r>
              <a:rPr lang="en-US" sz="1800" dirty="0">
                <a:solidFill>
                  <a:srgbClr val="0F2D69"/>
                </a:solidFill>
                <a:latin typeface="HSE Sans" panose="02000000000000000000" pitchFamily="2" charset="0"/>
              </a:rPr>
              <a:t> Codex, Manus</a:t>
            </a:r>
            <a:endParaRPr lang="ru-RU" sz="1800" dirty="0">
              <a:solidFill>
                <a:srgbClr val="0F2D69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FEC318-194A-4EF4-A6DF-07422B49A1EC}"/>
              </a:ext>
            </a:extLst>
          </p:cNvPr>
          <p:cNvSpPr txBox="1"/>
          <p:nvPr/>
        </p:nvSpPr>
        <p:spPr>
          <a:xfrm>
            <a:off x="9072531" y="5571893"/>
            <a:ext cx="19056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F2D69"/>
                </a:solidFill>
                <a:latin typeface="HSE Sans" panose="02000000000000000000" pitchFamily="2" charset="0"/>
              </a:rPr>
              <a:t>GEPA, </a:t>
            </a:r>
            <a:r>
              <a:rPr lang="en-US" sz="1800" dirty="0" err="1">
                <a:solidFill>
                  <a:srgbClr val="0F2D69"/>
                </a:solidFill>
                <a:latin typeface="HSE Sans" panose="02000000000000000000" pitchFamily="2" charset="0"/>
              </a:rPr>
              <a:t>DSPy</a:t>
            </a:r>
            <a:r>
              <a:rPr lang="en-US" sz="1800" dirty="0">
                <a:solidFill>
                  <a:srgbClr val="0F2D69"/>
                </a:solidFill>
                <a:latin typeface="HSE Sans" panose="02000000000000000000" pitchFamily="2" charset="0"/>
              </a:rPr>
              <a:t>, </a:t>
            </a:r>
            <a:r>
              <a:rPr lang="en-US" sz="1800" dirty="0" err="1">
                <a:solidFill>
                  <a:srgbClr val="0F2D69"/>
                </a:solidFill>
                <a:latin typeface="HSE Sans" panose="02000000000000000000" pitchFamily="2" charset="0"/>
              </a:rPr>
              <a:t>EvoPrompt</a:t>
            </a:r>
            <a:endParaRPr lang="ru-RU" sz="1800" dirty="0">
              <a:solidFill>
                <a:srgbClr val="0F2D69"/>
              </a:solidFill>
              <a:latin typeface="HSE Sans" panose="020000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1C0C14-F836-42EA-AC05-D7D7BFA7BA85}"/>
              </a:ext>
            </a:extLst>
          </p:cNvPr>
          <p:cNvSpPr txBox="1"/>
          <p:nvPr/>
        </p:nvSpPr>
        <p:spPr>
          <a:xfrm>
            <a:off x="555290" y="2828836"/>
            <a:ext cx="224389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  <a:latin typeface="HSE Sans" panose="02000000000000000000"/>
              </a:rPr>
              <a:t>Нейросеть, генерирующая текст на основе выученных распределений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4C43DA-D4AB-42C2-9F7D-9D9E12F18558}"/>
              </a:ext>
            </a:extLst>
          </p:cNvPr>
          <p:cNvSpPr txBox="1"/>
          <p:nvPr/>
        </p:nvSpPr>
        <p:spPr>
          <a:xfrm>
            <a:off x="6146862" y="2173380"/>
            <a:ext cx="2074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HSE Sans" panose="02000000000000000000" pitchFamily="2" charset="0"/>
              </a:rPr>
              <a:t>Агентный бенчмарк</a:t>
            </a:r>
            <a:endParaRPr lang="ru-RU" sz="1800" dirty="0">
              <a:solidFill>
                <a:schemeClr val="bg1"/>
              </a:solidFill>
              <a:latin typeface="HSE Sans" panose="020000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27E95E-C0E7-4957-96A4-29B4D6689E57}"/>
              </a:ext>
            </a:extLst>
          </p:cNvPr>
          <p:cNvSpPr txBox="1"/>
          <p:nvPr/>
        </p:nvSpPr>
        <p:spPr>
          <a:xfrm>
            <a:off x="6174933" y="5545041"/>
            <a:ext cx="2486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F2D69"/>
                </a:solidFill>
                <a:latin typeface="HSE Sans" panose="02000000000000000000" pitchFamily="2" charset="0"/>
              </a:rPr>
              <a:t>Tau-2, </a:t>
            </a:r>
            <a:r>
              <a:rPr lang="en-US" dirty="0" err="1">
                <a:solidFill>
                  <a:srgbClr val="0F2D69"/>
                </a:solidFill>
                <a:latin typeface="HSE Sans" panose="02000000000000000000" pitchFamily="2" charset="0"/>
              </a:rPr>
              <a:t>Toolbench</a:t>
            </a:r>
            <a:r>
              <a:rPr lang="en-US" dirty="0">
                <a:solidFill>
                  <a:srgbClr val="0F2D69"/>
                </a:solidFill>
                <a:latin typeface="HSE Sans" panose="02000000000000000000" pitchFamily="2" charset="0"/>
              </a:rPr>
              <a:t>, GAIA </a:t>
            </a:r>
            <a:endParaRPr lang="ru-RU" sz="1800" dirty="0">
              <a:solidFill>
                <a:srgbClr val="0F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8DB6A3-DFD2-472C-BB8E-F6AEEEBFCFCC}"/>
              </a:ext>
            </a:extLst>
          </p:cNvPr>
          <p:cNvSpPr txBox="1"/>
          <p:nvPr/>
        </p:nvSpPr>
        <p:spPr>
          <a:xfrm>
            <a:off x="3417052" y="2828836"/>
            <a:ext cx="224389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  <a:latin typeface="HSE Sans" panose="02000000000000000000"/>
              </a:rPr>
              <a:t>LLM-обвязка для вызова внешних инструментов через структурированный вывод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DB9FDA-5450-439D-BDD3-E9838FD490C4}"/>
              </a:ext>
            </a:extLst>
          </p:cNvPr>
          <p:cNvSpPr txBox="1"/>
          <p:nvPr/>
        </p:nvSpPr>
        <p:spPr>
          <a:xfrm>
            <a:off x="6146862" y="2828836"/>
            <a:ext cx="224389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  <a:latin typeface="HSE Sans" panose="02000000000000000000"/>
              </a:rPr>
              <a:t>Производительность LLM на задачах с планированием и действием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B5B8A8-A161-42EB-AD99-6A6EA992C14D}"/>
              </a:ext>
            </a:extLst>
          </p:cNvPr>
          <p:cNvSpPr txBox="1"/>
          <p:nvPr/>
        </p:nvSpPr>
        <p:spPr>
          <a:xfrm>
            <a:off x="9046962" y="2828836"/>
            <a:ext cx="1931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  <a:latin typeface="HSE Sans" panose="02000000000000000000"/>
              </a:rPr>
              <a:t>Автоматический рост pass-rate бенчмарка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8B0E71-AF33-4923-95B2-76762CC0DF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1211" y="3698925"/>
            <a:ext cx="1830304" cy="1743663"/>
          </a:xfrm>
          <a:prstGeom prst="rect">
            <a:avLst/>
          </a:prstGeom>
        </p:spPr>
      </p:pic>
      <p:pic>
        <p:nvPicPr>
          <p:cNvPr id="1030" name="Picture 6" descr="Как мы делаем веб-сервис для автоматизации рабочих задач на базе агентов LLM  / Хабр">
            <a:extLst>
              <a:ext uri="{FF2B5EF4-FFF2-40B4-BE49-F238E27FC236}">
                <a16:creationId xmlns:a16="http://schemas.microsoft.com/office/drawing/2014/main" id="{6D29B9E7-BC96-4801-8343-0C9E8C04BB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1" t="6993" r="9829" b="10033"/>
          <a:stretch/>
        </p:blipFill>
        <p:spPr bwMode="auto">
          <a:xfrm>
            <a:off x="3380104" y="3796634"/>
            <a:ext cx="2245761" cy="15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EPA vs Prompt Learning: Benchmarking Different Prompt Optimization  Approaches - Arize AI">
            <a:extLst>
              <a:ext uri="{FF2B5EF4-FFF2-40B4-BE49-F238E27FC236}">
                <a16:creationId xmlns:a16="http://schemas.microsoft.com/office/drawing/2014/main" id="{CEAEB63B-FB11-456A-8706-6D3AA2080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393" y="4149079"/>
            <a:ext cx="2765231" cy="95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ine-tuning Qwen2.5-VL for Document Information Extraction">
            <a:extLst>
              <a:ext uri="{FF2B5EF4-FFF2-40B4-BE49-F238E27FC236}">
                <a16:creationId xmlns:a16="http://schemas.microsoft.com/office/drawing/2014/main" id="{3E90D87C-CE8D-463C-B82C-F313D5172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75" y="4064104"/>
            <a:ext cx="2760244" cy="1129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794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D5A1EE-9FFE-4FA0-8AC3-E513859A3544}"/>
              </a:ext>
            </a:extLst>
          </p:cNvPr>
          <p:cNvSpPr/>
          <p:nvPr/>
        </p:nvSpPr>
        <p:spPr>
          <a:xfrm>
            <a:off x="564623" y="2799623"/>
            <a:ext cx="1767839" cy="164592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B35DC-1E39-4F1D-AD5E-25E42317E292}"/>
              </a:ext>
            </a:extLst>
          </p:cNvPr>
          <p:cNvSpPr txBox="1"/>
          <p:nvPr/>
        </p:nvSpPr>
        <p:spPr>
          <a:xfrm>
            <a:off x="610343" y="2891063"/>
            <a:ext cx="16763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HSE Sans"/>
              </a:rPr>
              <a:t>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B8B18-C84E-42FF-9775-717EBB5EC8EB}"/>
              </a:ext>
            </a:extLst>
          </p:cNvPr>
          <p:cNvSpPr txBox="1"/>
          <p:nvPr/>
        </p:nvSpPr>
        <p:spPr>
          <a:xfrm>
            <a:off x="610343" y="3302543"/>
            <a:ext cx="167639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HSE Sans"/>
              </a:rPr>
              <a:t>СИСТЕМНЫЕ
АНАЛИТИКИ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DFB4C8-598A-42AA-9DFE-659830FCD050}"/>
              </a:ext>
            </a:extLst>
          </p:cNvPr>
          <p:cNvSpPr/>
          <p:nvPr/>
        </p:nvSpPr>
        <p:spPr>
          <a:xfrm>
            <a:off x="2332463" y="2799623"/>
            <a:ext cx="1343558" cy="1645920"/>
          </a:xfrm>
          <a:prstGeom prst="rect">
            <a:avLst/>
          </a:prstGeom>
          <a:solidFill>
            <a:srgbClr val="23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85F658-889B-4B21-9EF0-16EFB4F36607}"/>
              </a:ext>
            </a:extLst>
          </p:cNvPr>
          <p:cNvSpPr txBox="1"/>
          <p:nvPr/>
        </p:nvSpPr>
        <p:spPr>
          <a:xfrm>
            <a:off x="2378182" y="2891063"/>
            <a:ext cx="125211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HSE Sans"/>
              </a:rPr>
              <a:t>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249B1E-183D-4166-9ADD-040D38289AE7}"/>
              </a:ext>
            </a:extLst>
          </p:cNvPr>
          <p:cNvSpPr txBox="1"/>
          <p:nvPr/>
        </p:nvSpPr>
        <p:spPr>
          <a:xfrm>
            <a:off x="2378182" y="3302543"/>
            <a:ext cx="125211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HSE Sans"/>
              </a:rPr>
              <a:t>Разработчики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DCE2B8-FCF1-444E-943C-D02115F2FD93}"/>
              </a:ext>
            </a:extLst>
          </p:cNvPr>
          <p:cNvSpPr/>
          <p:nvPr/>
        </p:nvSpPr>
        <p:spPr>
          <a:xfrm>
            <a:off x="3676021" y="2799623"/>
            <a:ext cx="1555699" cy="16459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5A122-7ED3-41F7-B05F-F19B78DD9428}"/>
              </a:ext>
            </a:extLst>
          </p:cNvPr>
          <p:cNvSpPr txBox="1"/>
          <p:nvPr/>
        </p:nvSpPr>
        <p:spPr>
          <a:xfrm>
            <a:off x="3721741" y="2891063"/>
            <a:ext cx="146425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HSE Sans"/>
              </a:rPr>
              <a:t>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D2F3E7-AF6B-410A-B133-0C12F069BBF9}"/>
              </a:ext>
            </a:extLst>
          </p:cNvPr>
          <p:cNvSpPr txBox="1"/>
          <p:nvPr/>
        </p:nvSpPr>
        <p:spPr>
          <a:xfrm>
            <a:off x="3721741" y="3302543"/>
            <a:ext cx="1464259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HSE Sans"/>
              </a:rPr>
              <a:t>Продажи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60E240-7F31-498B-950C-E42712B2EDD8}"/>
              </a:ext>
            </a:extLst>
          </p:cNvPr>
          <p:cNvSpPr/>
          <p:nvPr/>
        </p:nvSpPr>
        <p:spPr>
          <a:xfrm>
            <a:off x="5231720" y="2799623"/>
            <a:ext cx="636422" cy="1645920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0634F9-7ECA-4B0A-8308-A9102CE64E4D}"/>
              </a:ext>
            </a:extLst>
          </p:cNvPr>
          <p:cNvSpPr txBox="1"/>
          <p:nvPr/>
        </p:nvSpPr>
        <p:spPr>
          <a:xfrm>
            <a:off x="5277440" y="2891063"/>
            <a:ext cx="54498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HSE Sans"/>
              </a:rPr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C154AD-5D27-42A8-A53B-2BD8CCB40ED9}"/>
              </a:ext>
            </a:extLst>
          </p:cNvPr>
          <p:cNvSpPr txBox="1"/>
          <p:nvPr/>
        </p:nvSpPr>
        <p:spPr>
          <a:xfrm>
            <a:off x="5277440" y="3302543"/>
            <a:ext cx="54498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HSE Sans"/>
              </a:rPr>
              <a:t>Прочие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631BB9-202C-4EF9-8EA7-F6C17A8B0E12}"/>
              </a:ext>
            </a:extLst>
          </p:cNvPr>
          <p:cNvSpPr txBox="1"/>
          <p:nvPr/>
        </p:nvSpPr>
        <p:spPr>
          <a:xfrm>
            <a:off x="489975" y="1396903"/>
            <a:ext cx="10132991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Внедрение агентов упирается в команду внедрения</a:t>
            </a:r>
          </a:p>
        </p:txBody>
      </p:sp>
      <p:cxnSp>
        <p:nvCxnSpPr>
          <p:cNvPr id="17" name="Straight Connector 19">
            <a:extLst>
              <a:ext uri="{FF2B5EF4-FFF2-40B4-BE49-F238E27FC236}">
                <a16:creationId xmlns:a16="http://schemas.microsoft.com/office/drawing/2014/main" id="{9C6115AF-8F6D-4EE3-9083-10745C71C6CE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21">
            <a:extLst>
              <a:ext uri="{FF2B5EF4-FFF2-40B4-BE49-F238E27FC236}">
                <a16:creationId xmlns:a16="http://schemas.microsoft.com/office/drawing/2014/main" id="{F6D55D9D-975A-4492-A31D-0514E3E63683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5">
            <a:extLst>
              <a:ext uri="{FF2B5EF4-FFF2-40B4-BE49-F238E27FC236}">
                <a16:creationId xmlns:a16="http://schemas.microsoft.com/office/drawing/2014/main" id="{56A03CC7-1000-4ABC-A61E-D9919F5A329A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2F358B2-1E84-41EB-86DE-C522F48E6D80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3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1" name="Straight Connector 13">
            <a:extLst>
              <a:ext uri="{FF2B5EF4-FFF2-40B4-BE49-F238E27FC236}">
                <a16:creationId xmlns:a16="http://schemas.microsoft.com/office/drawing/2014/main" id="{86ECADB8-58B6-48CC-81A4-686B2851C891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FD34BE1-F508-49AE-BEAE-695D38D6CA02}"/>
              </a:ext>
            </a:extLst>
          </p:cNvPr>
          <p:cNvSpPr txBox="1"/>
          <p:nvPr/>
        </p:nvSpPr>
        <p:spPr>
          <a:xfrm>
            <a:off x="3365627" y="497315"/>
            <a:ext cx="2346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Автоматическая эволюция LLM-агентов через рефлексивное редактирование контекста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D36B4F-B002-496C-9ECE-66C0C854CA74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Прикладная актуальность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2FDE5A-B33C-4174-A074-EE1280C22484}"/>
              </a:ext>
            </a:extLst>
          </p:cNvPr>
          <p:cNvSpPr/>
          <p:nvPr/>
        </p:nvSpPr>
        <p:spPr>
          <a:xfrm>
            <a:off x="6883313" y="2788185"/>
            <a:ext cx="4572000" cy="45720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F14B4C-5AFF-4BBE-98D7-F826EDF6A33A}"/>
              </a:ext>
            </a:extLst>
          </p:cNvPr>
          <p:cNvSpPr txBox="1"/>
          <p:nvPr/>
        </p:nvSpPr>
        <p:spPr>
          <a:xfrm>
            <a:off x="6993651" y="2833905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HSE Sans"/>
              </a:rPr>
              <a:t>200 млн руб.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EA266B-1AE6-496B-ADAB-8FDA1A1C5CCD}"/>
              </a:ext>
            </a:extLst>
          </p:cNvPr>
          <p:cNvSpPr/>
          <p:nvPr/>
        </p:nvSpPr>
        <p:spPr>
          <a:xfrm>
            <a:off x="6883313" y="3982509"/>
            <a:ext cx="1714500" cy="45720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6F0DFD-DB08-4D69-A8CA-AF013823E618}"/>
              </a:ext>
            </a:extLst>
          </p:cNvPr>
          <p:cNvSpPr txBox="1"/>
          <p:nvPr/>
        </p:nvSpPr>
        <p:spPr>
          <a:xfrm>
            <a:off x="6990502" y="4053143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HSE Sans"/>
              </a:rPr>
              <a:t>75 млн руб.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5E14A6-C825-498E-94FA-9C637270DF1D}"/>
              </a:ext>
            </a:extLst>
          </p:cNvPr>
          <p:cNvSpPr txBox="1"/>
          <p:nvPr/>
        </p:nvSpPr>
        <p:spPr>
          <a:xfrm>
            <a:off x="8597813" y="4064204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E61E3C"/>
                </a:solidFill>
                <a:latin typeface="HSE Sans"/>
              </a:rPr>
              <a:t>= 37% выручки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3C5431-F13B-4E62-B1D7-AD1DE0975FCB}"/>
              </a:ext>
            </a:extLst>
          </p:cNvPr>
          <p:cNvSpPr txBox="1"/>
          <p:nvPr/>
        </p:nvSpPr>
        <p:spPr>
          <a:xfrm>
            <a:off x="489975" y="2434944"/>
            <a:ext cx="32910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600" i="1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В моей компании </a:t>
            </a:r>
            <a:r>
              <a:rPr lang="en-US" sz="16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75 FTE</a:t>
            </a:r>
            <a:endParaRPr lang="en-US" sz="1600" i="1" dirty="0">
              <a:latin typeface="HSE Sans" panose="0200000000000000000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9C8849-3ADF-4DBA-98A0-190C823D5DA6}"/>
              </a:ext>
            </a:extLst>
          </p:cNvPr>
          <p:cNvSpPr txBox="1"/>
          <p:nvPr/>
        </p:nvSpPr>
        <p:spPr>
          <a:xfrm>
            <a:off x="6815372" y="2434944"/>
            <a:ext cx="52059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600" dirty="0">
                <a:latin typeface="HSE Sans" panose="02000000000000000000"/>
              </a:rPr>
              <a:t>Выручка моего продукта </a:t>
            </a:r>
            <a:r>
              <a:rPr lang="en-US" sz="1600" dirty="0">
                <a:latin typeface="HSE Sans" panose="02000000000000000000"/>
              </a:rPr>
              <a:t>200 </a:t>
            </a:r>
            <a:r>
              <a:rPr lang="en-US" sz="1600" dirty="0" err="1">
                <a:latin typeface="HSE Sans" panose="02000000000000000000"/>
              </a:rPr>
              <a:t>млн</a:t>
            </a:r>
            <a:r>
              <a:rPr lang="en-US" sz="1600" dirty="0">
                <a:latin typeface="HSE Sans" panose="02000000000000000000"/>
              </a:rPr>
              <a:t> ₽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BF0102-D074-4761-BEAA-F080DFACD5CA}"/>
              </a:ext>
            </a:extLst>
          </p:cNvPr>
          <p:cNvSpPr txBox="1"/>
          <p:nvPr/>
        </p:nvSpPr>
        <p:spPr>
          <a:xfrm>
            <a:off x="6815372" y="3645263"/>
            <a:ext cx="52059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latin typeface="HSE Sans" panose="02000000000000000000"/>
              </a:rPr>
              <a:t>ФОТ внедрения составляет 37% выручки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1AF28BF-D596-4D2F-BFC2-FE614F9428AC}"/>
              </a:ext>
            </a:extLst>
          </p:cNvPr>
          <p:cNvSpPr/>
          <p:nvPr/>
        </p:nvSpPr>
        <p:spPr>
          <a:xfrm>
            <a:off x="1448542" y="4489722"/>
            <a:ext cx="6419461" cy="731520"/>
          </a:xfrm>
          <a:custGeom>
            <a:avLst/>
            <a:gdLst>
              <a:gd name="connsiteX0" fmla="*/ 0 w 6867331"/>
              <a:gd name="connsiteY0" fmla="*/ 27992 h 1130503"/>
              <a:gd name="connsiteX1" fmla="*/ 1642188 w 6867331"/>
              <a:gd name="connsiteY1" fmla="*/ 905069 h 1130503"/>
              <a:gd name="connsiteX2" fmla="*/ 3405674 w 6867331"/>
              <a:gd name="connsiteY2" fmla="*/ 1129004 h 1130503"/>
              <a:gd name="connsiteX3" fmla="*/ 5141167 w 6867331"/>
              <a:gd name="connsiteY3" fmla="*/ 942392 h 1130503"/>
              <a:gd name="connsiteX4" fmla="*/ 6867331 w 6867331"/>
              <a:gd name="connsiteY4" fmla="*/ 0 h 113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7331" h="1130503">
                <a:moveTo>
                  <a:pt x="0" y="27992"/>
                </a:moveTo>
                <a:cubicBezTo>
                  <a:pt x="537288" y="374779"/>
                  <a:pt x="1074576" y="721567"/>
                  <a:pt x="1642188" y="905069"/>
                </a:cubicBezTo>
                <a:cubicBezTo>
                  <a:pt x="2209800" y="1088571"/>
                  <a:pt x="2822511" y="1122784"/>
                  <a:pt x="3405674" y="1129004"/>
                </a:cubicBezTo>
                <a:cubicBezTo>
                  <a:pt x="3988837" y="1135224"/>
                  <a:pt x="4564224" y="1130559"/>
                  <a:pt x="5141167" y="942392"/>
                </a:cubicBezTo>
                <a:cubicBezTo>
                  <a:pt x="5718110" y="754225"/>
                  <a:pt x="6570307" y="83975"/>
                  <a:pt x="6867331" y="0"/>
                </a:cubicBezTo>
              </a:path>
            </a:pathLst>
          </a:custGeom>
          <a:noFill/>
          <a:ln w="38100">
            <a:solidFill>
              <a:srgbClr val="E61E3C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E43C80-08A6-4369-ACB0-EB4A0461CCF5}"/>
              </a:ext>
            </a:extLst>
          </p:cNvPr>
          <p:cNvSpPr txBox="1"/>
          <p:nvPr/>
        </p:nvSpPr>
        <p:spPr>
          <a:xfrm>
            <a:off x="468836" y="5515375"/>
            <a:ext cx="11378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HSE Sans" panose="02000000000000000000"/>
              </a:rPr>
              <a:t>Каждое новое внедрение нагружает ту же команду из 25 человек. Структура затрат линейна по числу внедрений.</a:t>
            </a:r>
          </a:p>
        </p:txBody>
      </p:sp>
    </p:spTree>
    <p:extLst>
      <p:ext uri="{BB962C8B-B14F-4D97-AF65-F5344CB8AC3E}">
        <p14:creationId xmlns:p14="http://schemas.microsoft.com/office/powerpoint/2010/main" val="2118330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4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Автоматическая эволюция LLM-агентов через рефлексивное редактирование контекста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Введение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EB57D2-060B-49A4-890B-2E8731B71810}"/>
              </a:ext>
            </a:extLst>
          </p:cNvPr>
          <p:cNvSpPr/>
          <p:nvPr/>
        </p:nvSpPr>
        <p:spPr>
          <a:xfrm>
            <a:off x="3081415" y="1555789"/>
            <a:ext cx="6029169" cy="653367"/>
          </a:xfrm>
          <a:prstGeom prst="roundRect">
            <a:avLst>
              <a:gd name="adj" fmla="val 0"/>
            </a:avLst>
          </a:prstGeom>
          <a:solidFill>
            <a:srgbClr val="0F2D6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HSE Sans" panose="02000000000000000000"/>
              </a:rPr>
              <a:t>Проблема: </a:t>
            </a:r>
            <a:r>
              <a:rPr lang="en-US" sz="1600" dirty="0">
                <a:latin typeface="HSE Sans" panose="02000000000000000000"/>
              </a:rPr>
              <a:t>LLM-</a:t>
            </a:r>
            <a:r>
              <a:rPr lang="en-US" sz="1600" dirty="0" err="1">
                <a:latin typeface="HSE Sans" panose="02000000000000000000"/>
              </a:rPr>
              <a:t>агенты</a:t>
            </a:r>
            <a:r>
              <a:rPr lang="en-US" sz="1600" dirty="0">
                <a:latin typeface="HSE Sans" panose="02000000000000000000"/>
              </a:rPr>
              <a:t> </a:t>
            </a:r>
            <a:r>
              <a:rPr lang="ru-RU" sz="1600" dirty="0">
                <a:latin typeface="HSE Sans" panose="02000000000000000000"/>
              </a:rPr>
              <a:t>ненадежны в </a:t>
            </a:r>
            <a:r>
              <a:rPr lang="ru-RU" sz="1600" dirty="0" err="1">
                <a:latin typeface="HSE Sans" panose="02000000000000000000"/>
              </a:rPr>
              <a:t>энтерпрайзе</a:t>
            </a:r>
            <a:endParaRPr lang="en-US" sz="1600" dirty="0">
              <a:latin typeface="HSE Sans" panose="0200000000000000000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DB7E5DF-FBBE-4285-BE85-3202A68AB15F}"/>
              </a:ext>
            </a:extLst>
          </p:cNvPr>
          <p:cNvSpPr/>
          <p:nvPr/>
        </p:nvSpPr>
        <p:spPr>
          <a:xfrm>
            <a:off x="3081415" y="2467724"/>
            <a:ext cx="6029169" cy="653367"/>
          </a:xfrm>
          <a:prstGeom prst="roundRect">
            <a:avLst>
              <a:gd name="adj" fmla="val 0"/>
            </a:avLst>
          </a:prstGeom>
          <a:solidFill>
            <a:srgbClr val="0F2D6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HSE Sans" panose="02000000000000000000"/>
              </a:rPr>
              <a:t>Цель: </a:t>
            </a:r>
            <a:r>
              <a:rPr lang="en-US" sz="1600" dirty="0">
                <a:latin typeface="HSE Sans" panose="02000000000000000000"/>
              </a:rPr>
              <a:t>автоматически улучшать агентов и исправлять ошибки 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E02232E-9709-4BFC-A9C3-C71957E37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825122"/>
              </p:ext>
            </p:extLst>
          </p:nvPr>
        </p:nvGraphicFramePr>
        <p:xfrm>
          <a:off x="3081414" y="3429000"/>
          <a:ext cx="6029170" cy="241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4585">
                  <a:extLst>
                    <a:ext uri="{9D8B030D-6E8A-4147-A177-3AD203B41FA5}">
                      <a16:colId xmlns:a16="http://schemas.microsoft.com/office/drawing/2014/main" val="2664223891"/>
                    </a:ext>
                  </a:extLst>
                </a:gridCol>
                <a:gridCol w="3014585">
                  <a:extLst>
                    <a:ext uri="{9D8B030D-6E8A-4147-A177-3AD203B41FA5}">
                      <a16:colId xmlns:a16="http://schemas.microsoft.com/office/drawing/2014/main" val="4227725157"/>
                    </a:ext>
                  </a:extLst>
                </a:gridCol>
              </a:tblGrid>
              <a:tr h="467456">
                <a:tc>
                  <a:txBody>
                    <a:bodyPr/>
                    <a:lstStyle/>
                    <a:p>
                      <a:r>
                        <a:rPr lang="ru-RU" dirty="0"/>
                        <a:t>Задача</a:t>
                      </a:r>
                      <a:endParaRPr lang="en-US" dirty="0"/>
                    </a:p>
                  </a:txBody>
                  <a:tcPr>
                    <a:solidFill>
                      <a:srgbClr val="0F2D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</a:t>
                      </a:r>
                      <a:endParaRPr lang="en-US" dirty="0"/>
                    </a:p>
                  </a:txBody>
                  <a:tcPr>
                    <a:solidFill>
                      <a:srgbClr val="0F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53370"/>
                  </a:ext>
                </a:extLst>
              </a:tr>
              <a:tr h="467456">
                <a:tc>
                  <a:txBody>
                    <a:bodyPr/>
                    <a:lstStyle/>
                    <a:p>
                      <a:r>
                        <a:rPr lang="ru-RU" sz="1300" dirty="0"/>
                        <a:t>Базово оценить % прохождения на τ²-bench </a:t>
                      </a:r>
                      <a:r>
                        <a:rPr lang="ru-RU" sz="1300" dirty="0" err="1"/>
                        <a:t>airline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Список проблем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305650"/>
                  </a:ext>
                </a:extLst>
              </a:tr>
              <a:tr h="467456">
                <a:tc>
                  <a:txBody>
                    <a:bodyPr/>
                    <a:lstStyle/>
                    <a:p>
                      <a:r>
                        <a:rPr lang="ru-RU" sz="1300" dirty="0"/>
                        <a:t>Предложить механизм улучшения % прохождения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Фреймворк эволюции </a:t>
                      </a:r>
                      <a:r>
                        <a:rPr lang="ru-RU" sz="1300" dirty="0" err="1"/>
                        <a:t>промтов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545900"/>
                  </a:ext>
                </a:extLst>
              </a:tr>
              <a:tr h="467456">
                <a:tc>
                  <a:txBody>
                    <a:bodyPr/>
                    <a:lstStyle/>
                    <a:p>
                      <a:r>
                        <a:rPr lang="ru-RU" sz="1300" dirty="0"/>
                        <a:t>Оценить на 5</a:t>
                      </a:r>
                      <a:r>
                        <a:rPr lang="en-US" sz="1300" dirty="0"/>
                        <a:t>/10/20 </a:t>
                      </a:r>
                      <a:r>
                        <a:rPr lang="ru-RU" sz="1300" dirty="0"/>
                        <a:t>задачах и 3 моделей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Оценка применимости к моделям и масштабируемости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445087"/>
                  </a:ext>
                </a:extLst>
              </a:tr>
              <a:tr h="467456">
                <a:tc>
                  <a:txBody>
                    <a:bodyPr/>
                    <a:lstStyle/>
                    <a:p>
                      <a:r>
                        <a:rPr lang="ru-RU" sz="1300" dirty="0"/>
                        <a:t>Проанализировать успешность патчей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/>
                        <a:t>Оценка границ вмешательства на уровне </a:t>
                      </a:r>
                      <a:r>
                        <a:rPr lang="ru-RU" sz="1300" dirty="0" err="1"/>
                        <a:t>промта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881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673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5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132991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Обзор литературы: зачем эволюция на уровне промптов?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Автоматическая эволюция LLM-агентов через рефлексивное редактирование контекста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Обзор литературы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6B3C5A-B8EA-496E-B146-3C32C8628794}"/>
              </a:ext>
            </a:extLst>
          </p:cNvPr>
          <p:cNvSpPr/>
          <p:nvPr/>
        </p:nvSpPr>
        <p:spPr>
          <a:xfrm>
            <a:off x="489975" y="2083726"/>
            <a:ext cx="2606040" cy="2743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HSE Sans"/>
              </a:rPr>
              <a:t>1. Агенты не справляются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0A90B8-BB82-4EB4-A016-C448451A14A2}"/>
              </a:ext>
            </a:extLst>
          </p:cNvPr>
          <p:cNvSpPr txBox="1"/>
          <p:nvPr/>
        </p:nvSpPr>
        <p:spPr>
          <a:xfrm>
            <a:off x="563127" y="2431197"/>
            <a:ext cx="2459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F2D69"/>
                </a:solidFill>
                <a:latin typeface="HSE Sans"/>
              </a:rPr>
              <a:t>LLM-агенты значительно ниже
корпоративных порогов надёжности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470E63-79FE-48A6-BBC0-1772216DAF37}"/>
              </a:ext>
            </a:extLst>
          </p:cNvPr>
          <p:cNvSpPr txBox="1"/>
          <p:nvPr/>
        </p:nvSpPr>
        <p:spPr>
          <a:xfrm>
            <a:off x="563127" y="3287747"/>
            <a:ext cx="245973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1300" b="1" dirty="0">
                <a:solidFill>
                  <a:srgbClr val="000000"/>
                </a:solidFill>
                <a:latin typeface="HSE Sans"/>
              </a:rPr>
              <a:t>tau-bench 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(Yao и др., 2024)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  <a:latin typeface="HSE Sans"/>
              </a:rPr>
              <a:t>  </a:t>
            </a:r>
            <a:r>
              <a:rPr lang="en-US" sz="1300" b="0" dirty="0">
                <a:solidFill>
                  <a:srgbClr val="000000"/>
                </a:solidFill>
                <a:latin typeface="HSE Sans"/>
              </a:rPr>
              <a:t>GPT-4o проваливает &gt;50</a:t>
            </a:r>
            <a:r>
              <a:rPr sz="1300" b="0" dirty="0">
                <a:solidFill>
                  <a:srgbClr val="000000"/>
                </a:solidFill>
                <a:latin typeface="HSE Sans"/>
              </a:rPr>
              <a:t>% задач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300" b="1" dirty="0">
                <a:solidFill>
                  <a:srgbClr val="000000"/>
                </a:solidFill>
                <a:latin typeface="HSE Sans"/>
              </a:rPr>
              <a:t>GAIA 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(</a:t>
            </a:r>
            <a:r>
              <a:rPr sz="1300" b="0" dirty="0" err="1">
                <a:solidFill>
                  <a:srgbClr val="7F7F7F"/>
                </a:solidFill>
                <a:latin typeface="HSE Sans"/>
              </a:rPr>
              <a:t>Mialon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 и др.,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  <a:latin typeface="HSE Sans"/>
              </a:rPr>
              <a:t>  люди 92% против GPT-4 15%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300" b="1" dirty="0">
                <a:solidFill>
                  <a:srgbClr val="000000"/>
                </a:solidFill>
                <a:latin typeface="HSE Sans"/>
              </a:rPr>
              <a:t>SWE-bench 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(Jimenez и др., 2024)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  <a:latin typeface="HSE Sans"/>
              </a:rPr>
              <a:t>  лучшая модель решает &lt;2%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300" b="1" dirty="0" err="1">
                <a:solidFill>
                  <a:srgbClr val="000000"/>
                </a:solidFill>
                <a:latin typeface="HSE Sans"/>
              </a:rPr>
              <a:t>ToolBench</a:t>
            </a:r>
            <a:r>
              <a:rPr sz="1300" b="1" dirty="0">
                <a:solidFill>
                  <a:srgbClr val="000000"/>
                </a:solidFill>
                <a:latin typeface="HSE Sans"/>
              </a:rPr>
              <a:t> 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(Qin и др.,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  <a:latin typeface="HSE Sans"/>
              </a:rPr>
              <a:t>  OSS-модели набирают 0%</a:t>
            </a: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D0CF5567-A6EA-419B-8CB5-2469B075158E}"/>
              </a:ext>
            </a:extLst>
          </p:cNvPr>
          <p:cNvSpPr/>
          <p:nvPr/>
        </p:nvSpPr>
        <p:spPr>
          <a:xfrm>
            <a:off x="508263" y="5598367"/>
            <a:ext cx="2514600" cy="762318"/>
          </a:xfrm>
          <a:prstGeom prst="roundRect">
            <a:avLst>
              <a:gd name="adj" fmla="val 0"/>
            </a:avLst>
          </a:prstGeom>
          <a:solidFill>
            <a:srgbClr val="F0F0F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dirty="0">
                <a:solidFill>
                  <a:srgbClr val="0F2D69"/>
                </a:solidFill>
                <a:latin typeface="HSE Sans"/>
              </a:rPr>
              <a:t>Агентам </a:t>
            </a:r>
            <a:r>
              <a:rPr sz="1300" b="0" dirty="0" err="1">
                <a:solidFill>
                  <a:srgbClr val="0F2D69"/>
                </a:solidFill>
                <a:latin typeface="HSE Sans"/>
              </a:rPr>
              <a:t>нужно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 </a:t>
            </a:r>
            <a:r>
              <a:rPr lang="ru-RU" sz="1300" dirty="0">
                <a:solidFill>
                  <a:srgbClr val="0F2D69"/>
                </a:solidFill>
                <a:latin typeface="HSE Sans"/>
              </a:rPr>
              <a:t>б</a:t>
            </a:r>
            <a:r>
              <a:rPr lang="ru-RU" sz="1300" b="0" dirty="0">
                <a:solidFill>
                  <a:srgbClr val="0F2D69"/>
                </a:solidFill>
                <a:latin typeface="HSE Sans"/>
              </a:rPr>
              <a:t>ыть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 лучше.
Можно ли обойтись промпт-инжинирингом?</a:t>
            </a:r>
          </a:p>
        </p:txBody>
      </p:sp>
      <p:sp>
        <p:nvSpPr>
          <p:cNvPr id="14" name="Right Arrow 14">
            <a:extLst>
              <a:ext uri="{FF2B5EF4-FFF2-40B4-BE49-F238E27FC236}">
                <a16:creationId xmlns:a16="http://schemas.microsoft.com/office/drawing/2014/main" id="{49F1430B-FE72-44B1-A717-4F4599F36C6F}"/>
              </a:ext>
            </a:extLst>
          </p:cNvPr>
          <p:cNvSpPr/>
          <p:nvPr/>
        </p:nvSpPr>
        <p:spPr>
          <a:xfrm>
            <a:off x="3105159" y="3638205"/>
            <a:ext cx="164592" cy="182880"/>
          </a:xfrm>
          <a:prstGeom prst="rightArrow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2C0015-DBB0-4BB6-8DD1-16804FADC3C0}"/>
              </a:ext>
            </a:extLst>
          </p:cNvPr>
          <p:cNvSpPr/>
          <p:nvPr/>
        </p:nvSpPr>
        <p:spPr>
          <a:xfrm>
            <a:off x="3278895" y="2083726"/>
            <a:ext cx="2606040" cy="2743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HSE Sans"/>
              </a:rPr>
              <a:t>2. Промптинг хрупок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D4457A-B5CB-4CCB-950A-5C48CB35A1E7}"/>
              </a:ext>
            </a:extLst>
          </p:cNvPr>
          <p:cNvSpPr txBox="1"/>
          <p:nvPr/>
        </p:nvSpPr>
        <p:spPr>
          <a:xfrm>
            <a:off x="3205743" y="2431197"/>
            <a:ext cx="268833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0F2D69"/>
                </a:solidFill>
                <a:latin typeface="HSE Sans"/>
              </a:rPr>
              <a:t>Статичные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промпты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помогают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, 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но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
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хрупки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 и 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упираются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 в 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потолок</a:t>
            </a:r>
            <a:endParaRPr sz="1300" b="1" dirty="0">
              <a:solidFill>
                <a:srgbClr val="0F2D69"/>
              </a:solidFill>
              <a:latin typeface="HSE San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20E141-F59F-4146-AF54-912F7E36271D}"/>
              </a:ext>
            </a:extLst>
          </p:cNvPr>
          <p:cNvSpPr txBox="1"/>
          <p:nvPr/>
        </p:nvSpPr>
        <p:spPr>
          <a:xfrm>
            <a:off x="3352047" y="3287747"/>
            <a:ext cx="245973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latin typeface="HSE Sans"/>
              </a:rPr>
              <a:t>Чувствительность </a:t>
            </a:r>
            <a:r>
              <a:rPr lang="en-US" sz="1300" b="0" dirty="0">
                <a:solidFill>
                  <a:srgbClr val="7F7F7F"/>
                </a:solidFill>
                <a:latin typeface="HSE Sans"/>
              </a:rPr>
              <a:t>(</a:t>
            </a:r>
            <a:r>
              <a:rPr lang="en-US" sz="1300" b="0" dirty="0" err="1">
                <a:solidFill>
                  <a:srgbClr val="7F7F7F"/>
                </a:solidFill>
                <a:latin typeface="HSE Sans"/>
              </a:rPr>
              <a:t>Sclar</a:t>
            </a:r>
            <a:r>
              <a:rPr lang="en-US" sz="1300" b="0" dirty="0">
                <a:solidFill>
                  <a:srgbClr val="7F7F7F"/>
                </a:solidFill>
                <a:latin typeface="HSE Sans"/>
              </a:rPr>
              <a:t> и др.,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1300" b="0" dirty="0">
                <a:solidFill>
                  <a:srgbClr val="000000"/>
                </a:solidFill>
                <a:latin typeface="HSE Sans"/>
              </a:rPr>
              <a:t>  формат → разброс 76 п.п.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300" b="1" dirty="0" err="1">
                <a:solidFill>
                  <a:srgbClr val="000000"/>
                </a:solidFill>
                <a:latin typeface="HSE Sans"/>
              </a:rPr>
              <a:t>CoT</a:t>
            </a:r>
            <a:r>
              <a:rPr sz="1300" b="1" dirty="0">
                <a:solidFill>
                  <a:srgbClr val="000000"/>
                </a:solidFill>
                <a:latin typeface="HSE Sans"/>
              </a:rPr>
              <a:t> 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(Wei и др., 2022)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  <a:latin typeface="HSE Sans"/>
              </a:rPr>
              <a:t>  </a:t>
            </a:r>
            <a:r>
              <a:rPr lang="ru-RU" sz="1300" b="0" dirty="0">
                <a:solidFill>
                  <a:srgbClr val="000000"/>
                </a:solidFill>
                <a:latin typeface="HSE Sans"/>
              </a:rPr>
              <a:t>слишком долго</a:t>
            </a:r>
            <a:endParaRPr sz="1300" b="0" dirty="0">
              <a:solidFill>
                <a:srgbClr val="000000"/>
              </a:solidFill>
              <a:latin typeface="HSE Sans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300" b="1" dirty="0" err="1">
                <a:solidFill>
                  <a:srgbClr val="000000"/>
                </a:solidFill>
                <a:latin typeface="HSE Sans"/>
              </a:rPr>
              <a:t>ReAct</a:t>
            </a:r>
            <a:r>
              <a:rPr sz="1300" b="1" dirty="0">
                <a:solidFill>
                  <a:srgbClr val="000000"/>
                </a:solidFill>
                <a:latin typeface="HSE Sans"/>
              </a:rPr>
              <a:t> 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(Yao и др.,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  <a:latin typeface="HSE Sans"/>
              </a:rPr>
              <a:t>  прирост есть, нет самовосстановления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300" b="1" dirty="0">
                <a:solidFill>
                  <a:srgbClr val="000000"/>
                </a:solidFill>
                <a:latin typeface="HSE Sans"/>
              </a:rPr>
              <a:t>APE 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(Zhou и др., 2022)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  <a:latin typeface="HSE Sans"/>
              </a:rPr>
              <a:t>  оптимальные промпты хрупки</a:t>
            </a:r>
          </a:p>
        </p:txBody>
      </p:sp>
      <p:sp>
        <p:nvSpPr>
          <p:cNvPr id="18" name="Rounded Rectangle 18">
            <a:extLst>
              <a:ext uri="{FF2B5EF4-FFF2-40B4-BE49-F238E27FC236}">
                <a16:creationId xmlns:a16="http://schemas.microsoft.com/office/drawing/2014/main" id="{A9EE39BA-41BE-47C5-AC76-37E50C446519}"/>
              </a:ext>
            </a:extLst>
          </p:cNvPr>
          <p:cNvSpPr/>
          <p:nvPr/>
        </p:nvSpPr>
        <p:spPr>
          <a:xfrm>
            <a:off x="3297183" y="5598367"/>
            <a:ext cx="2514600" cy="762318"/>
          </a:xfrm>
          <a:prstGeom prst="roundRect">
            <a:avLst>
              <a:gd name="adj" fmla="val 0"/>
            </a:avLst>
          </a:prstGeom>
          <a:solidFill>
            <a:srgbClr val="F0F0F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dirty="0" err="1">
                <a:solidFill>
                  <a:srgbClr val="0F2D69"/>
                </a:solidFill>
                <a:latin typeface="HSE Sans"/>
              </a:rPr>
              <a:t>Ручные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0" dirty="0" err="1">
                <a:solidFill>
                  <a:srgbClr val="0F2D69"/>
                </a:solidFill>
                <a:latin typeface="HSE Sans"/>
              </a:rPr>
              <a:t>промпты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0" dirty="0" err="1">
                <a:solidFill>
                  <a:srgbClr val="0F2D69"/>
                </a:solidFill>
                <a:latin typeface="HSE Sans"/>
              </a:rPr>
              <a:t>не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0" dirty="0" err="1">
                <a:solidFill>
                  <a:srgbClr val="0F2D69"/>
                </a:solidFill>
                <a:latin typeface="HSE Sans"/>
              </a:rPr>
              <a:t>адаптируются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.
</a:t>
            </a:r>
            <a:r>
              <a:rPr sz="1300" b="0" dirty="0" err="1">
                <a:solidFill>
                  <a:srgbClr val="0F2D69"/>
                </a:solidFill>
                <a:latin typeface="HSE Sans"/>
              </a:rPr>
              <a:t>Может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, </a:t>
            </a:r>
            <a:r>
              <a:rPr sz="1300" b="0" dirty="0" err="1">
                <a:solidFill>
                  <a:srgbClr val="0F2D69"/>
                </a:solidFill>
                <a:latin typeface="HSE Sans"/>
              </a:rPr>
              <a:t>тогда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0" dirty="0" err="1">
                <a:solidFill>
                  <a:srgbClr val="0F2D69"/>
                </a:solidFill>
                <a:latin typeface="HSE Sans"/>
              </a:rPr>
              <a:t>дообучать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?</a:t>
            </a:r>
          </a:p>
        </p:txBody>
      </p:sp>
      <p:sp>
        <p:nvSpPr>
          <p:cNvPr id="19" name="Right Arrow 19">
            <a:extLst>
              <a:ext uri="{FF2B5EF4-FFF2-40B4-BE49-F238E27FC236}">
                <a16:creationId xmlns:a16="http://schemas.microsoft.com/office/drawing/2014/main" id="{E7E11A3F-980B-4CD4-966B-B0FB0F23C7DD}"/>
              </a:ext>
            </a:extLst>
          </p:cNvPr>
          <p:cNvSpPr/>
          <p:nvPr/>
        </p:nvSpPr>
        <p:spPr>
          <a:xfrm>
            <a:off x="5894079" y="3638205"/>
            <a:ext cx="164592" cy="182880"/>
          </a:xfrm>
          <a:prstGeom prst="rightArrow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B13868-D5AE-4EA0-A2B2-3355742BBA36}"/>
              </a:ext>
            </a:extLst>
          </p:cNvPr>
          <p:cNvSpPr/>
          <p:nvPr/>
        </p:nvSpPr>
        <p:spPr>
          <a:xfrm>
            <a:off x="6067815" y="2083726"/>
            <a:ext cx="2606040" cy="2743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HSE Sans"/>
              </a:rPr>
              <a:t>3. Дообучение дорого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741F7E-59F5-46B3-97C7-A07EEC105B4D}"/>
              </a:ext>
            </a:extLst>
          </p:cNvPr>
          <p:cNvSpPr txBox="1"/>
          <p:nvPr/>
        </p:nvSpPr>
        <p:spPr>
          <a:xfrm>
            <a:off x="6058671" y="2431197"/>
            <a:ext cx="262432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0F2D69"/>
                </a:solidFill>
                <a:latin typeface="HSE Sans"/>
              </a:rPr>
              <a:t>Модификация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весов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работает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, 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но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
</a:t>
            </a:r>
            <a:r>
              <a:rPr lang="ru-RU" sz="1300" b="1" dirty="0">
                <a:solidFill>
                  <a:srgbClr val="0F2D69"/>
                </a:solidFill>
                <a:latin typeface="HSE Sans"/>
              </a:rPr>
              <a:t>есть </a:t>
            </a:r>
            <a:r>
              <a:rPr lang="ru-RU" sz="1300" b="1" dirty="0" err="1">
                <a:solidFill>
                  <a:srgbClr val="0F2D69"/>
                </a:solidFill>
                <a:latin typeface="HSE Sans"/>
              </a:rPr>
              <a:t>трейдоффы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 и </a:t>
            </a:r>
            <a:r>
              <a:rPr lang="ru-RU" sz="1300" b="1" dirty="0">
                <a:solidFill>
                  <a:srgbClr val="0F2D69"/>
                </a:solidFill>
                <a:latin typeface="HSE Sans"/>
              </a:rPr>
              <a:t>ненадежности</a:t>
            </a:r>
            <a:endParaRPr sz="1300" b="1" dirty="0">
              <a:solidFill>
                <a:srgbClr val="0F2D69"/>
              </a:solidFill>
              <a:latin typeface="HSE San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4ED105-92A2-4231-87A9-6F7880785D32}"/>
              </a:ext>
            </a:extLst>
          </p:cNvPr>
          <p:cNvSpPr txBox="1"/>
          <p:nvPr/>
        </p:nvSpPr>
        <p:spPr>
          <a:xfrm>
            <a:off x="6140967" y="3287747"/>
            <a:ext cx="245973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latin typeface="HSE Sans"/>
              </a:rPr>
              <a:t>Alignment tax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(Young, 2026)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  <a:latin typeface="HSE Sans"/>
              </a:rPr>
              <a:t>  доказана неустранимость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300" b="1" dirty="0">
                <a:solidFill>
                  <a:srgbClr val="000000"/>
                </a:solidFill>
                <a:latin typeface="HSE Sans"/>
              </a:rPr>
              <a:t>Вред от SFT 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(</a:t>
            </a:r>
            <a:r>
              <a:rPr sz="1300" b="0" dirty="0" err="1">
                <a:solidFill>
                  <a:srgbClr val="7F7F7F"/>
                </a:solidFill>
                <a:latin typeface="HSE Sans"/>
              </a:rPr>
              <a:t>Shenfeld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, 2026)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  <a:latin typeface="HSE Sans"/>
              </a:rPr>
              <a:t>  разрушает рассуждение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300" b="1" dirty="0">
                <a:solidFill>
                  <a:srgbClr val="000000"/>
                </a:solidFill>
                <a:latin typeface="HSE Sans"/>
              </a:rPr>
              <a:t>LIMA 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(Zhou и др.,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  <a:latin typeface="HSE Sans"/>
              </a:rPr>
              <a:t>  выравнивание = стиль, а не знание</a:t>
            </a:r>
            <a:endParaRPr lang="en-US" sz="1300" b="0" dirty="0">
              <a:solidFill>
                <a:srgbClr val="000000"/>
              </a:solidFill>
              <a:latin typeface="HSE Sans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fr-FR" sz="1300" b="1" dirty="0" err="1">
                <a:solidFill>
                  <a:srgbClr val="000000"/>
                </a:solidFill>
                <a:latin typeface="HSE Sans"/>
              </a:rPr>
              <a:t>InstructGPT</a:t>
            </a:r>
            <a:r>
              <a:rPr lang="fr-FR" sz="1300" b="1" dirty="0">
                <a:solidFill>
                  <a:srgbClr val="000000"/>
                </a:solidFill>
                <a:latin typeface="HSE Sans"/>
              </a:rPr>
              <a:t> </a:t>
            </a:r>
            <a:r>
              <a:rPr lang="fr-FR" sz="1300" b="0" dirty="0">
                <a:solidFill>
                  <a:srgbClr val="7F7F7F"/>
                </a:solidFill>
                <a:latin typeface="HSE Sans"/>
              </a:rPr>
              <a:t>(</a:t>
            </a:r>
            <a:r>
              <a:rPr lang="fr-FR" sz="1300" b="0" dirty="0" err="1">
                <a:solidFill>
                  <a:srgbClr val="7F7F7F"/>
                </a:solidFill>
                <a:latin typeface="HSE Sans"/>
              </a:rPr>
              <a:t>Ouyang</a:t>
            </a:r>
            <a:r>
              <a:rPr lang="fr-FR" sz="1300" b="0" dirty="0">
                <a:solidFill>
                  <a:srgbClr val="7F7F7F"/>
                </a:solidFill>
                <a:latin typeface="HSE Sans"/>
              </a:rPr>
              <a:t> и др., 2022)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fr-FR" sz="1300" b="0" dirty="0">
                <a:solidFill>
                  <a:srgbClr val="000000"/>
                </a:solidFill>
                <a:latin typeface="HSE Sans"/>
              </a:rPr>
              <a:t>  1,3 млрд &gt; 175 млрд, но </a:t>
            </a:r>
            <a:r>
              <a:rPr lang="fr-FR" sz="1300" b="0" dirty="0" err="1">
                <a:solidFill>
                  <a:srgbClr val="000000"/>
                </a:solidFill>
                <a:latin typeface="HSE Sans"/>
              </a:rPr>
              <a:t>регрессирует</a:t>
            </a:r>
            <a:endParaRPr lang="fr-FR" sz="1300" b="0" dirty="0">
              <a:solidFill>
                <a:srgbClr val="000000"/>
              </a:solidFill>
              <a:latin typeface="HSE Sans"/>
            </a:endParaRPr>
          </a:p>
        </p:txBody>
      </p:sp>
      <p:sp>
        <p:nvSpPr>
          <p:cNvPr id="29" name="Rounded Rectangle 23">
            <a:extLst>
              <a:ext uri="{FF2B5EF4-FFF2-40B4-BE49-F238E27FC236}">
                <a16:creationId xmlns:a16="http://schemas.microsoft.com/office/drawing/2014/main" id="{12D420B4-AF37-47C6-BC83-C18B731CE858}"/>
              </a:ext>
            </a:extLst>
          </p:cNvPr>
          <p:cNvSpPr/>
          <p:nvPr/>
        </p:nvSpPr>
        <p:spPr>
          <a:xfrm>
            <a:off x="6086103" y="5598367"/>
            <a:ext cx="2514600" cy="762318"/>
          </a:xfrm>
          <a:prstGeom prst="roundRect">
            <a:avLst>
              <a:gd name="adj" fmla="val 0"/>
            </a:avLst>
          </a:prstGeom>
          <a:solidFill>
            <a:srgbClr val="F0F0F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dirty="0" err="1">
                <a:solidFill>
                  <a:srgbClr val="0F2D69"/>
                </a:solidFill>
                <a:latin typeface="HSE Sans"/>
              </a:rPr>
              <a:t>Веса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 — </a:t>
            </a:r>
            <a:r>
              <a:rPr sz="1300" b="0" dirty="0" err="1">
                <a:solidFill>
                  <a:srgbClr val="0F2D69"/>
                </a:solidFill>
                <a:latin typeface="HSE Sans"/>
              </a:rPr>
              <a:t>не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0" dirty="0" err="1">
                <a:solidFill>
                  <a:srgbClr val="0F2D69"/>
                </a:solidFill>
                <a:latin typeface="HSE Sans"/>
              </a:rPr>
              <a:t>тот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0" dirty="0" err="1">
                <a:solidFill>
                  <a:srgbClr val="0F2D69"/>
                </a:solidFill>
                <a:latin typeface="HSE Sans"/>
              </a:rPr>
              <a:t>уровень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.
</a:t>
            </a:r>
            <a:r>
              <a:rPr sz="1300" b="0" dirty="0" err="1">
                <a:solidFill>
                  <a:srgbClr val="0F2D69"/>
                </a:solidFill>
                <a:latin typeface="HSE Sans"/>
              </a:rPr>
              <a:t>Можно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0" dirty="0" err="1">
                <a:solidFill>
                  <a:srgbClr val="0F2D69"/>
                </a:solidFill>
                <a:latin typeface="HSE Sans"/>
              </a:rPr>
              <a:t>ли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0" dirty="0" err="1">
                <a:solidFill>
                  <a:srgbClr val="0F2D69"/>
                </a:solidFill>
                <a:latin typeface="HSE Sans"/>
              </a:rPr>
              <a:t>оптимизировать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0" dirty="0" err="1">
                <a:solidFill>
                  <a:srgbClr val="0F2D69"/>
                </a:solidFill>
                <a:latin typeface="HSE Sans"/>
              </a:rPr>
              <a:t>промпты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0" dirty="0" err="1">
                <a:solidFill>
                  <a:srgbClr val="0F2D69"/>
                </a:solidFill>
                <a:latin typeface="HSE Sans"/>
              </a:rPr>
              <a:t>авто­матически</a:t>
            </a:r>
            <a:r>
              <a:rPr sz="1300" b="0" dirty="0">
                <a:solidFill>
                  <a:srgbClr val="0F2D69"/>
                </a:solidFill>
                <a:latin typeface="HSE Sans"/>
              </a:rPr>
              <a:t>?</a:t>
            </a:r>
          </a:p>
        </p:txBody>
      </p:sp>
      <p:sp>
        <p:nvSpPr>
          <p:cNvPr id="30" name="Right Arrow 24">
            <a:extLst>
              <a:ext uri="{FF2B5EF4-FFF2-40B4-BE49-F238E27FC236}">
                <a16:creationId xmlns:a16="http://schemas.microsoft.com/office/drawing/2014/main" id="{BF7523A9-CCE3-41B7-A0A0-E65FCCE72B65}"/>
              </a:ext>
            </a:extLst>
          </p:cNvPr>
          <p:cNvSpPr/>
          <p:nvPr/>
        </p:nvSpPr>
        <p:spPr>
          <a:xfrm>
            <a:off x="8682999" y="3638205"/>
            <a:ext cx="164592" cy="182880"/>
          </a:xfrm>
          <a:prstGeom prst="rightArrow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DE156B-C44A-477E-9601-797E71124FDC}"/>
              </a:ext>
            </a:extLst>
          </p:cNvPr>
          <p:cNvSpPr/>
          <p:nvPr/>
        </p:nvSpPr>
        <p:spPr>
          <a:xfrm>
            <a:off x="8856735" y="2083726"/>
            <a:ext cx="2606040" cy="2743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HSE Sans"/>
              </a:rPr>
              <a:t>4. Автооптимизация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27332F-5431-46C3-9B79-7BFB02112165}"/>
              </a:ext>
            </a:extLst>
          </p:cNvPr>
          <p:cNvSpPr txBox="1"/>
          <p:nvPr/>
        </p:nvSpPr>
        <p:spPr>
          <a:xfrm>
            <a:off x="8929887" y="2431197"/>
            <a:ext cx="253288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0F2D69"/>
                </a:solidFill>
                <a:latin typeface="HSE Sans"/>
              </a:rPr>
              <a:t>Оптимизаторы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промптов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дают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прирост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 — 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но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не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на</a:t>
            </a:r>
            <a:r>
              <a:rPr sz="1300" b="1" dirty="0">
                <a:solidFill>
                  <a:srgbClr val="0F2D69"/>
                </a:solidFill>
                <a:latin typeface="HSE Sans"/>
              </a:rPr>
              <a:t> </a:t>
            </a:r>
            <a:r>
              <a:rPr sz="1300" b="1" dirty="0" err="1">
                <a:solidFill>
                  <a:srgbClr val="0F2D69"/>
                </a:solidFill>
                <a:latin typeface="HSE Sans"/>
              </a:rPr>
              <a:t>агентах</a:t>
            </a:r>
            <a:endParaRPr sz="1300" b="1" dirty="0">
              <a:solidFill>
                <a:srgbClr val="0F2D69"/>
              </a:solidFill>
              <a:latin typeface="HSE San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6E0607-4B0D-4507-8AFF-82F5360A6FE3}"/>
              </a:ext>
            </a:extLst>
          </p:cNvPr>
          <p:cNvSpPr txBox="1"/>
          <p:nvPr/>
        </p:nvSpPr>
        <p:spPr>
          <a:xfrm>
            <a:off x="8929887" y="3287747"/>
            <a:ext cx="245973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1300" b="1" dirty="0" err="1">
                <a:solidFill>
                  <a:srgbClr val="000000"/>
                </a:solidFill>
                <a:latin typeface="HSE Sans"/>
              </a:rPr>
              <a:t>DSPy</a:t>
            </a:r>
            <a:r>
              <a:rPr sz="1300" b="1" dirty="0">
                <a:solidFill>
                  <a:srgbClr val="000000"/>
                </a:solidFill>
                <a:latin typeface="HSE Sans"/>
              </a:rPr>
              <a:t> 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(Khattab и др.,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  <a:latin typeface="HSE Sans"/>
              </a:rPr>
              <a:t>  +5–46% на </a:t>
            </a:r>
            <a:r>
              <a:rPr sz="1300" b="0" dirty="0" err="1">
                <a:solidFill>
                  <a:srgbClr val="000000"/>
                </a:solidFill>
                <a:latin typeface="HSE Sans"/>
              </a:rPr>
              <a:t>HotPotQA</a:t>
            </a:r>
            <a:endParaRPr sz="1300" b="0" dirty="0">
              <a:solidFill>
                <a:srgbClr val="000000"/>
              </a:solidFill>
              <a:latin typeface="HSE Sans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300" b="1" dirty="0" err="1">
                <a:solidFill>
                  <a:srgbClr val="000000"/>
                </a:solidFill>
                <a:latin typeface="HSE Sans"/>
              </a:rPr>
              <a:t>TextGrad</a:t>
            </a:r>
            <a:r>
              <a:rPr sz="1300" b="1" dirty="0">
                <a:solidFill>
                  <a:srgbClr val="000000"/>
                </a:solidFill>
                <a:latin typeface="HSE Sans"/>
              </a:rPr>
              <a:t> 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(</a:t>
            </a:r>
            <a:r>
              <a:rPr sz="1300" b="0" dirty="0" err="1">
                <a:solidFill>
                  <a:srgbClr val="7F7F7F"/>
                </a:solidFill>
                <a:latin typeface="HSE Sans"/>
              </a:rPr>
              <a:t>Yuksekgonul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, 2024)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  <a:latin typeface="HSE Sans"/>
              </a:rPr>
              <a:t>  +20% </a:t>
            </a:r>
            <a:r>
              <a:rPr sz="1300" b="0" dirty="0" err="1">
                <a:solidFill>
                  <a:srgbClr val="000000"/>
                </a:solidFill>
                <a:latin typeface="HSE Sans"/>
              </a:rPr>
              <a:t>LeetCode</a:t>
            </a:r>
            <a:r>
              <a:rPr sz="1300" b="0" dirty="0">
                <a:solidFill>
                  <a:srgbClr val="000000"/>
                </a:solidFill>
                <a:latin typeface="HSE Sans"/>
              </a:rPr>
              <a:t>; Nature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300" b="1" dirty="0" err="1">
                <a:solidFill>
                  <a:srgbClr val="000000"/>
                </a:solidFill>
                <a:latin typeface="HSE Sans"/>
              </a:rPr>
              <a:t>EvoPrompt</a:t>
            </a:r>
            <a:r>
              <a:rPr sz="1300" b="1" dirty="0">
                <a:solidFill>
                  <a:srgbClr val="000000"/>
                </a:solidFill>
                <a:latin typeface="HSE Sans"/>
              </a:rPr>
              <a:t> </a:t>
            </a:r>
            <a:r>
              <a:rPr sz="1300" b="0" dirty="0">
                <a:solidFill>
                  <a:srgbClr val="7F7F7F"/>
                </a:solidFill>
                <a:latin typeface="HSE Sans"/>
              </a:rPr>
              <a:t>(Guo и др.,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 dirty="0">
                <a:solidFill>
                  <a:srgbClr val="000000"/>
                </a:solidFill>
                <a:latin typeface="HSE Sans"/>
              </a:rPr>
              <a:t>  +25% Big-Bench Hard</a:t>
            </a:r>
            <a:endParaRPr lang="en-US" sz="1300" b="0" dirty="0">
              <a:solidFill>
                <a:srgbClr val="000000"/>
              </a:solidFill>
              <a:latin typeface="HSE Sans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000000"/>
                </a:solidFill>
                <a:latin typeface="HSE Sans"/>
              </a:rPr>
              <a:t>OPRO </a:t>
            </a:r>
            <a:r>
              <a:rPr lang="en-US" sz="1300" b="0" dirty="0">
                <a:solidFill>
                  <a:srgbClr val="7F7F7F"/>
                </a:solidFill>
                <a:latin typeface="HSE Sans"/>
              </a:rPr>
              <a:t>(Yang и др.,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1300" b="0" dirty="0">
                <a:solidFill>
                  <a:srgbClr val="000000"/>
                </a:solidFill>
                <a:latin typeface="HSE Sans"/>
              </a:rPr>
              <a:t>  +50% Big-Bench Hard</a:t>
            </a:r>
          </a:p>
        </p:txBody>
      </p:sp>
      <p:sp>
        <p:nvSpPr>
          <p:cNvPr id="34" name="Rounded Rectangle 28">
            <a:extLst>
              <a:ext uri="{FF2B5EF4-FFF2-40B4-BE49-F238E27FC236}">
                <a16:creationId xmlns:a16="http://schemas.microsoft.com/office/drawing/2014/main" id="{098D38BE-FE13-4B0E-A710-22EE5BC4B1F8}"/>
              </a:ext>
            </a:extLst>
          </p:cNvPr>
          <p:cNvSpPr/>
          <p:nvPr/>
        </p:nvSpPr>
        <p:spPr>
          <a:xfrm>
            <a:off x="8875023" y="5598367"/>
            <a:ext cx="2514600" cy="762318"/>
          </a:xfrm>
          <a:prstGeom prst="roundRect">
            <a:avLst>
              <a:gd name="adj" fmla="val 0"/>
            </a:avLst>
          </a:prstGeom>
          <a:solidFill>
            <a:srgbClr val="F0F0F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dirty="0">
                <a:solidFill>
                  <a:srgbClr val="0F2D69"/>
                </a:solidFill>
                <a:latin typeface="HSE Sans"/>
              </a:rPr>
              <a:t>Инструменты есть, бенчмарки есть,
но они ещё не встретились.</a:t>
            </a:r>
          </a:p>
        </p:txBody>
      </p:sp>
    </p:spTree>
    <p:extLst>
      <p:ext uri="{BB962C8B-B14F-4D97-AF65-F5344CB8AC3E}">
        <p14:creationId xmlns:p14="http://schemas.microsoft.com/office/powerpoint/2010/main" val="3262795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01679C-8ED8-4ACD-88D1-47C008EE8C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74" y="4475951"/>
            <a:ext cx="11251483" cy="2139042"/>
          </a:xfrm>
          <a:prstGeom prst="rect">
            <a:avLst/>
          </a:prstGeom>
        </p:spPr>
      </p:pic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6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4" y="3607048"/>
            <a:ext cx="10132991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Датасет: отраслевой бенчмарк-стандарт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Автоматическая эволюция LLM-агентов через рефлексивное редактирование контекста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Методология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F89183-FF3F-4F04-831A-FB2518E41D09}"/>
              </a:ext>
            </a:extLst>
          </p:cNvPr>
          <p:cNvSpPr txBox="1"/>
          <p:nvPr/>
        </p:nvSpPr>
        <p:spPr>
          <a:xfrm>
            <a:off x="552223" y="4069403"/>
            <a:ext cx="112514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HSE Sans" panose="02000000000000000000"/>
              </a:rPr>
              <a:t>τ²-bench (2025): агенты автоматизации клиентского сервиса с готовыми промптами, без насыщения, с вызовом инструментов и сложными режимами отказа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C8263D-9341-4CBB-9856-6F0B7DED2A7B}"/>
              </a:ext>
            </a:extLst>
          </p:cNvPr>
          <p:cNvSpPr txBox="1"/>
          <p:nvPr/>
        </p:nvSpPr>
        <p:spPr>
          <a:xfrm>
            <a:off x="489974" y="1312528"/>
            <a:ext cx="10132991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Модели: open-source SOTA (</a:t>
            </a:r>
            <a:r>
              <a:rPr lang="en-US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для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 </a:t>
            </a: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локального развертывания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) 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BA5E21A8-6A78-4ABA-9E60-14F64A6BB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382775"/>
              </p:ext>
            </p:extLst>
          </p:nvPr>
        </p:nvGraphicFramePr>
        <p:xfrm>
          <a:off x="552222" y="1897358"/>
          <a:ext cx="9620477" cy="1447800"/>
        </p:xfrm>
        <a:graphic>
          <a:graphicData uri="http://schemas.openxmlformats.org/drawingml/2006/table">
            <a:tbl>
              <a:tblPr/>
              <a:tblGrid>
                <a:gridCol w="1924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2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4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SE Sans" panose="02000000000000000000"/>
                        </a:rPr>
                        <a:t>Роль</a:t>
                      </a:r>
                      <a:endParaRPr lang="en-US" sz="1300" dirty="0">
                        <a:latin typeface="HSE Sans" panose="0200000000000000000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SE Sans" panose="02000000000000000000"/>
                        </a:rPr>
                        <a:t>Модель</a:t>
                      </a:r>
                      <a:endParaRPr lang="en-US" sz="1300" dirty="0">
                        <a:latin typeface="HSE Sans" panose="0200000000000000000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SE Sans" panose="02000000000000000000"/>
                        </a:rPr>
                        <a:t>Обоснование</a:t>
                      </a:r>
                      <a:endParaRPr lang="en-US" sz="1300" dirty="0">
                        <a:latin typeface="HSE Sans" panose="0200000000000000000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8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Ученик </a:t>
                      </a:r>
                      <a:endParaRPr lang="en-US" sz="1300" dirty="0">
                        <a:latin typeface="HSE Sans" panose="0200000000000000000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Qwen3 30B-A3B</a:t>
                      </a:r>
                      <a:endParaRPr lang="en-US" sz="1300" dirty="0">
                        <a:latin typeface="HSE Sans" panose="0200000000000000000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Экономичная MoE; запас до фронтира, non-thinking</a:t>
                      </a:r>
                      <a:endParaRPr lang="en-US" sz="1300" dirty="0">
                        <a:latin typeface="HSE Sans" panose="0200000000000000000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8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Ученик</a:t>
                      </a:r>
                      <a:endParaRPr lang="en-US" sz="1300" dirty="0">
                        <a:latin typeface="HSE Sans" panose="0200000000000000000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Qwen3.5 Flash</a:t>
                      </a:r>
                      <a:endParaRPr lang="en-US" sz="1300" dirty="0">
                        <a:latin typeface="HSE Sans" panose="0200000000000000000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SOTA </a:t>
                      </a: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Qwen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 на момент выбора, non-thinking</a:t>
                      </a:r>
                      <a:endParaRPr lang="en-US" sz="1300" dirty="0">
                        <a:latin typeface="HSE Sans" panose="0200000000000000000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8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Ученик</a:t>
                      </a:r>
                      <a:endParaRPr lang="en-US" sz="1300" dirty="0">
                        <a:latin typeface="HSE Sans" panose="0200000000000000000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GLM 4.7 Flash</a:t>
                      </a:r>
                      <a:endParaRPr lang="en-US" sz="1300" dirty="0">
                        <a:latin typeface="HSE Sans" panose="0200000000000000000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Другая архитектура, сопоставимые бенчмарки, non-thinking</a:t>
                      </a:r>
                      <a:endParaRPr lang="en-US" sz="1300" dirty="0">
                        <a:latin typeface="HSE Sans" panose="0200000000000000000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8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Учитель</a:t>
                      </a:r>
                      <a:endParaRPr lang="en-US" sz="1300" dirty="0">
                        <a:latin typeface="HSE Sans" panose="0200000000000000000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Kimi K2.5 (~1T </a:t>
                      </a: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MoE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)</a:t>
                      </a:r>
                      <a:endParaRPr lang="en-US" sz="1300" dirty="0">
                        <a:latin typeface="HSE Sans" panose="0200000000000000000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OSS </a:t>
                      </a:r>
                      <a:r>
                        <a:rPr lang="ru-RU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ф</a:t>
                      </a:r>
                      <a:r>
                        <a:rPr lang="en-US" sz="1300" dirty="0" err="1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ронтир</a:t>
                      </a:r>
                      <a:r>
                        <a:rPr lang="ru-RU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 на момент исследования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, thinking</a:t>
                      </a:r>
                      <a:endParaRPr lang="en-US" sz="1300" dirty="0">
                        <a:latin typeface="HSE Sans" panose="0200000000000000000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075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8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638335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Учитель находит и исправляет ошибки, сливая правки в общий промпт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Автоматическая эволюция LLM-агентов через рефлексивное редактирование контекста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Методология</a:t>
            </a:r>
            <a:endParaRPr lang="ru-RU" sz="1000" dirty="0">
              <a:latin typeface="HSE Sans" panose="0200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75DF7D-E4FD-405C-8918-25F9F87D16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395" y="3131984"/>
            <a:ext cx="10437845" cy="13767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6EF1C8-3124-4CAC-92F2-F88BE4E929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27" y="5011112"/>
            <a:ext cx="10437845" cy="1260883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934D28-8100-4772-8306-28E5A123F7E5}"/>
              </a:ext>
            </a:extLst>
          </p:cNvPr>
          <p:cNvCxnSpPr>
            <a:cxnSpLocks/>
          </p:cNvCxnSpPr>
          <p:nvPr/>
        </p:nvCxnSpPr>
        <p:spPr>
          <a:xfrm>
            <a:off x="6587413" y="3685420"/>
            <a:ext cx="0" cy="1595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BD58DCC-D326-4F5D-8F6D-4513325225A0}"/>
              </a:ext>
            </a:extLst>
          </p:cNvPr>
          <p:cNvSpPr/>
          <p:nvPr/>
        </p:nvSpPr>
        <p:spPr>
          <a:xfrm>
            <a:off x="690464" y="4730448"/>
            <a:ext cx="10705709" cy="1663189"/>
          </a:xfrm>
          <a:prstGeom prst="roundRect">
            <a:avLst>
              <a:gd name="adj" fmla="val 0"/>
            </a:avLst>
          </a:prstGeom>
          <a:noFill/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8D13B5-EB04-4819-9788-EA5500A89756}"/>
              </a:ext>
            </a:extLst>
          </p:cNvPr>
          <p:cNvSpPr txBox="1"/>
          <p:nvPr/>
        </p:nvSpPr>
        <p:spPr>
          <a:xfrm>
            <a:off x="8187022" y="3058671"/>
            <a:ext cx="32910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Внешний цикл (все задачи) </a:t>
            </a:r>
            <a:endParaRPr lang="en-US" sz="1300" dirty="0">
              <a:latin typeface="HSE Sans" panose="0200000000000000000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1DF35F-161A-456D-B657-65B87C51D24F}"/>
              </a:ext>
            </a:extLst>
          </p:cNvPr>
          <p:cNvSpPr txBox="1"/>
          <p:nvPr/>
        </p:nvSpPr>
        <p:spPr>
          <a:xfrm>
            <a:off x="8105096" y="4756588"/>
            <a:ext cx="32910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Внутренний цикл (1 задача)</a:t>
            </a:r>
            <a:endParaRPr lang="en-US" sz="1300" dirty="0">
              <a:latin typeface="HSE Sans" panose="0200000000000000000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5F96DE-2DC0-404E-8368-B19AB25B1814}"/>
              </a:ext>
            </a:extLst>
          </p:cNvPr>
          <p:cNvSpPr txBox="1"/>
          <p:nvPr/>
        </p:nvSpPr>
        <p:spPr>
          <a:xfrm>
            <a:off x="690464" y="1938838"/>
            <a:ext cx="17354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1. Запуск бенчмарка</a:t>
            </a:r>
            <a:endParaRPr lang="en-US" sz="1600" dirty="0">
              <a:latin typeface="HSE Sans" panose="0200000000000000000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BF9122-5D47-4C6F-9B9F-B37ADDCF3AA4}"/>
              </a:ext>
            </a:extLst>
          </p:cNvPr>
          <p:cNvSpPr txBox="1"/>
          <p:nvPr/>
        </p:nvSpPr>
        <p:spPr>
          <a:xfrm>
            <a:off x="2953073" y="1938838"/>
            <a:ext cx="13223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2. Поиск ошибок</a:t>
            </a:r>
            <a:endParaRPr lang="en-US" sz="1600" dirty="0">
              <a:latin typeface="HSE Sans" panose="0200000000000000000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6232C1-4DDC-4AD1-BA81-03F0920F7CA6}"/>
              </a:ext>
            </a:extLst>
          </p:cNvPr>
          <p:cNvSpPr txBox="1"/>
          <p:nvPr/>
        </p:nvSpPr>
        <p:spPr>
          <a:xfrm>
            <a:off x="4879780" y="1919015"/>
            <a:ext cx="21367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3. Попытка исправить каждую ошибку</a:t>
            </a:r>
            <a:endParaRPr lang="en-US" sz="1600" dirty="0">
              <a:latin typeface="HSE Sans" panose="0200000000000000000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1EBAD2-CE40-4C8C-9DD9-933258981940}"/>
              </a:ext>
            </a:extLst>
          </p:cNvPr>
          <p:cNvSpPr txBox="1"/>
          <p:nvPr/>
        </p:nvSpPr>
        <p:spPr>
          <a:xfrm>
            <a:off x="7398915" y="1919015"/>
            <a:ext cx="21367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4. Объединение исправлений</a:t>
            </a:r>
            <a:endParaRPr lang="en-US" sz="1600" dirty="0">
              <a:latin typeface="HSE Sans" panose="0200000000000000000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C3CF28-AC16-454F-B1C1-6C5BF741AFE1}"/>
              </a:ext>
            </a:extLst>
          </p:cNvPr>
          <p:cNvSpPr txBox="1"/>
          <p:nvPr/>
        </p:nvSpPr>
        <p:spPr>
          <a:xfrm>
            <a:off x="9470311" y="1944921"/>
            <a:ext cx="21367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5. Повторный запуск бенчмарка</a:t>
            </a:r>
            <a:endParaRPr lang="en-US" sz="1600" dirty="0">
              <a:latin typeface="HSE Sans" panose="0200000000000000000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8B7672-0F74-4C50-A750-BF042AA53F9D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2425959" y="2108115"/>
            <a:ext cx="382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54CBF1C-942F-4848-BEA3-A675EE7B26B3}"/>
              </a:ext>
            </a:extLst>
          </p:cNvPr>
          <p:cNvCxnSpPr/>
          <p:nvPr/>
        </p:nvCxnSpPr>
        <p:spPr>
          <a:xfrm>
            <a:off x="4275442" y="2081470"/>
            <a:ext cx="52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02631D8-712D-4FCF-B554-2C06F83A65F0}"/>
              </a:ext>
            </a:extLst>
          </p:cNvPr>
          <p:cNvCxnSpPr/>
          <p:nvPr/>
        </p:nvCxnSpPr>
        <p:spPr>
          <a:xfrm>
            <a:off x="6871801" y="2102641"/>
            <a:ext cx="52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4ABE306-FB42-47A5-88DB-251D6056750A}"/>
              </a:ext>
            </a:extLst>
          </p:cNvPr>
          <p:cNvCxnSpPr/>
          <p:nvPr/>
        </p:nvCxnSpPr>
        <p:spPr>
          <a:xfrm>
            <a:off x="8815679" y="2088292"/>
            <a:ext cx="52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89BD3F5-6227-4C47-AF67-1299072DDD4A}"/>
              </a:ext>
            </a:extLst>
          </p:cNvPr>
          <p:cNvSpPr/>
          <p:nvPr/>
        </p:nvSpPr>
        <p:spPr>
          <a:xfrm>
            <a:off x="489976" y="2967138"/>
            <a:ext cx="11058598" cy="3578900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44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9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638335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Учитель правит промпт, инструменты и валидаторы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Автоматическая эволюция LLM-агентов через рефлексивное редактирование контекста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Методология</a:t>
            </a:r>
            <a:endParaRPr lang="ru-RU" sz="1000" dirty="0">
              <a:latin typeface="HSE Sans" panose="0200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1A7590-04E5-4F3E-8A13-3A73D3849A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941" y="3247053"/>
            <a:ext cx="8989927" cy="31465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E9EECF-4CE6-4409-A839-961EEA931D33}"/>
              </a:ext>
            </a:extLst>
          </p:cNvPr>
          <p:cNvSpPr txBox="1"/>
          <p:nvPr/>
        </p:nvSpPr>
        <p:spPr>
          <a:xfrm>
            <a:off x="489239" y="1958884"/>
            <a:ext cx="43294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Бенчмарк оценивает задачу</a:t>
            </a:r>
          </a:p>
          <a:p>
            <a:pPr marL="342900" indent="-342900">
              <a:buAutoNum type="arabicPeriod"/>
            </a:pPr>
            <a:r>
              <a:rPr lang="en-US" dirty="0"/>
              <a:t>Бенчмарк классифицирует ошибку</a:t>
            </a:r>
          </a:p>
          <a:p>
            <a:pPr marL="342900" indent="-342900">
              <a:buAutoNum type="arabicPeriod"/>
            </a:pPr>
            <a:r>
              <a:rPr lang="en-US" dirty="0"/>
              <a:t>Бенчмарк передаёт </a:t>
            </a:r>
            <a:r>
              <a:rPr lang="en-US" dirty="0" err="1"/>
              <a:t>Учителю</a:t>
            </a:r>
            <a:r>
              <a:rPr lang="en-US" dirty="0"/>
              <a:t> </a:t>
            </a:r>
            <a:r>
              <a:rPr lang="ru-RU" dirty="0"/>
              <a:t>ошибку</a:t>
            </a:r>
            <a:r>
              <a:rPr lang="en-US" dirty="0"/>
              <a:t> и е</a:t>
            </a:r>
            <a:r>
              <a:rPr lang="ru-RU" dirty="0"/>
              <a:t>е</a:t>
            </a:r>
            <a:r>
              <a:rPr lang="en-US" dirty="0"/>
              <a:t> </a:t>
            </a:r>
            <a:r>
              <a:rPr lang="ru-RU" dirty="0"/>
              <a:t>причину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Учитель вызывает инструменты для модификации Ученика</a:t>
            </a:r>
          </a:p>
          <a:p>
            <a:pPr marL="342900" indent="-342900">
              <a:buAutoNum type="arabicPeriod"/>
            </a:pPr>
            <a:r>
              <a:rPr lang="ru-RU" dirty="0"/>
              <a:t>П</a:t>
            </a:r>
            <a:r>
              <a:rPr lang="en-US" dirty="0" err="1"/>
              <a:t>атчи</a:t>
            </a:r>
            <a:r>
              <a:rPr lang="en-US" dirty="0"/>
              <a:t> </a:t>
            </a:r>
            <a:r>
              <a:rPr lang="ru-RU" dirty="0"/>
              <a:t>которые помогли, </a:t>
            </a:r>
            <a:r>
              <a:rPr lang="en-US" dirty="0" err="1"/>
              <a:t>применяются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Пропатченный Ученик тестируется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177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9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638335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Э</a:t>
            </a:r>
            <a:r>
              <a:rPr lang="en-US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кспериментальный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 интерфейс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Автоматическая эволюция LLM-агентов через рефлексивное редактирование контекста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Методология</a:t>
            </a:r>
            <a:endParaRPr lang="ru-RU" sz="1000" dirty="0">
              <a:latin typeface="HSE Sans" panose="0200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A4F35B-7BD9-4CC4-A21B-92ABE8B78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75" y="2867194"/>
            <a:ext cx="5078078" cy="35264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240C8A-D8BE-4B66-82A5-92FDF4943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321" y="2204158"/>
            <a:ext cx="5908899" cy="1553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5C459E-BF21-4B20-A26A-455684BB88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069" t="11878" r="6194" b="12781"/>
          <a:stretch/>
        </p:blipFill>
        <p:spPr>
          <a:xfrm>
            <a:off x="5880322" y="4476254"/>
            <a:ext cx="5908899" cy="191738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5767753-86C5-4DD4-AC29-91931B1115CD}"/>
              </a:ext>
            </a:extLst>
          </p:cNvPr>
          <p:cNvSpPr txBox="1"/>
          <p:nvPr/>
        </p:nvSpPr>
        <p:spPr>
          <a:xfrm>
            <a:off x="489975" y="2440936"/>
            <a:ext cx="43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Сводка прогона на 20 задачах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1C6B3E-DEB3-4D85-8ABD-4B5F9F5EABCD}"/>
              </a:ext>
            </a:extLst>
          </p:cNvPr>
          <p:cNvSpPr txBox="1"/>
          <p:nvPr/>
        </p:nvSpPr>
        <p:spPr>
          <a:xfrm>
            <a:off x="5809142" y="1816799"/>
            <a:ext cx="43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LLM-учитель генерирует исправление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94E254-AF74-431D-B062-A8451BC366BD}"/>
              </a:ext>
            </a:extLst>
          </p:cNvPr>
          <p:cNvSpPr txBox="1"/>
          <p:nvPr/>
        </p:nvSpPr>
        <p:spPr>
          <a:xfrm>
            <a:off x="5809142" y="4103381"/>
            <a:ext cx="43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Карта</a:t>
            </a:r>
            <a:r>
              <a:rPr lang="en-US" dirty="0"/>
              <a:t> результатов: 20 задач × 3 прогона</a:t>
            </a:r>
          </a:p>
        </p:txBody>
      </p:sp>
    </p:spTree>
    <p:extLst>
      <p:ext uri="{BB962C8B-B14F-4D97-AF65-F5344CB8AC3E}">
        <p14:creationId xmlns:p14="http://schemas.microsoft.com/office/powerpoint/2010/main" val="3523603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10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1553665" y="1751824"/>
            <a:ext cx="10638335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Большинство моделей показали рост успешности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Автоматическая эволюция LLM-агентов через рефлексивное редактирование контекста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Результаты</a:t>
            </a:r>
            <a:endParaRPr lang="ru-RU" sz="1000" dirty="0">
              <a:latin typeface="HSE Sans" panose="02000000000000000000" pitchFamily="2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DA4585E-C6BD-44C7-B054-FDBB2B4F7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545347"/>
              </p:ext>
            </p:extLst>
          </p:nvPr>
        </p:nvGraphicFramePr>
        <p:xfrm>
          <a:off x="1645944" y="2521266"/>
          <a:ext cx="886965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094">
                  <a:extLst>
                    <a:ext uri="{9D8B030D-6E8A-4147-A177-3AD203B41FA5}">
                      <a16:colId xmlns:a16="http://schemas.microsoft.com/office/drawing/2014/main" val="2642438039"/>
                    </a:ext>
                  </a:extLst>
                </a:gridCol>
                <a:gridCol w="1267094">
                  <a:extLst>
                    <a:ext uri="{9D8B030D-6E8A-4147-A177-3AD203B41FA5}">
                      <a16:colId xmlns:a16="http://schemas.microsoft.com/office/drawing/2014/main" val="3769751419"/>
                    </a:ext>
                  </a:extLst>
                </a:gridCol>
                <a:gridCol w="1267094">
                  <a:extLst>
                    <a:ext uri="{9D8B030D-6E8A-4147-A177-3AD203B41FA5}">
                      <a16:colId xmlns:a16="http://schemas.microsoft.com/office/drawing/2014/main" val="1497278959"/>
                    </a:ext>
                  </a:extLst>
                </a:gridCol>
                <a:gridCol w="1267094">
                  <a:extLst>
                    <a:ext uri="{9D8B030D-6E8A-4147-A177-3AD203B41FA5}">
                      <a16:colId xmlns:a16="http://schemas.microsoft.com/office/drawing/2014/main" val="898981612"/>
                    </a:ext>
                  </a:extLst>
                </a:gridCol>
                <a:gridCol w="1267094">
                  <a:extLst>
                    <a:ext uri="{9D8B030D-6E8A-4147-A177-3AD203B41FA5}">
                      <a16:colId xmlns:a16="http://schemas.microsoft.com/office/drawing/2014/main" val="3944807663"/>
                    </a:ext>
                  </a:extLst>
                </a:gridCol>
                <a:gridCol w="1267094">
                  <a:extLst>
                    <a:ext uri="{9D8B030D-6E8A-4147-A177-3AD203B41FA5}">
                      <a16:colId xmlns:a16="http://schemas.microsoft.com/office/drawing/2014/main" val="2322091685"/>
                    </a:ext>
                  </a:extLst>
                </a:gridCol>
                <a:gridCol w="1267094">
                  <a:extLst>
                    <a:ext uri="{9D8B030D-6E8A-4147-A177-3AD203B41FA5}">
                      <a16:colId xmlns:a16="http://schemas.microsoft.com/office/drawing/2014/main" val="337173898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dirty="0"/>
                        <a:t>Модель →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Qwen</a:t>
                      </a:r>
                      <a:r>
                        <a:rPr lang="en-US" dirty="0"/>
                        <a:t> 30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F2D6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Qwen</a:t>
                      </a:r>
                      <a:r>
                        <a:rPr lang="en-US" dirty="0"/>
                        <a:t> 3.5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F2D6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GLM-4.7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F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36769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Кол-во задач</a:t>
                      </a:r>
                    </a:p>
                  </a:txBody>
                  <a:tcPr anchor="ctr">
                    <a:solidFill>
                      <a:srgbClr val="0049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До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После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До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После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До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После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85036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dirty="0"/>
                        <a:t>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73%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68374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50%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63%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40%</a:t>
                      </a:r>
                    </a:p>
                  </a:txBody>
                  <a:tcPr anchor="ctr">
                    <a:solidFill>
                      <a:srgbClr val="CD5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1364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30%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58%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473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349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11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638335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Часть задач исправляется автоматически; другие устойчивы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Автоматическая эволюция LLM-агентов через рефлексивное редактирование контекста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Результаты</a:t>
            </a:r>
            <a:endParaRPr lang="ru-RU" sz="1000" dirty="0">
              <a:latin typeface="HSE Sans" panose="02000000000000000000" pitchFamily="2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D2F5A82-4A6D-4572-9A8D-053713AD5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760247"/>
              </p:ext>
            </p:extLst>
          </p:nvPr>
        </p:nvGraphicFramePr>
        <p:xfrm>
          <a:off x="493774" y="1920239"/>
          <a:ext cx="4474209" cy="4732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0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9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0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9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2176">
                <a:tc>
                  <a:txBody>
                    <a:bodyPr/>
                    <a:lstStyle/>
                    <a:p>
                      <a:pPr algn="ctr"/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27432" marR="27432" marT="9144" marB="9144">
                    <a:solidFill>
                      <a:srgbClr val="0F2D6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chemeClr val="bg1"/>
                          </a:solidFill>
                          <a:latin typeface="HSE Sans"/>
                        </a:rPr>
                        <a:t>Qwen3 30B-A3B</a:t>
                      </a:r>
                    </a:p>
                  </a:txBody>
                  <a:tcPr marL="27432" marR="27432" marT="9144" marB="9144">
                    <a:solidFill>
                      <a:srgbClr val="0F2D6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chemeClr val="bg1"/>
                          </a:solidFill>
                          <a:latin typeface="HSE Sans"/>
                        </a:rPr>
                        <a:t>Qwen3.5 Flash</a:t>
                      </a:r>
                    </a:p>
                  </a:txBody>
                  <a:tcPr marL="27432" marR="27432" marT="9144" marB="9144">
                    <a:solidFill>
                      <a:srgbClr val="0F2D6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chemeClr val="bg1"/>
                          </a:solidFill>
                          <a:latin typeface="HSE Sans"/>
                        </a:rPr>
                        <a:t>GLM 4.7 Flash</a:t>
                      </a:r>
                    </a:p>
                  </a:txBody>
                  <a:tcPr marL="27432" marR="27432" marT="9144" marB="9144">
                    <a:solidFill>
                      <a:srgbClr val="0F2D6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176"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chemeClr val="bg1"/>
                          </a:solidFill>
                          <a:latin typeface="HSE Sans"/>
                        </a:rPr>
                        <a:t>Задача</a:t>
                      </a:r>
                    </a:p>
                  </a:txBody>
                  <a:tcPr marL="27432" marR="27432" marT="9144" marB="9144" anchor="ctr">
                    <a:solidFill>
                      <a:srgbClr val="0F2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chemeClr val="bg1"/>
                          </a:solidFill>
                          <a:latin typeface="HSE Sans"/>
                        </a:rPr>
                        <a:t>База</a:t>
                      </a:r>
                    </a:p>
                  </a:txBody>
                  <a:tcPr marL="27432" marR="27432" marT="9144" marB="9144" anchor="ctr">
                    <a:solidFill>
                      <a:srgbClr val="0F2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chemeClr val="bg1"/>
                          </a:solidFill>
                          <a:latin typeface="HSE Sans"/>
                        </a:rPr>
                        <a:t>Эволюц.</a:t>
                      </a:r>
                      <a:endParaRPr sz="1300" b="0" dirty="0">
                        <a:solidFill>
                          <a:schemeClr val="bg1"/>
                        </a:solidFill>
                        <a:latin typeface="HSE Sans"/>
                      </a:endParaRPr>
                    </a:p>
                  </a:txBody>
                  <a:tcPr marL="27432" marR="27432" marT="9144" marB="9144" anchor="ctr">
                    <a:solidFill>
                      <a:srgbClr val="0F2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chemeClr val="bg1"/>
                          </a:solidFill>
                          <a:latin typeface="HSE Sans"/>
                        </a:rPr>
                        <a:t>База</a:t>
                      </a:r>
                    </a:p>
                  </a:txBody>
                  <a:tcPr marL="27432" marR="27432" marT="9144" marB="9144" anchor="ctr">
                    <a:solidFill>
                      <a:srgbClr val="0F2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chemeClr val="bg1"/>
                          </a:solidFill>
                          <a:latin typeface="HSE Sans"/>
                        </a:rPr>
                        <a:t>Эволюц.</a:t>
                      </a:r>
                      <a:endParaRPr sz="1300" b="0" dirty="0">
                        <a:solidFill>
                          <a:schemeClr val="bg1"/>
                        </a:solidFill>
                        <a:latin typeface="HSE Sans"/>
                      </a:endParaRPr>
                    </a:p>
                  </a:txBody>
                  <a:tcPr marL="27432" marR="27432" marT="9144" marB="9144" anchor="ctr">
                    <a:solidFill>
                      <a:srgbClr val="0F2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chemeClr val="bg1"/>
                          </a:solidFill>
                          <a:latin typeface="HSE Sans"/>
                        </a:rPr>
                        <a:t>База</a:t>
                      </a:r>
                    </a:p>
                  </a:txBody>
                  <a:tcPr marL="27432" marR="27432" marT="9144" marB="9144" anchor="ctr">
                    <a:solidFill>
                      <a:srgbClr val="0F2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chemeClr val="bg1"/>
                          </a:solidFill>
                          <a:latin typeface="HSE Sans"/>
                        </a:rPr>
                        <a:t>Эволюц.</a:t>
                      </a:r>
                      <a:endParaRPr sz="1300" b="0" dirty="0">
                        <a:solidFill>
                          <a:schemeClr val="bg1"/>
                        </a:solidFill>
                        <a:latin typeface="HSE Sans"/>
                      </a:endParaRPr>
                    </a:p>
                  </a:txBody>
                  <a:tcPr marL="27432" marR="27432" marT="9144" marB="9144" anchor="ctr">
                    <a:solidFill>
                      <a:srgbClr val="0F2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000000"/>
                          </a:solidFill>
                          <a:latin typeface="HSE Sans"/>
                        </a:rPr>
                        <a:t>0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 anchor="ctr"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1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3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4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5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 anchor="ctr"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7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9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10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 anchor="ctr"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11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 anchor="ctr"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 anchor="ctr"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 anchor="ctr"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12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14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15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 anchor="ctr"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 anchor="ctr"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 anchor="ctr"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17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20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21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 anchor="ctr"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23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27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28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3/3</a:t>
                      </a:r>
                    </a:p>
                  </a:txBody>
                  <a:tcPr marL="27432" marR="27432" marT="9144" marB="9144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33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 anchor="ctr"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0/3</a:t>
                      </a:r>
                    </a:p>
                  </a:txBody>
                  <a:tcPr marL="27432" marR="27432" marT="9144" marB="9144" anchor="ctr"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343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HSE Sans"/>
                        </a:rPr>
                        <a:t>34</a:t>
                      </a:r>
                    </a:p>
                  </a:txBody>
                  <a:tcPr marL="27432" marR="27432"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2/3</a:t>
                      </a:r>
                    </a:p>
                  </a:txBody>
                  <a:tcPr marL="27432" marR="27432" marT="9144" marB="9144" anchor="ctr"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 anchor="ctr"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1/3</a:t>
                      </a:r>
                    </a:p>
                  </a:txBody>
                  <a:tcPr marL="27432" marR="27432" marT="9144" marB="9144" anchor="ctr"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 anchor="ctr"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964AC9A-3493-42FC-AC64-A65F01F04857}"/>
              </a:ext>
            </a:extLst>
          </p:cNvPr>
          <p:cNvSpPr txBox="1"/>
          <p:nvPr/>
        </p:nvSpPr>
        <p:spPr>
          <a:xfrm>
            <a:off x="5195365" y="2019492"/>
            <a:ext cx="650286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sz="1600" dirty="0"/>
              <a:t>Многие задачи полностью устойчивы к </a:t>
            </a:r>
            <a:r>
              <a:rPr lang="en-US" sz="1600" dirty="0" err="1"/>
              <a:t>модификации</a:t>
            </a:r>
            <a:r>
              <a:rPr lang="en-US" sz="1600" dirty="0"/>
              <a:t> </a:t>
            </a:r>
            <a:r>
              <a:rPr lang="en-US" sz="1600" dirty="0" err="1"/>
              <a:t>промпта</a:t>
            </a:r>
            <a:r>
              <a:rPr lang="ru-RU" sz="1600" dirty="0"/>
              <a:t>: </a:t>
            </a:r>
            <a:r>
              <a:rPr lang="en-US" sz="1600" dirty="0" err="1"/>
              <a:t>мы</a:t>
            </a:r>
            <a:r>
              <a:rPr lang="en-US" sz="1600" dirty="0"/>
              <a:t> упёрлись в потолок рассуждательных способностей модели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sz="1600" dirty="0"/>
              <a:t>Большая часть исправлений достигается </a:t>
            </a:r>
            <a:r>
              <a:rPr lang="en-US" sz="1600" dirty="0" err="1"/>
              <a:t>через</a:t>
            </a:r>
            <a:r>
              <a:rPr lang="en-US" sz="1600" dirty="0"/>
              <a:t> </a:t>
            </a:r>
            <a:r>
              <a:rPr lang="en-US" sz="1600" dirty="0" err="1"/>
              <a:t>инструкцию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6FB1A5-F309-4168-B1DC-D1A1A869E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158" y="3506756"/>
            <a:ext cx="5511665" cy="307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42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12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638335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Чем больше задач, тем ниже доля исправлений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Автоматическая эволюция LLM-агентов через рефлексивное редактирование контекста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Результаты</a:t>
            </a:r>
            <a:endParaRPr lang="ru-RU" sz="1000" dirty="0">
              <a:latin typeface="HSE Sans" panose="02000000000000000000" pitchFamily="2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921C23F-499B-4858-99AC-A0A891A69E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76" y="2358141"/>
            <a:ext cx="2715597" cy="150866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8DD533F-F488-4075-A897-BDE3F326BDB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7467" y="2358141"/>
            <a:ext cx="2715598" cy="150866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3CE741F-5D19-4324-AFAA-DD0FBB174BF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79959" y="2358046"/>
            <a:ext cx="2715768" cy="150876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A4A1956-CC09-434B-B364-70F8E319961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94805" y="5176462"/>
            <a:ext cx="2715768" cy="150876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175FDCE-135B-486C-99F7-DE8BDEE4020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7297" y="5178237"/>
            <a:ext cx="2715768" cy="150876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259F40D0-3F8A-4B7E-9652-623E549CB44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87297" y="3768142"/>
            <a:ext cx="2715768" cy="150876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4C283B1-E7E8-427B-9E6E-818A92BF2B3C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79789" y="3768142"/>
            <a:ext cx="2715768" cy="150876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96930FA-D289-40D0-8194-E99C7EE74483}"/>
              </a:ext>
            </a:extLst>
          </p:cNvPr>
          <p:cNvSpPr txBox="1"/>
          <p:nvPr/>
        </p:nvSpPr>
        <p:spPr>
          <a:xfrm>
            <a:off x="9288731" y="5599351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Не тестировалось из-за продолжающейся регрессии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D8B828-CFC2-4E7E-8E9F-C7F81CC7C391}"/>
              </a:ext>
            </a:extLst>
          </p:cNvPr>
          <p:cNvSpPr txBox="1"/>
          <p:nvPr/>
        </p:nvSpPr>
        <p:spPr>
          <a:xfrm>
            <a:off x="3712326" y="4189350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Исправлять нечего; </a:t>
            </a:r>
            <a:br>
              <a:rPr lang="en-US" dirty="0"/>
            </a:br>
            <a:r>
              <a:rPr lang="en-US" dirty="0"/>
              <a:t>всё зелёное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254EBD-80CA-4510-B0CC-B45047A5C6A3}"/>
              </a:ext>
            </a:extLst>
          </p:cNvPr>
          <p:cNvSpPr txBox="1"/>
          <p:nvPr/>
        </p:nvSpPr>
        <p:spPr>
          <a:xfrm>
            <a:off x="3922206" y="2074913"/>
            <a:ext cx="18662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5 задач</a:t>
            </a:r>
            <a:endParaRPr lang="en-US" sz="1400" dirty="0">
              <a:latin typeface="HSE Sans" panose="0200000000000000000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E7252D-35AF-48CA-B622-596CFEF13FDC}"/>
              </a:ext>
            </a:extLst>
          </p:cNvPr>
          <p:cNvSpPr txBox="1"/>
          <p:nvPr/>
        </p:nvSpPr>
        <p:spPr>
          <a:xfrm>
            <a:off x="6730720" y="2074913"/>
            <a:ext cx="18662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10 задач</a:t>
            </a:r>
            <a:endParaRPr lang="en-US" sz="1400" dirty="0">
              <a:latin typeface="HSE Sans" panose="0200000000000000000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A58E4D-1969-44F9-A006-EFEFCEDADBBA}"/>
              </a:ext>
            </a:extLst>
          </p:cNvPr>
          <p:cNvSpPr txBox="1"/>
          <p:nvPr/>
        </p:nvSpPr>
        <p:spPr>
          <a:xfrm>
            <a:off x="9498611" y="2074913"/>
            <a:ext cx="18662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20 задач</a:t>
            </a:r>
            <a:endParaRPr lang="en-US" sz="1400" dirty="0">
              <a:latin typeface="HSE Sans" panose="0200000000000000000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2990E4-409C-4AF2-BCF4-3759A2A333EB}"/>
              </a:ext>
            </a:extLst>
          </p:cNvPr>
          <p:cNvSpPr txBox="1"/>
          <p:nvPr/>
        </p:nvSpPr>
        <p:spPr>
          <a:xfrm rot="16200000">
            <a:off x="2345879" y="2940066"/>
            <a:ext cx="18662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 err="1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Qwen</a:t>
            </a:r>
            <a:r>
              <a:rPr lang="en-US" sz="13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 3</a:t>
            </a:r>
            <a:endParaRPr lang="en-US" sz="1400" dirty="0">
              <a:latin typeface="HSE Sans" panose="0200000000000000000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66FFBF-3C7B-48BB-B38B-AB584F32DD93}"/>
              </a:ext>
            </a:extLst>
          </p:cNvPr>
          <p:cNvSpPr txBox="1"/>
          <p:nvPr/>
        </p:nvSpPr>
        <p:spPr>
          <a:xfrm rot="16200000">
            <a:off x="2340653" y="4386307"/>
            <a:ext cx="18662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 err="1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Qwen</a:t>
            </a:r>
            <a:r>
              <a:rPr lang="en-US" sz="13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 3.5</a:t>
            </a:r>
            <a:endParaRPr lang="en-US" sz="1400" dirty="0">
              <a:latin typeface="HSE Sans" panose="0200000000000000000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40C63E-EEF1-4B91-945F-7912B60681A2}"/>
              </a:ext>
            </a:extLst>
          </p:cNvPr>
          <p:cNvSpPr txBox="1"/>
          <p:nvPr/>
        </p:nvSpPr>
        <p:spPr>
          <a:xfrm rot="16200000">
            <a:off x="2358767" y="5762716"/>
            <a:ext cx="18662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GLM 4.7</a:t>
            </a:r>
            <a:endParaRPr lang="en-US" sz="1400" dirty="0">
              <a:latin typeface="HSE Sans" panose="0200000000000000000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6CD6AE-E372-495E-A90C-91A8875C7BA8}"/>
              </a:ext>
            </a:extLst>
          </p:cNvPr>
          <p:cNvSpPr txBox="1"/>
          <p:nvPr/>
        </p:nvSpPr>
        <p:spPr>
          <a:xfrm>
            <a:off x="288946" y="2575221"/>
            <a:ext cx="264966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sz="1600" dirty="0">
                <a:latin typeface="HSE Sans" panose="02000000000000000000"/>
              </a:rPr>
              <a:t>Некоторые модели вообще не получают пользы от настройки промптов — например, GLM 4.7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sz="1600" dirty="0">
                <a:latin typeface="HSE Sans" panose="02000000000000000000"/>
              </a:rPr>
              <a:t>Все модели плохо удерживают прирост: в прогоне 1 доля исправлений 100%, к прогону 3 сохраняется лишь половина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US" sz="1600" dirty="0">
                <a:latin typeface="HSE Sans" panose="02000000000000000000"/>
              </a:rPr>
              <a:t>Чем сильнее модель, тем больше удерживает → </a:t>
            </a:r>
            <a:r>
              <a:rPr lang="en-US" sz="1600" dirty="0" err="1">
                <a:latin typeface="HSE Sans" panose="02000000000000000000"/>
              </a:rPr>
              <a:t>Qwen</a:t>
            </a:r>
            <a:r>
              <a:rPr lang="en-US" sz="1600" dirty="0">
                <a:latin typeface="HSE Sans" panose="02000000000000000000"/>
              </a:rPr>
              <a:t> 3.5 превосходит </a:t>
            </a:r>
            <a:r>
              <a:rPr lang="en-US" sz="1600" dirty="0" err="1">
                <a:latin typeface="HSE Sans" panose="02000000000000000000"/>
              </a:rPr>
              <a:t>Qwen</a:t>
            </a:r>
            <a:r>
              <a:rPr lang="en-US" sz="1600" dirty="0">
                <a:latin typeface="HSE Sans" panose="02000000000000000000"/>
              </a:rPr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1464276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12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Автоматическая эволюция LLM-агентов через рефлексивное редактирование контекста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Выводы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C6DDA17-B14F-4FE6-8D5C-F8EEA1EE35CF}"/>
              </a:ext>
            </a:extLst>
          </p:cNvPr>
          <p:cNvSpPr/>
          <p:nvPr/>
        </p:nvSpPr>
        <p:spPr>
          <a:xfrm>
            <a:off x="2345180" y="1994328"/>
            <a:ext cx="6734384" cy="653367"/>
          </a:xfrm>
          <a:prstGeom prst="roundRect">
            <a:avLst>
              <a:gd name="adj" fmla="val 0"/>
            </a:avLst>
          </a:prstGeom>
          <a:solidFill>
            <a:srgbClr val="0F2D6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latin typeface="HSE Sans" panose="02000000000000000000"/>
              </a:rPr>
              <a:t>Автоматическая эволюция </a:t>
            </a:r>
            <a:r>
              <a:rPr lang="ru-RU" sz="1600" b="1" dirty="0" err="1">
                <a:latin typeface="HSE Sans" panose="02000000000000000000"/>
              </a:rPr>
              <a:t>промтов</a:t>
            </a:r>
            <a:r>
              <a:rPr lang="ru-RU" sz="1600" b="1" dirty="0">
                <a:latin typeface="HSE Sans" panose="02000000000000000000"/>
              </a:rPr>
              <a:t> работает на агентском бенчмарке</a:t>
            </a:r>
            <a:endParaRPr lang="en-US" sz="1600" dirty="0">
              <a:latin typeface="HSE Sans" panose="0200000000000000000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CA45AD9-5B45-4F3C-9D85-8CD0239D2703}"/>
              </a:ext>
            </a:extLst>
          </p:cNvPr>
          <p:cNvSpPr/>
          <p:nvPr/>
        </p:nvSpPr>
        <p:spPr>
          <a:xfrm>
            <a:off x="2774388" y="3018506"/>
            <a:ext cx="6734384" cy="653367"/>
          </a:xfrm>
          <a:prstGeom prst="roundRect">
            <a:avLst>
              <a:gd name="adj" fmla="val 0"/>
            </a:avLst>
          </a:prstGeom>
          <a:solidFill>
            <a:srgbClr val="0F2D6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latin typeface="HSE Sans" panose="02000000000000000000"/>
              </a:rPr>
              <a:t>Не все модели получают прирост результата, некоторым сложнее следовать инструкциям. Есть какой-то </a:t>
            </a:r>
            <a:r>
              <a:rPr lang="ru-RU" sz="1600" b="1" dirty="0" err="1">
                <a:latin typeface="HSE Sans" panose="02000000000000000000"/>
              </a:rPr>
              <a:t>трешхолд</a:t>
            </a:r>
            <a:r>
              <a:rPr lang="ru-RU" sz="1600" b="1" dirty="0">
                <a:latin typeface="HSE Sans" panose="02000000000000000000"/>
              </a:rPr>
              <a:t>.</a:t>
            </a:r>
            <a:endParaRPr lang="en-US" sz="1600" dirty="0">
              <a:latin typeface="HSE Sans" panose="0200000000000000000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231E030-75C1-4546-8EE5-34E72638C71A}"/>
              </a:ext>
            </a:extLst>
          </p:cNvPr>
          <p:cNvSpPr/>
          <p:nvPr/>
        </p:nvSpPr>
        <p:spPr>
          <a:xfrm>
            <a:off x="3396825" y="4076817"/>
            <a:ext cx="6734384" cy="653367"/>
          </a:xfrm>
          <a:prstGeom prst="roundRect">
            <a:avLst>
              <a:gd name="adj" fmla="val 0"/>
            </a:avLst>
          </a:prstGeom>
          <a:solidFill>
            <a:srgbClr val="0F2D6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latin typeface="HSE Sans" panose="02000000000000000000"/>
              </a:rPr>
              <a:t>Чем больше задач оптимизируем одновременно, тем ниже прирост. Нужна декомпозиция.</a:t>
            </a:r>
            <a:endParaRPr lang="en-US" sz="1600" dirty="0">
              <a:latin typeface="HSE Sans" panose="0200000000000000000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5B18055-9F19-4F90-9CC3-2409B2784B03}"/>
              </a:ext>
            </a:extLst>
          </p:cNvPr>
          <p:cNvSpPr/>
          <p:nvPr/>
        </p:nvSpPr>
        <p:spPr>
          <a:xfrm>
            <a:off x="3982359" y="5154035"/>
            <a:ext cx="6734384" cy="653367"/>
          </a:xfrm>
          <a:prstGeom prst="roundRect">
            <a:avLst>
              <a:gd name="adj" fmla="val 0"/>
            </a:avLst>
          </a:prstGeom>
          <a:solidFill>
            <a:srgbClr val="0F2D6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latin typeface="HSE Sans" panose="02000000000000000000"/>
              </a:rPr>
              <a:t>Существуют не поддающиеся улучшению задачи, сколько бы мы ни пытались. </a:t>
            </a:r>
            <a:endParaRPr lang="en-US" sz="1600" dirty="0">
              <a:latin typeface="HSE Sans" panose="0200000000000000000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EEE9B4-CB47-4A7C-8EB3-3FFD97B4276B}"/>
              </a:ext>
            </a:extLst>
          </p:cNvPr>
          <p:cNvSpPr txBox="1"/>
          <p:nvPr/>
        </p:nvSpPr>
        <p:spPr>
          <a:xfrm>
            <a:off x="1496804" y="1782402"/>
            <a:ext cx="1184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400" b="1" dirty="0">
                <a:solidFill>
                  <a:srgbClr val="0F2D69"/>
                </a:solidFill>
              </a:rPr>
              <a:t>1</a:t>
            </a:r>
            <a:endParaRPr lang="en-US" sz="6400" b="1" dirty="0">
              <a:solidFill>
                <a:srgbClr val="0F2D69"/>
              </a:solidFill>
              <a:latin typeface="HSE Sans" panose="0200000000000000000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B41789-9557-4701-871E-66C51BDC9646}"/>
              </a:ext>
            </a:extLst>
          </p:cNvPr>
          <p:cNvSpPr txBox="1"/>
          <p:nvPr/>
        </p:nvSpPr>
        <p:spPr>
          <a:xfrm>
            <a:off x="1926012" y="2823647"/>
            <a:ext cx="1184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400" b="1" dirty="0">
                <a:solidFill>
                  <a:srgbClr val="0F2D69"/>
                </a:solidFill>
              </a:rPr>
              <a:t>2</a:t>
            </a:r>
            <a:endParaRPr lang="en-US" sz="6400" b="1" dirty="0">
              <a:solidFill>
                <a:srgbClr val="0F2D69"/>
              </a:solidFill>
              <a:latin typeface="HSE Sans" panose="0200000000000000000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B743AB-9919-4C4B-82EC-3D23DD142B50}"/>
              </a:ext>
            </a:extLst>
          </p:cNvPr>
          <p:cNvSpPr txBox="1"/>
          <p:nvPr/>
        </p:nvSpPr>
        <p:spPr>
          <a:xfrm>
            <a:off x="2548449" y="3864891"/>
            <a:ext cx="1184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400" b="1" dirty="0">
                <a:solidFill>
                  <a:srgbClr val="0F2D69"/>
                </a:solidFill>
              </a:rPr>
              <a:t>3</a:t>
            </a:r>
            <a:endParaRPr lang="en-US" sz="6400" b="1" dirty="0">
              <a:solidFill>
                <a:srgbClr val="0F2D69"/>
              </a:solidFill>
              <a:latin typeface="HSE Sans" panose="0200000000000000000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4BE628-CADB-4634-9B2E-D56B12DF09C8}"/>
              </a:ext>
            </a:extLst>
          </p:cNvPr>
          <p:cNvSpPr txBox="1"/>
          <p:nvPr/>
        </p:nvSpPr>
        <p:spPr>
          <a:xfrm>
            <a:off x="3133983" y="4942109"/>
            <a:ext cx="1184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400" b="1" dirty="0">
                <a:solidFill>
                  <a:srgbClr val="0F2D69"/>
                </a:solidFill>
              </a:rPr>
              <a:t>4</a:t>
            </a:r>
            <a:endParaRPr lang="en-US" sz="6400" b="1" dirty="0">
              <a:solidFill>
                <a:srgbClr val="0F2D69"/>
              </a:solidFill>
              <a:latin typeface="HSE Sans" panose="020000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698164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15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Автоматическая эволюция LLM-агентов через рефлексивное редактирование контекста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Заключение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3E954F-FF62-4D8E-90F9-745DC0F2DED6}"/>
              </a:ext>
            </a:extLst>
          </p:cNvPr>
          <p:cNvSpPr txBox="1"/>
          <p:nvPr/>
        </p:nvSpPr>
        <p:spPr>
          <a:xfrm>
            <a:off x="489976" y="2516575"/>
            <a:ext cx="1880000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Недостатки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F6FA68-446B-4CD6-9778-E6C2D54FF2D6}"/>
              </a:ext>
            </a:extLst>
          </p:cNvPr>
          <p:cNvSpPr txBox="1"/>
          <p:nvPr/>
        </p:nvSpPr>
        <p:spPr>
          <a:xfrm>
            <a:off x="6158117" y="2516575"/>
            <a:ext cx="4118961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Дальнейшие шаги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A4DF4B-876E-40E3-9A1A-52D4EF52B362}"/>
              </a:ext>
            </a:extLst>
          </p:cNvPr>
          <p:cNvSpPr txBox="1"/>
          <p:nvPr/>
        </p:nvSpPr>
        <p:spPr>
          <a:xfrm>
            <a:off x="489976" y="3088431"/>
            <a:ext cx="466052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Тестировался один домен; всего 20 задач × 3 попытки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Только open-source модели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Нет сравнений с RLHF, </a:t>
            </a:r>
            <a:r>
              <a:rPr lang="en-US" sz="1600" dirty="0" err="1"/>
              <a:t>LoRA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Недостаточная надёжность: 73% &lt;&lt; 99,99%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209615-852C-4E94-8697-00AEC9A4EA5B}"/>
              </a:ext>
            </a:extLst>
          </p:cNvPr>
          <p:cNvSpPr txBox="1"/>
          <p:nvPr/>
        </p:nvSpPr>
        <p:spPr>
          <a:xfrm>
            <a:off x="6158118" y="3088431"/>
            <a:ext cx="466052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Варьировать учителей и учеников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Сравнить с </a:t>
            </a:r>
            <a:r>
              <a:rPr lang="en-US" sz="1600" dirty="0" err="1"/>
              <a:t>адаптированным</a:t>
            </a:r>
            <a:r>
              <a:rPr lang="en-US" sz="1600" dirty="0"/>
              <a:t> GEPA</a:t>
            </a:r>
            <a:endParaRPr lang="ru-RU" sz="1600" dirty="0"/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 err="1"/>
              <a:t>Многоагентная</a:t>
            </a:r>
            <a:r>
              <a:rPr lang="en-US" sz="1600" dirty="0"/>
              <a:t> декомпозиция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600" dirty="0"/>
              <a:t>Проверить на других бенчмарках</a:t>
            </a:r>
          </a:p>
        </p:txBody>
      </p:sp>
    </p:spTree>
    <p:extLst>
      <p:ext uri="{BB962C8B-B14F-4D97-AF65-F5344CB8AC3E}">
        <p14:creationId xmlns:p14="http://schemas.microsoft.com/office/powerpoint/2010/main" val="2159180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15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Автоматическая эволюция LLM-агентов через рефлексивное редактирование контекста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SE Sans" panose="02000000000000000000" pitchFamily="2" charset="0"/>
              </a:rPr>
              <a:t>Контакты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EA247D-C5C3-4062-BAE2-105504AB06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017" t="20642" r="9547" b="1628"/>
          <a:stretch/>
        </p:blipFill>
        <p:spPr>
          <a:xfrm>
            <a:off x="3214296" y="2304659"/>
            <a:ext cx="2798696" cy="31724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753627-DB3A-43A5-B61B-2719E9894921}"/>
              </a:ext>
            </a:extLst>
          </p:cNvPr>
          <p:cNvSpPr txBox="1"/>
          <p:nvPr/>
        </p:nvSpPr>
        <p:spPr>
          <a:xfrm>
            <a:off x="6516120" y="2917761"/>
            <a:ext cx="28885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latin typeface="HSE Sans" panose="02000000000000000000" pitchFamily="2" charset="0"/>
              </a:rPr>
              <a:t>Глеб</a:t>
            </a:r>
            <a:r>
              <a:rPr lang="en-US" sz="1800" b="1" dirty="0">
                <a:latin typeface="HSE Sans" panose="02000000000000000000" pitchFamily="2" charset="0"/>
              </a:rPr>
              <a:t> </a:t>
            </a:r>
            <a:r>
              <a:rPr lang="en-US" sz="1800" b="1" dirty="0" err="1">
                <a:latin typeface="HSE Sans" panose="02000000000000000000" pitchFamily="2" charset="0"/>
              </a:rPr>
              <a:t>Дементьев</a:t>
            </a:r>
            <a:endParaRPr lang="en-US" b="1" dirty="0">
              <a:latin typeface="HSE Sans" panose="02000000000000000000" pitchFamily="2" charset="0"/>
            </a:endParaRPr>
          </a:p>
          <a:p>
            <a:endParaRPr lang="en-US" sz="1800" dirty="0">
              <a:latin typeface="HSE Sans" panose="02000000000000000000" pitchFamily="2" charset="0"/>
            </a:endParaRPr>
          </a:p>
          <a:p>
            <a:r>
              <a:rPr lang="ru-RU" sz="1800" dirty="0">
                <a:latin typeface="HSE Sans" panose="02000000000000000000" pitchFamily="2" charset="0"/>
              </a:rPr>
              <a:t>НИУ ВШЭ</a:t>
            </a:r>
            <a:endParaRPr lang="en-US" sz="1800" dirty="0">
              <a:latin typeface="HSE Sans" panose="02000000000000000000" pitchFamily="2" charset="0"/>
            </a:endParaRPr>
          </a:p>
          <a:p>
            <a:r>
              <a:rPr lang="en-US" dirty="0">
                <a:latin typeface="HSE Sans" panose="02000000000000000000" pitchFamily="2" charset="0"/>
                <a:hlinkClick r:id="rId4"/>
              </a:rPr>
              <a:t>gddementev@mail.ru</a:t>
            </a:r>
            <a:endParaRPr lang="en-US" dirty="0">
              <a:latin typeface="HSE Sans" panose="02000000000000000000" pitchFamily="2" charset="0"/>
            </a:endParaRPr>
          </a:p>
          <a:p>
            <a:r>
              <a:rPr lang="en-US" dirty="0">
                <a:latin typeface="HSE Sans" panose="02000000000000000000" pitchFamily="2" charset="0"/>
              </a:rPr>
              <a:t>@glebdementev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4504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Try new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986"/>
      </a:accent1>
      <a:accent2>
        <a:srgbClr val="004256"/>
      </a:accent2>
      <a:accent3>
        <a:srgbClr val="A5A5A5"/>
      </a:accent3>
      <a:accent4>
        <a:srgbClr val="500056"/>
      </a:accent4>
      <a:accent5>
        <a:srgbClr val="5B9BD5"/>
      </a:accent5>
      <a:accent6>
        <a:srgbClr val="864300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16005</TotalTime>
  <Words>1340</Words>
  <Application>Microsoft Office PowerPoint</Application>
  <PresentationFormat>Widescreen</PresentationFormat>
  <Paragraphs>403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HSE Sans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Барабанова Мария Сергеевна</dc:creator>
  <cp:lastModifiedBy>Gleb</cp:lastModifiedBy>
  <cp:revision>84</cp:revision>
  <dcterms:created xsi:type="dcterms:W3CDTF">2021-12-23T09:05:15Z</dcterms:created>
  <dcterms:modified xsi:type="dcterms:W3CDTF">2026-05-14T20:16:55Z</dcterms:modified>
</cp:coreProperties>
</file>