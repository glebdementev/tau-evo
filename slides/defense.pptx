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0" r:id="rId2"/>
    <p:sldId id="271" r:id="rId3"/>
    <p:sldId id="259" r:id="rId4"/>
    <p:sldId id="273" r:id="rId5"/>
    <p:sldId id="274" r:id="rId6"/>
    <p:sldId id="272" r:id="rId7"/>
    <p:sldId id="275" r:id="rId8"/>
    <p:sldId id="276" r:id="rId9"/>
    <p:sldId id="27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1E3C"/>
    <a:srgbClr val="0F2D69"/>
    <a:srgbClr val="234B9B"/>
    <a:srgbClr val="F5C3C3"/>
    <a:srgbClr val="CD5A5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09" autoAdjust="0"/>
  </p:normalViewPr>
  <p:slideViewPr>
    <p:cSldViewPr snapToGrid="0">
      <p:cViewPr varScale="1">
        <p:scale>
          <a:sx n="103" d="100"/>
          <a:sy n="103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4D81D-654F-48DB-A33D-3E6F325A1010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93330-6B9A-4C0D-8499-7E41F0768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75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05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8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405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129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35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796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052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0" y="417310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3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6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27" name="Рисунок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2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0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3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5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2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5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9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5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39BA1-5047-414E-8A3F-E19F7F2DED6E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3F6F1-63BF-4504-A93A-2FA8850D4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40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se.ru/info/brandbook/#fon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713957" y="1772566"/>
            <a:ext cx="9910618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50" charset="-52"/>
              </a:rPr>
              <a:t>Шаблон презентации имеют общие стандарты шрифтов, полей для текста и цветовую гамму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50" charset="-52"/>
              </a:rPr>
              <a:t>Размер основного текста: </a:t>
            </a:r>
            <a:r>
              <a:rPr lang="en-US" sz="1300" dirty="0">
                <a:latin typeface="HSE Sans" panose="02000000000000000000" pitchFamily="50" charset="-52"/>
              </a:rPr>
              <a:t>HSE Sans</a:t>
            </a:r>
            <a:r>
              <a:rPr lang="ru-RU" sz="1300" dirty="0">
                <a:latin typeface="HSE Sans" panose="02000000000000000000" pitchFamily="50" charset="-52"/>
              </a:rPr>
              <a:t> 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50" charset="-52"/>
              </a:rPr>
              <a:t>Если текст не вмещается в шаблон, необходимо сократить количество слов, но не уменьшать шрифт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50" charset="-52"/>
              </a:rPr>
              <a:t>Запрещается изменять стандарты шрифтов в шаблонах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50" charset="-52"/>
              </a:rPr>
              <a:t>Заголовок слайда должен отражать основную идею и умещаться в две или три строки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50" charset="-52"/>
              </a:rPr>
              <a:t>Для заголовков слайдов необходимо использовать </a:t>
            </a:r>
            <a:r>
              <a:rPr lang="en-US" sz="1300" dirty="0">
                <a:latin typeface="HSE Sans" panose="02000000000000000000" pitchFamily="50" charset="-52"/>
              </a:rPr>
              <a:t>HSE Sans</a:t>
            </a:r>
            <a:r>
              <a:rPr lang="ru-RU" sz="1300" dirty="0">
                <a:latin typeface="HSE Sans" panose="02000000000000000000" pitchFamily="50" charset="-52"/>
              </a:rPr>
              <a:t> 2</a:t>
            </a:r>
            <a:r>
              <a:rPr lang="en-US" sz="1300" dirty="0">
                <a:latin typeface="HSE Sans" panose="02000000000000000000" pitchFamily="50" charset="-52"/>
              </a:rPr>
              <a:t>4</a:t>
            </a:r>
            <a:r>
              <a:rPr lang="ru-RU" sz="1300" dirty="0">
                <a:latin typeface="HSE Sans" panose="02000000000000000000" pitchFamily="50" charset="-52"/>
              </a:rPr>
              <a:t>,</a:t>
            </a:r>
            <a:r>
              <a:rPr lang="en-US" sz="1300" dirty="0">
                <a:latin typeface="HSE Sans" panose="02000000000000000000" pitchFamily="50" charset="-52"/>
              </a:rPr>
              <a:t> </a:t>
            </a:r>
            <a:r>
              <a:rPr lang="ru-RU" sz="1300" dirty="0">
                <a:latin typeface="HSE Sans" panose="02000000000000000000" pitchFamily="50" charset="-52"/>
              </a:rPr>
              <a:t>для подзаголовков </a:t>
            </a:r>
            <a:r>
              <a:rPr lang="en-US" sz="1300" dirty="0">
                <a:latin typeface="HSE Sans" panose="02000000000000000000" pitchFamily="50" charset="-52"/>
              </a:rPr>
              <a:t>HSE Sans16</a:t>
            </a:r>
            <a:endParaRPr lang="ru-RU" sz="1300" dirty="0">
              <a:latin typeface="HSE Sans" panose="02000000000000000000" pitchFamily="50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latin typeface="HSE Sans" panose="02000000000000000000" pitchFamily="50" charset="-52"/>
              </a:rPr>
              <a:t>СКАЧАТЬ ШРИФТ </a:t>
            </a:r>
            <a:r>
              <a:rPr lang="en-US" sz="1300" dirty="0">
                <a:latin typeface="HSE Sans" panose="02000000000000000000" pitchFamily="50" charset="-52"/>
              </a:rPr>
              <a:t>HSE </a:t>
            </a:r>
            <a:r>
              <a:rPr lang="en-US" sz="1300" dirty="0">
                <a:latin typeface="HSE Sans" panose="02000000000000000000" pitchFamily="50" charset="-52"/>
                <a:hlinkClick r:id="rId2"/>
              </a:rPr>
              <a:t>https://www.hse.ru/info/brandbook/#font</a:t>
            </a:r>
            <a:r>
              <a:rPr lang="en-US" sz="1300" dirty="0">
                <a:latin typeface="HSE Sans" panose="02000000000000000000" pitchFamily="50" charset="-52"/>
              </a:rPr>
              <a:t> </a:t>
            </a:r>
            <a:endParaRPr lang="ru-RU" sz="1300" dirty="0">
              <a:latin typeface="HSE Sans" panose="02000000000000000000" pitchFamily="50" charset="-52"/>
            </a:endParaRPr>
          </a:p>
        </p:txBody>
      </p:sp>
      <p:sp>
        <p:nvSpPr>
          <p:cNvPr id="4" name="Текст 6"/>
          <p:cNvSpPr txBox="1">
            <a:spLocks/>
          </p:cNvSpPr>
          <p:nvPr/>
        </p:nvSpPr>
        <p:spPr>
          <a:xfrm>
            <a:off x="741665" y="3273620"/>
            <a:ext cx="3174552" cy="4413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latin typeface="HSE Sans" panose="02000000000000000000" pitchFamily="50" charset="-52"/>
              </a:rPr>
              <a:t>Цветовая палитра</a:t>
            </a:r>
            <a:endParaRPr lang="en-US" sz="2400" dirty="0">
              <a:latin typeface="HSE Sans" panose="02000000000000000000" pitchFamily="50" charset="-52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3269392" y="4414859"/>
            <a:ext cx="646825" cy="642049"/>
          </a:xfrm>
          <a:prstGeom prst="ellipse">
            <a:avLst/>
          </a:prstGeom>
          <a:solidFill>
            <a:srgbClr val="F5C3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741665" y="4414859"/>
            <a:ext cx="629936" cy="642050"/>
          </a:xfrm>
          <a:prstGeom prst="ellipse">
            <a:avLst/>
          </a:prstGeom>
          <a:solidFill>
            <a:srgbClr val="0F2D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1584241" y="4414860"/>
            <a:ext cx="632486" cy="642050"/>
          </a:xfrm>
          <a:prstGeom prst="ellipse">
            <a:avLst/>
          </a:prstGeom>
          <a:solidFill>
            <a:srgbClr val="E61E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2429367" y="4414860"/>
            <a:ext cx="629935" cy="646668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741665" y="4045527"/>
            <a:ext cx="2137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SE Sans" panose="02000000000000000000" pitchFamily="50" charset="-52"/>
              </a:rPr>
              <a:t>Основные цвета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6192" y="5255612"/>
            <a:ext cx="77795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SE Sans" panose="02000000000000000000" pitchFamily="50" charset="-52"/>
              </a:rPr>
              <a:t>R=245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G=195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B=195</a:t>
            </a:r>
            <a:endParaRPr lang="ru-RU" sz="1300" dirty="0">
              <a:latin typeface="HSE Sans" panose="02000000000000000000" pitchFamily="50" charset="-5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40672" y="5255613"/>
            <a:ext cx="67704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SE Sans" panose="02000000000000000000" pitchFamily="50" charset="-52"/>
              </a:rPr>
              <a:t>R=205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G=90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B=90</a:t>
            </a:r>
            <a:endParaRPr lang="ru-RU" sz="1300" dirty="0">
              <a:latin typeface="HSE Sans" panose="02000000000000000000" pitchFamily="50" charset="-5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85151" y="5255612"/>
            <a:ext cx="67704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SE Sans" panose="02000000000000000000" pitchFamily="50" charset="-52"/>
              </a:rPr>
              <a:t>R=230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G=30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B=60</a:t>
            </a:r>
            <a:endParaRPr lang="ru-RU" sz="1300" dirty="0">
              <a:latin typeface="HSE Sans" panose="02000000000000000000" pitchFamily="50" charset="-5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9630" y="5255611"/>
            <a:ext cx="677044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SE Sans" panose="02000000000000000000" pitchFamily="50" charset="-52"/>
              </a:rPr>
              <a:t>R=15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G=45</a:t>
            </a:r>
          </a:p>
          <a:p>
            <a:r>
              <a:rPr lang="en-US" sz="1300" dirty="0">
                <a:latin typeface="HSE Sans" panose="02000000000000000000" pitchFamily="50" charset="-52"/>
              </a:rPr>
              <a:t>B=105</a:t>
            </a:r>
            <a:endParaRPr lang="ru-RU" sz="1300" dirty="0">
              <a:latin typeface="HSE Sans" panose="02000000000000000000" pitchFamily="50" charset="-52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760410" y="4414859"/>
            <a:ext cx="646825" cy="64204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6232683" y="4414859"/>
            <a:ext cx="629936" cy="642050"/>
          </a:xfrm>
          <a:prstGeom prst="ellipse">
            <a:avLst/>
          </a:prstGeom>
          <a:solidFill>
            <a:srgbClr val="234B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7075259" y="4414860"/>
            <a:ext cx="632486" cy="64205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>
            <a:off x="7920385" y="4414860"/>
            <a:ext cx="629935" cy="64666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6232683" y="4045527"/>
            <a:ext cx="2865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SE Sans" panose="02000000000000000000" pitchFamily="50" charset="-52"/>
              </a:rPr>
              <a:t>Дополнительные цвета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7210" y="5255612"/>
            <a:ext cx="85715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SE Sans" panose="02000000000000000000" pitchFamily="50" charset="-52"/>
              </a:rPr>
              <a:t>R=</a:t>
            </a:r>
            <a:r>
              <a:rPr lang="ru-RU" sz="1300" dirty="0">
                <a:latin typeface="HSE Sans" panose="02000000000000000000" pitchFamily="50" charset="-52"/>
              </a:rPr>
              <a:t>191</a:t>
            </a:r>
            <a:endParaRPr lang="en-US" sz="1300" dirty="0">
              <a:latin typeface="HSE Sans" panose="02000000000000000000" pitchFamily="50" charset="-52"/>
            </a:endParaRPr>
          </a:p>
          <a:p>
            <a:r>
              <a:rPr lang="en-US" sz="1300" dirty="0">
                <a:latin typeface="HSE Sans" panose="02000000000000000000" pitchFamily="50" charset="-52"/>
              </a:rPr>
              <a:t>G=</a:t>
            </a:r>
            <a:r>
              <a:rPr lang="ru-RU" sz="1300" dirty="0">
                <a:latin typeface="HSE Sans" panose="02000000000000000000" pitchFamily="50" charset="-52"/>
              </a:rPr>
              <a:t>191</a:t>
            </a:r>
            <a:endParaRPr lang="en-US" sz="1300" dirty="0">
              <a:latin typeface="HSE Sans" panose="02000000000000000000" pitchFamily="50" charset="-52"/>
            </a:endParaRPr>
          </a:p>
          <a:p>
            <a:r>
              <a:rPr lang="en-US" sz="1300" dirty="0">
                <a:latin typeface="HSE Sans" panose="02000000000000000000" pitchFamily="50" charset="-52"/>
              </a:rPr>
              <a:t>B=</a:t>
            </a:r>
            <a:r>
              <a:rPr lang="ru-RU" sz="1300" dirty="0">
                <a:latin typeface="HSE Sans" panose="02000000000000000000" pitchFamily="50" charset="-52"/>
              </a:rPr>
              <a:t>191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31690" y="5255613"/>
            <a:ext cx="728720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SE Sans" panose="02000000000000000000" pitchFamily="50" charset="-52"/>
              </a:rPr>
              <a:t>R=</a:t>
            </a:r>
            <a:r>
              <a:rPr lang="ru-RU" sz="1300" dirty="0">
                <a:latin typeface="HSE Sans" panose="02000000000000000000" pitchFamily="50" charset="-52"/>
              </a:rPr>
              <a:t>166</a:t>
            </a:r>
            <a:endParaRPr lang="en-US" sz="1300" dirty="0">
              <a:latin typeface="HSE Sans" panose="02000000000000000000" pitchFamily="50" charset="-52"/>
            </a:endParaRPr>
          </a:p>
          <a:p>
            <a:r>
              <a:rPr lang="en-US" sz="1300" dirty="0">
                <a:latin typeface="HSE Sans" panose="02000000000000000000" pitchFamily="50" charset="-52"/>
              </a:rPr>
              <a:t>G=</a:t>
            </a:r>
            <a:r>
              <a:rPr lang="ru-RU" sz="1300" dirty="0">
                <a:latin typeface="HSE Sans" panose="02000000000000000000" pitchFamily="50" charset="-52"/>
              </a:rPr>
              <a:t>166</a:t>
            </a:r>
            <a:endParaRPr lang="en-US" sz="1300" dirty="0">
              <a:latin typeface="HSE Sans" panose="02000000000000000000" pitchFamily="50" charset="-52"/>
            </a:endParaRPr>
          </a:p>
          <a:p>
            <a:r>
              <a:rPr lang="en-US" sz="1300" dirty="0">
                <a:latin typeface="HSE Sans" panose="02000000000000000000" pitchFamily="50" charset="-52"/>
              </a:rPr>
              <a:t>B=</a:t>
            </a:r>
            <a:r>
              <a:rPr lang="ru-RU" sz="1300" dirty="0">
                <a:latin typeface="HSE Sans" panose="02000000000000000000" pitchFamily="50" charset="-52"/>
              </a:rPr>
              <a:t>166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6168" y="5255612"/>
            <a:ext cx="72872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HSE Sans" panose="02000000000000000000" pitchFamily="50" charset="-52"/>
              </a:rPr>
              <a:t>R=</a:t>
            </a:r>
            <a:r>
              <a:rPr lang="ru-RU" sz="1300" dirty="0">
                <a:latin typeface="HSE Sans" panose="02000000000000000000" pitchFamily="50" charset="-52"/>
              </a:rPr>
              <a:t>127</a:t>
            </a:r>
            <a:endParaRPr lang="en-US" sz="1300" dirty="0">
              <a:latin typeface="HSE Sans" panose="02000000000000000000" pitchFamily="50" charset="-52"/>
            </a:endParaRPr>
          </a:p>
          <a:p>
            <a:r>
              <a:rPr lang="en-US" sz="1300" dirty="0">
                <a:latin typeface="HSE Sans" panose="02000000000000000000" pitchFamily="50" charset="-52"/>
              </a:rPr>
              <a:t>G=</a:t>
            </a:r>
            <a:r>
              <a:rPr lang="ru-RU" sz="1300" dirty="0">
                <a:latin typeface="HSE Sans" panose="02000000000000000000" pitchFamily="50" charset="-52"/>
              </a:rPr>
              <a:t>127</a:t>
            </a:r>
            <a:endParaRPr lang="en-US" sz="1300" dirty="0">
              <a:latin typeface="HSE Sans" panose="02000000000000000000" pitchFamily="50" charset="-52"/>
            </a:endParaRPr>
          </a:p>
          <a:p>
            <a:r>
              <a:rPr lang="en-US" sz="1300" dirty="0">
                <a:latin typeface="HSE Sans" panose="02000000000000000000" pitchFamily="50" charset="-52"/>
              </a:rPr>
              <a:t>B=</a:t>
            </a:r>
            <a:r>
              <a:rPr lang="ru-RU" sz="1300" dirty="0">
                <a:latin typeface="HSE Sans" panose="02000000000000000000" pitchFamily="50" charset="-52"/>
              </a:rPr>
              <a:t>127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0648" y="5255611"/>
            <a:ext cx="75461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latin typeface="HSE Sans" panose="02000000000000000000" pitchFamily="50" charset="-52"/>
              </a:rPr>
              <a:t>R = 35</a:t>
            </a:r>
          </a:p>
          <a:p>
            <a:r>
              <a:rPr lang="pt-BR" sz="1300" dirty="0">
                <a:latin typeface="HSE Sans" panose="02000000000000000000" pitchFamily="50" charset="-52"/>
              </a:rPr>
              <a:t>G = 75</a:t>
            </a:r>
          </a:p>
          <a:p>
            <a:r>
              <a:rPr lang="pt-BR" sz="1300" dirty="0">
                <a:latin typeface="HSE Sans" panose="02000000000000000000" pitchFamily="50" charset="-52"/>
              </a:rPr>
              <a:t>B =</a:t>
            </a:r>
            <a:r>
              <a:rPr lang="ru-RU" sz="1300" dirty="0">
                <a:latin typeface="HSE Sans" panose="02000000000000000000" pitchFamily="50" charset="-52"/>
              </a:rPr>
              <a:t> </a:t>
            </a:r>
            <a:r>
              <a:rPr lang="pt-BR" sz="1300" dirty="0">
                <a:latin typeface="HSE Sans" panose="02000000000000000000" pitchFamily="50" charset="-52"/>
              </a:rPr>
              <a:t>155</a:t>
            </a:r>
            <a:endParaRPr lang="ru-RU" sz="1300" dirty="0">
              <a:latin typeface="HSE Sans" panose="02000000000000000000" pitchFamily="50" charset="-5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1665" y="1299038"/>
            <a:ext cx="3728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Дизайн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60715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5B76545-6C8B-F946-9634-A413147AEE89}"/>
              </a:ext>
            </a:extLst>
          </p:cNvPr>
          <p:cNvSpPr txBox="1"/>
          <p:nvPr/>
        </p:nvSpPr>
        <p:spPr>
          <a:xfrm>
            <a:off x="5708404" y="614270"/>
            <a:ext cx="234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SE Sans" panose="02000000000000000000" pitchFamily="2" charset="0"/>
              </a:rPr>
              <a:t>Business Analytics and Big Data Systems</a:t>
            </a:r>
          </a:p>
        </p:txBody>
      </p:sp>
      <p:cxnSp>
        <p:nvCxnSpPr>
          <p:cNvPr id="18" name="Straight Connector 48">
            <a:extLst>
              <a:ext uri="{FF2B5EF4-FFF2-40B4-BE49-F238E27FC236}">
                <a16:creationId xmlns:a16="http://schemas.microsoft.com/office/drawing/2014/main" id="{46457941-DFD6-9241-8BB6-CA0A3EDA88BB}"/>
              </a:ext>
            </a:extLst>
          </p:cNvPr>
          <p:cNvCxnSpPr>
            <a:cxnSpLocks/>
          </p:cNvCxnSpPr>
          <p:nvPr/>
        </p:nvCxnSpPr>
        <p:spPr>
          <a:xfrm>
            <a:off x="5649835" y="463409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50">
            <a:extLst>
              <a:ext uri="{FF2B5EF4-FFF2-40B4-BE49-F238E27FC236}">
                <a16:creationId xmlns:a16="http://schemas.microsoft.com/office/drawing/2014/main" id="{AB235920-EBA7-1044-AF40-A268EBD25FF0}"/>
              </a:ext>
            </a:extLst>
          </p:cNvPr>
          <p:cNvCxnSpPr>
            <a:cxnSpLocks/>
          </p:cNvCxnSpPr>
          <p:nvPr/>
        </p:nvCxnSpPr>
        <p:spPr>
          <a:xfrm>
            <a:off x="8202204" y="463409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541BE7-2DE2-6447-9069-9E74408E6EED}"/>
              </a:ext>
            </a:extLst>
          </p:cNvPr>
          <p:cNvSpPr txBox="1"/>
          <p:nvPr/>
        </p:nvSpPr>
        <p:spPr>
          <a:xfrm>
            <a:off x="8357009" y="614270"/>
            <a:ext cx="2079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HSE Sans" panose="02000000000000000000" pitchFamily="2" charset="0"/>
              </a:rPr>
              <a:t>Moscow</a:t>
            </a:r>
          </a:p>
          <a:p>
            <a:r>
              <a:rPr lang="en-GB" sz="1200" dirty="0">
                <a:latin typeface="HSE Sans" panose="02000000000000000000" pitchFamily="2" charset="0"/>
              </a:rPr>
              <a:t>May 2026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8D9CC-A3BB-C448-9CE9-6C4EC5E63B4E}"/>
              </a:ext>
            </a:extLst>
          </p:cNvPr>
          <p:cNvSpPr txBox="1"/>
          <p:nvPr/>
        </p:nvSpPr>
        <p:spPr>
          <a:xfrm>
            <a:off x="1273569" y="5210854"/>
            <a:ext cx="4434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HSE Sans" panose="02000000000000000000" pitchFamily="2" charset="0"/>
              </a:rPr>
              <a:t>Author: </a:t>
            </a:r>
            <a:r>
              <a:rPr lang="en-US" sz="1600" dirty="0">
                <a:latin typeface="HSE Sans" panose="02000000000000000000" pitchFamily="2" charset="0"/>
              </a:rPr>
              <a:t>Gleb </a:t>
            </a:r>
            <a:r>
              <a:rPr lang="en-US" sz="1600" dirty="0" err="1">
                <a:latin typeface="HSE Sans" panose="02000000000000000000" pitchFamily="2" charset="0"/>
              </a:rPr>
              <a:t>Dementev</a:t>
            </a:r>
            <a:endParaRPr lang="en-US" sz="1600" dirty="0">
              <a:latin typeface="HSE Sans" panose="02000000000000000000" pitchFamily="2" charset="0"/>
            </a:endParaRPr>
          </a:p>
          <a:p>
            <a:r>
              <a:rPr lang="en-US" sz="1600" b="1" dirty="0">
                <a:latin typeface="HSE Sans" panose="02000000000000000000" pitchFamily="2" charset="0"/>
              </a:rPr>
              <a:t>Supervisor: </a:t>
            </a:r>
            <a:r>
              <a:rPr lang="en-US" sz="1600" dirty="0" err="1">
                <a:latin typeface="HSE Sans" panose="02000000000000000000" pitchFamily="2" charset="0"/>
              </a:rPr>
              <a:t>Jin</a:t>
            </a:r>
            <a:r>
              <a:rPr lang="en-US" sz="1600" dirty="0">
                <a:latin typeface="HSE Sans" panose="02000000000000000000" pitchFamily="2" charset="0"/>
              </a:rPr>
              <a:t> </a:t>
            </a:r>
            <a:r>
              <a:rPr lang="en-US" sz="1600" dirty="0" err="1">
                <a:latin typeface="HSE Sans" panose="02000000000000000000" pitchFamily="2" charset="0"/>
              </a:rPr>
              <a:t>Seungmin</a:t>
            </a:r>
            <a:r>
              <a:rPr lang="en-US" sz="1600" dirty="0">
                <a:latin typeface="HSE Sans" panose="02000000000000000000" pitchFamily="2" charset="0"/>
              </a:rPr>
              <a:t>, PhD</a:t>
            </a:r>
            <a:endParaRPr lang="ru-RU" sz="1600" dirty="0">
              <a:latin typeface="HSE Sans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795D0-177E-C14A-8687-B5C8733160E7}"/>
              </a:ext>
            </a:extLst>
          </p:cNvPr>
          <p:cNvSpPr txBox="1"/>
          <p:nvPr/>
        </p:nvSpPr>
        <p:spPr>
          <a:xfrm>
            <a:off x="1198924" y="3288354"/>
            <a:ext cx="10132991" cy="141577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4300" dirty="0">
                <a:solidFill>
                  <a:srgbClr val="102D69"/>
                </a:solidFill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0" y="3676073"/>
            <a:ext cx="674255" cy="91440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0243127" y="3676073"/>
            <a:ext cx="1948874" cy="91440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57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Key Concepts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C0E45-D267-4888-9E6E-DAA6BCCECCE0}"/>
              </a:ext>
            </a:extLst>
          </p:cNvPr>
          <p:cNvSpPr txBox="1"/>
          <p:nvPr/>
        </p:nvSpPr>
        <p:spPr>
          <a:xfrm>
            <a:off x="489975" y="2284860"/>
            <a:ext cx="2486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Large Language Model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C3732-B662-4527-B223-6BFD3FB3BBA3}"/>
              </a:ext>
            </a:extLst>
          </p:cNvPr>
          <p:cNvSpPr txBox="1"/>
          <p:nvPr/>
        </p:nvSpPr>
        <p:spPr>
          <a:xfrm>
            <a:off x="3380104" y="2284860"/>
            <a:ext cx="2106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Tool-Calling Agent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141F5-681D-4797-A0A3-507E9277DB7F}"/>
              </a:ext>
            </a:extLst>
          </p:cNvPr>
          <p:cNvSpPr txBox="1"/>
          <p:nvPr/>
        </p:nvSpPr>
        <p:spPr>
          <a:xfrm>
            <a:off x="9046962" y="2275435"/>
            <a:ext cx="1976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Prompt Evolution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1F3B82-DC0D-4D67-9144-756B36347D55}"/>
              </a:ext>
            </a:extLst>
          </p:cNvPr>
          <p:cNvSpPr txBox="1"/>
          <p:nvPr/>
        </p:nvSpPr>
        <p:spPr>
          <a:xfrm>
            <a:off x="489975" y="4645505"/>
            <a:ext cx="2486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G</a:t>
            </a:r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PT-5.4, Opus 4.6, Gemini 3.1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81B54-71A9-48DC-9A21-B4B0C24282EC}"/>
              </a:ext>
            </a:extLst>
          </p:cNvPr>
          <p:cNvSpPr txBox="1"/>
          <p:nvPr/>
        </p:nvSpPr>
        <p:spPr>
          <a:xfrm>
            <a:off x="3380103" y="4645505"/>
            <a:ext cx="2486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Claude Code, </a:t>
            </a:r>
            <a:r>
              <a:rPr lang="en-US" sz="1800" dirty="0" err="1">
                <a:solidFill>
                  <a:srgbClr val="102D69"/>
                </a:solidFill>
                <a:latin typeface="HSE Sans" panose="02000000000000000000" pitchFamily="2" charset="0"/>
              </a:rPr>
              <a:t>OpenAI</a:t>
            </a:r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 Codex, Manus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FEC318-194A-4EF4-A6DF-07422B49A1EC}"/>
              </a:ext>
            </a:extLst>
          </p:cNvPr>
          <p:cNvSpPr txBox="1"/>
          <p:nvPr/>
        </p:nvSpPr>
        <p:spPr>
          <a:xfrm>
            <a:off x="9117681" y="4672357"/>
            <a:ext cx="1905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GEPA, </a:t>
            </a:r>
            <a:r>
              <a:rPr lang="en-US" sz="1800" dirty="0" err="1">
                <a:solidFill>
                  <a:srgbClr val="102D69"/>
                </a:solidFill>
                <a:latin typeface="HSE Sans" panose="02000000000000000000" pitchFamily="2" charset="0"/>
              </a:rPr>
              <a:t>DSPy</a:t>
            </a:r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, </a:t>
            </a:r>
            <a:r>
              <a:rPr lang="en-US" sz="1800" dirty="0" err="1">
                <a:solidFill>
                  <a:srgbClr val="102D69"/>
                </a:solidFill>
                <a:latin typeface="HSE Sans" panose="02000000000000000000" pitchFamily="2" charset="0"/>
              </a:rPr>
              <a:t>EvoPrompt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1C0C14-F836-42EA-AC05-D7D7BFA7BA85}"/>
              </a:ext>
            </a:extLst>
          </p:cNvPr>
          <p:cNvSpPr txBox="1"/>
          <p:nvPr/>
        </p:nvSpPr>
        <p:spPr>
          <a:xfrm>
            <a:off x="555290" y="2828836"/>
            <a:ext cx="224389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HSE Sans" panose="02000000000000000000"/>
              </a:rPr>
              <a:t>Neural network that generates plausible text from learned distributions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4C43DA-D4AB-42C2-9F7D-9D9E12F18558}"/>
              </a:ext>
            </a:extLst>
          </p:cNvPr>
          <p:cNvSpPr txBox="1"/>
          <p:nvPr/>
        </p:nvSpPr>
        <p:spPr>
          <a:xfrm>
            <a:off x="6146862" y="2284860"/>
            <a:ext cx="2074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Agentic Benchmark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27E95E-C0E7-4957-96A4-29B4D6689E57}"/>
              </a:ext>
            </a:extLst>
          </p:cNvPr>
          <p:cNvSpPr txBox="1"/>
          <p:nvPr/>
        </p:nvSpPr>
        <p:spPr>
          <a:xfrm>
            <a:off x="6220083" y="4645505"/>
            <a:ext cx="2486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Tau-2, </a:t>
            </a:r>
            <a:r>
              <a:rPr lang="en-US" dirty="0" err="1">
                <a:solidFill>
                  <a:srgbClr val="102D69"/>
                </a:solidFill>
                <a:latin typeface="HSE Sans" panose="02000000000000000000" pitchFamily="2" charset="0"/>
              </a:rPr>
              <a:t>Toolbench</a:t>
            </a:r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, GAIA 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8DB6A3-DFD2-472C-BB8E-F6AEEEBFCFCC}"/>
              </a:ext>
            </a:extLst>
          </p:cNvPr>
          <p:cNvSpPr txBox="1"/>
          <p:nvPr/>
        </p:nvSpPr>
        <p:spPr>
          <a:xfrm>
            <a:off x="3417052" y="2828836"/>
            <a:ext cx="224389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HSE Sans" panose="02000000000000000000"/>
              </a:rPr>
              <a:t>LLM harness that allows calls to external tools via structured text output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DB9FDA-5450-439D-BDD3-E9838FD490C4}"/>
              </a:ext>
            </a:extLst>
          </p:cNvPr>
          <p:cNvSpPr txBox="1"/>
          <p:nvPr/>
        </p:nvSpPr>
        <p:spPr>
          <a:xfrm>
            <a:off x="6146862" y="2828836"/>
            <a:ext cx="2243894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HSE Sans" panose="02000000000000000000"/>
              </a:rPr>
              <a:t>LLM performance measurement on tasks requiring planning and action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B5B8A8-A161-42EB-AD99-6A6EA992C14D}"/>
              </a:ext>
            </a:extLst>
          </p:cNvPr>
          <p:cNvSpPr txBox="1"/>
          <p:nvPr/>
        </p:nvSpPr>
        <p:spPr>
          <a:xfrm>
            <a:off x="9046962" y="2828836"/>
            <a:ext cx="1931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HSE Sans" panose="02000000000000000000"/>
              </a:rPr>
              <a:t>Automated benchmark pass rate improvement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957D266-9D18-4C25-BA0C-D9B9D8B3506C}"/>
              </a:ext>
            </a:extLst>
          </p:cNvPr>
          <p:cNvSpPr/>
          <p:nvPr/>
        </p:nvSpPr>
        <p:spPr>
          <a:xfrm>
            <a:off x="419878" y="2090057"/>
            <a:ext cx="2606735" cy="3704253"/>
          </a:xfrm>
          <a:prstGeom prst="roundRect">
            <a:avLst>
              <a:gd name="adj" fmla="val 664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E475B51-8C32-422D-ACBF-EF9DAD6C923F}"/>
              </a:ext>
            </a:extLst>
          </p:cNvPr>
          <p:cNvSpPr/>
          <p:nvPr/>
        </p:nvSpPr>
        <p:spPr>
          <a:xfrm>
            <a:off x="3235631" y="2090057"/>
            <a:ext cx="2606735" cy="3704253"/>
          </a:xfrm>
          <a:prstGeom prst="roundRect">
            <a:avLst>
              <a:gd name="adj" fmla="val 664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053EE7B-0424-4632-B738-743D9CFC47BA}"/>
              </a:ext>
            </a:extLst>
          </p:cNvPr>
          <p:cNvSpPr/>
          <p:nvPr/>
        </p:nvSpPr>
        <p:spPr>
          <a:xfrm>
            <a:off x="6048014" y="2090057"/>
            <a:ext cx="2606735" cy="3704253"/>
          </a:xfrm>
          <a:prstGeom prst="roundRect">
            <a:avLst>
              <a:gd name="adj" fmla="val 664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1B1D0DC-6441-4682-8AEC-A60F7AF6DFB2}"/>
              </a:ext>
            </a:extLst>
          </p:cNvPr>
          <p:cNvSpPr/>
          <p:nvPr/>
        </p:nvSpPr>
        <p:spPr>
          <a:xfrm>
            <a:off x="8878642" y="2090057"/>
            <a:ext cx="2606735" cy="3704253"/>
          </a:xfrm>
          <a:prstGeom prst="roundRect">
            <a:avLst>
              <a:gd name="adj" fmla="val 664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9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29599D-7BBE-496F-935C-A535BDADC01E}"/>
              </a:ext>
            </a:extLst>
          </p:cNvPr>
          <p:cNvSpPr/>
          <p:nvPr/>
        </p:nvSpPr>
        <p:spPr>
          <a:xfrm>
            <a:off x="555171" y="4413380"/>
            <a:ext cx="4618654" cy="92376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Relevance &amp; Research Gap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5141F5-681D-4797-A0A3-507E9277DB7F}"/>
              </a:ext>
            </a:extLst>
          </p:cNvPr>
          <p:cNvSpPr txBox="1"/>
          <p:nvPr/>
        </p:nvSpPr>
        <p:spPr>
          <a:xfrm>
            <a:off x="440492" y="3255792"/>
            <a:ext cx="4849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2. Other benchmarks show promising techniques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4C43DA-D4AB-42C2-9F7D-9D9E12F18558}"/>
              </a:ext>
            </a:extLst>
          </p:cNvPr>
          <p:cNvSpPr txBox="1"/>
          <p:nvPr/>
        </p:nvSpPr>
        <p:spPr>
          <a:xfrm>
            <a:off x="489975" y="2204848"/>
            <a:ext cx="3914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1. Low Agentic Benchmark Pass Rates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DB9FDA-5450-439D-BDD3-E9838FD490C4}"/>
              </a:ext>
            </a:extLst>
          </p:cNvPr>
          <p:cNvSpPr txBox="1"/>
          <p:nvPr/>
        </p:nvSpPr>
        <p:spPr>
          <a:xfrm>
            <a:off x="489975" y="2589667"/>
            <a:ext cx="34848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HSE Sans" panose="02000000000000000000"/>
              </a:rPr>
              <a:t>Enterprises cannot do with 98.5% pass rate -&gt; instant 1.5pp churn increase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35B65-AD70-44B8-8F7B-345EDA832E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458" y="1284126"/>
            <a:ext cx="6560858" cy="460795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6FD091D-61D5-4068-BD2F-CAE5DDEAEA5A}"/>
              </a:ext>
            </a:extLst>
          </p:cNvPr>
          <p:cNvSpPr txBox="1"/>
          <p:nvPr/>
        </p:nvSpPr>
        <p:spPr>
          <a:xfrm>
            <a:off x="489975" y="3605394"/>
            <a:ext cx="43339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latin typeface="HSE Sans" panose="02000000000000000000"/>
              </a:rPr>
              <a:t>Prompt Evolution and teacher-student distillation have been shown to improve performance across domains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FF626-34E1-4EF2-A068-035418167A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88"/>
          <a:stretch/>
        </p:blipFill>
        <p:spPr>
          <a:xfrm>
            <a:off x="172887" y="5892076"/>
            <a:ext cx="11753461" cy="92376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67D148C-EF90-49B8-A5D4-A67A1CE8A8EB}"/>
              </a:ext>
            </a:extLst>
          </p:cNvPr>
          <p:cNvSpPr txBox="1"/>
          <p:nvPr/>
        </p:nvSpPr>
        <p:spPr>
          <a:xfrm>
            <a:off x="909201" y="4552097"/>
            <a:ext cx="4147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Question: Can we automatically improve agentic performance at prompt level?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35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Problem,</a:t>
            </a: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 </a:t>
            </a:r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Goal, Questions, Tasks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EB57D2-060B-49A4-890B-2E8731B71810}"/>
              </a:ext>
            </a:extLst>
          </p:cNvPr>
          <p:cNvSpPr/>
          <p:nvPr/>
        </p:nvSpPr>
        <p:spPr>
          <a:xfrm>
            <a:off x="617858" y="1890512"/>
            <a:ext cx="5094514" cy="6533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HSE Sans" panose="02000000000000000000"/>
              </a:rPr>
              <a:t>Problem: </a:t>
            </a:r>
            <a:r>
              <a:rPr lang="en-US" sz="1600" dirty="0">
                <a:latin typeface="HSE Sans" panose="02000000000000000000"/>
              </a:rPr>
              <a:t>LLM agents are unreliable at enterprise scale and tasks, as shown by agentic benchmarks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B7E5DF-FBBE-4285-BE85-3202A68AB15F}"/>
              </a:ext>
            </a:extLst>
          </p:cNvPr>
          <p:cNvSpPr/>
          <p:nvPr/>
        </p:nvSpPr>
        <p:spPr>
          <a:xfrm>
            <a:off x="6158118" y="1897244"/>
            <a:ext cx="5094514" cy="6533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HSE Sans" panose="02000000000000000000"/>
              </a:rPr>
              <a:t>Goal: </a:t>
            </a:r>
            <a:r>
              <a:rPr lang="en-US" sz="1600" dirty="0">
                <a:latin typeface="HSE Sans" panose="02000000000000000000"/>
              </a:rPr>
              <a:t>Demonstrate automatic benchmark pass rate improvement and show its limitations</a:t>
            </a:r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B53282AE-C7EC-46BC-9448-AE6FCEB68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125852"/>
              </p:ext>
            </p:extLst>
          </p:nvPr>
        </p:nvGraphicFramePr>
        <p:xfrm>
          <a:off x="617858" y="4638137"/>
          <a:ext cx="10737498" cy="1645920"/>
        </p:xfrm>
        <a:graphic>
          <a:graphicData uri="http://schemas.openxmlformats.org/drawingml/2006/table">
            <a:tbl>
              <a:tblPr/>
              <a:tblGrid>
                <a:gridCol w="5368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8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SE Sans" panose="02000000000000000000"/>
                        </a:rPr>
                        <a:t>Objective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SE Sans" panose="02000000000000000000"/>
                        </a:rPr>
                        <a:t>Deliverable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1. Baseline eval on τ²-bench airline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Failure mode catalogue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2. Diagnose-patch-validate loop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Evolution framework (software)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3. Eval across 5/10/20 tasks, 3 models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Scaling data + cross-model comparison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4. Measure gap closure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Primary outcome metric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5. Analyse patch distribution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HSE Sans" panose="02000000000000000000"/>
                        </a:rPr>
                        <a:t>Boundaries of prompt-level intervention</a:t>
                      </a:r>
                      <a:endParaRPr lang="en-US" sz="1000" dirty="0">
                        <a:latin typeface="HSE Sans" panose="0200000000000000000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8FFC94-AB69-4DDD-937E-DAD4AA559B72}"/>
              </a:ext>
            </a:extLst>
          </p:cNvPr>
          <p:cNvSpPr/>
          <p:nvPr/>
        </p:nvSpPr>
        <p:spPr>
          <a:xfrm>
            <a:off x="617859" y="2769906"/>
            <a:ext cx="3375644" cy="1645920"/>
          </a:xfrm>
          <a:prstGeom prst="roundRect">
            <a:avLst>
              <a:gd name="adj" fmla="val 1174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0919731-1A79-4AC2-81CC-689E83D33617}"/>
              </a:ext>
            </a:extLst>
          </p:cNvPr>
          <p:cNvSpPr/>
          <p:nvPr/>
        </p:nvSpPr>
        <p:spPr>
          <a:xfrm>
            <a:off x="4298785" y="2769906"/>
            <a:ext cx="3375644" cy="1645920"/>
          </a:xfrm>
          <a:prstGeom prst="roundRect">
            <a:avLst>
              <a:gd name="adj" fmla="val 1174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47D1C7-9A78-4D7C-8137-AA832D07040D}"/>
              </a:ext>
            </a:extLst>
          </p:cNvPr>
          <p:cNvSpPr/>
          <p:nvPr/>
        </p:nvSpPr>
        <p:spPr>
          <a:xfrm>
            <a:off x="7979712" y="2769906"/>
            <a:ext cx="3375644" cy="1645920"/>
          </a:xfrm>
          <a:prstGeom prst="roundRect">
            <a:avLst>
              <a:gd name="adj" fmla="val 1174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AF2000-7B23-4CC0-9835-596F652A4EA3}"/>
              </a:ext>
            </a:extLst>
          </p:cNvPr>
          <p:cNvSpPr txBox="1"/>
          <p:nvPr/>
        </p:nvSpPr>
        <p:spPr>
          <a:xfrm>
            <a:off x="716125" y="2837794"/>
            <a:ext cx="468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Q</a:t>
            </a:r>
            <a:r>
              <a:rPr lang="ru-RU" dirty="0">
                <a:solidFill>
                  <a:srgbClr val="102D69"/>
                </a:solidFill>
                <a:latin typeface="HSE Sans" panose="02000000000000000000" pitchFamily="2" charset="0"/>
              </a:rPr>
              <a:t>1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B9D89F-AC82-40E8-9188-BDA374D41739}"/>
              </a:ext>
            </a:extLst>
          </p:cNvPr>
          <p:cNvSpPr txBox="1"/>
          <p:nvPr/>
        </p:nvSpPr>
        <p:spPr>
          <a:xfrm>
            <a:off x="4401716" y="2837794"/>
            <a:ext cx="468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Q</a:t>
            </a:r>
            <a:r>
              <a:rPr lang="ru-RU" sz="18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4C7C29-D1C5-4398-B8A5-4B02A6CDD59C}"/>
              </a:ext>
            </a:extLst>
          </p:cNvPr>
          <p:cNvSpPr txBox="1"/>
          <p:nvPr/>
        </p:nvSpPr>
        <p:spPr>
          <a:xfrm>
            <a:off x="8036000" y="2850344"/>
            <a:ext cx="468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02D69"/>
                </a:solidFill>
                <a:latin typeface="HSE Sans" panose="02000000000000000000" pitchFamily="2" charset="0"/>
              </a:rPr>
              <a:t>Q</a:t>
            </a:r>
            <a:r>
              <a:rPr lang="en-US" dirty="0">
                <a:solidFill>
                  <a:srgbClr val="102D69"/>
                </a:solidFill>
                <a:latin typeface="HSE Sans" panose="02000000000000000000" pitchFamily="2" charset="0"/>
              </a:rPr>
              <a:t>3</a:t>
            </a:r>
            <a:endParaRPr lang="ru-RU" sz="18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75E97A-C53E-4DC6-BC45-E1B6CF2E4449}"/>
              </a:ext>
            </a:extLst>
          </p:cNvPr>
          <p:cNvSpPr txBox="1"/>
          <p:nvPr/>
        </p:nvSpPr>
        <p:spPr>
          <a:xfrm>
            <a:off x="702424" y="3207126"/>
            <a:ext cx="3291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Which failure modes respond to prompt/schema edits? Which resist?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A52B75-D4CC-4926-8576-64235F88ADCF}"/>
              </a:ext>
            </a:extLst>
          </p:cNvPr>
          <p:cNvSpPr txBox="1"/>
          <p:nvPr/>
        </p:nvSpPr>
        <p:spPr>
          <a:xfrm>
            <a:off x="4383352" y="3207126"/>
            <a:ext cx="3291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How well does fix rate respond to task variety?</a:t>
            </a:r>
            <a:endParaRPr lang="en-US" sz="1600" dirty="0">
              <a:latin typeface="HSE Sans" panose="0200000000000000000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80E3C7-A90C-46ED-AAC9-5991038CD963}"/>
              </a:ext>
            </a:extLst>
          </p:cNvPr>
          <p:cNvSpPr txBox="1"/>
          <p:nvPr/>
        </p:nvSpPr>
        <p:spPr>
          <a:xfrm>
            <a:off x="8042713" y="3207126"/>
            <a:ext cx="3291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HSE Sans" panose="02000000000000000000"/>
                <a:ea typeface="Arial" pitchFamily="34" charset="-122"/>
                <a:cs typeface="Arial" pitchFamily="34" charset="-120"/>
              </a:rPr>
              <a:t>Can we close the gap to frontier model w/o weight updates?</a:t>
            </a:r>
            <a:endParaRPr lang="en-US" sz="1600" dirty="0">
              <a:latin typeface="HSE Sans" panose="020000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23967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Literature Review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795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Benchmark Choice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07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Model Choice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78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46166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Methodology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2449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15082</TotalTime>
  <Words>540</Words>
  <Application>Microsoft Office PowerPoint</Application>
  <PresentationFormat>Widescreen</PresentationFormat>
  <Paragraphs>113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HSE Sans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Барабанова Мария Сергеевна</dc:creator>
  <cp:lastModifiedBy>Gleb</cp:lastModifiedBy>
  <cp:revision>35</cp:revision>
  <dcterms:created xsi:type="dcterms:W3CDTF">2021-12-23T09:05:15Z</dcterms:created>
  <dcterms:modified xsi:type="dcterms:W3CDTF">2026-03-19T10:21:24Z</dcterms:modified>
</cp:coreProperties>
</file>