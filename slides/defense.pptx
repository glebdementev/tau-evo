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71" r:id="rId2"/>
    <p:sldId id="259" r:id="rId3"/>
    <p:sldId id="287" r:id="rId4"/>
    <p:sldId id="273" r:id="rId5"/>
    <p:sldId id="274" r:id="rId6"/>
    <p:sldId id="272" r:id="rId7"/>
    <p:sldId id="275" r:id="rId8"/>
    <p:sldId id="277" r:id="rId9"/>
    <p:sldId id="278" r:id="rId10"/>
    <p:sldId id="286" r:id="rId11"/>
    <p:sldId id="280" r:id="rId12"/>
    <p:sldId id="281" r:id="rId13"/>
    <p:sldId id="282" r:id="rId14"/>
    <p:sldId id="283" r:id="rId15"/>
    <p:sldId id="289" r:id="rId16"/>
    <p:sldId id="284" r:id="rId1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5A5A"/>
    <a:srgbClr val="004986"/>
    <a:srgbClr val="E61E3C"/>
    <a:srgbClr val="FFCDD2"/>
    <a:srgbClr val="C8E6C9"/>
    <a:srgbClr val="0F2D69"/>
    <a:srgbClr val="234B9B"/>
    <a:srgbClr val="F5C3C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209" autoAdjust="0"/>
  </p:normalViewPr>
  <p:slideViewPr>
    <p:cSldViewPr snapToGrid="0">
      <p:cViewPr>
        <p:scale>
          <a:sx n="100" d="100"/>
          <a:sy n="100" d="100"/>
        </p:scale>
        <p:origin x="954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C4D81D-654F-48DB-A33D-3E6F325A1010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093330-6B9A-4C0D-8499-7E41F07687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5750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60501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18312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34054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11293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34357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10525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91101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74051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87325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93078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434691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23581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74409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Рисунок 3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690" y="417310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635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Рисунок 2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151" y="255132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4694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Прямоугольник 19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20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ик 21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Прямоугольник 22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Прямоугольник 23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Прямоугольник 24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27" name="Рисунок 2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151" y="255132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78213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17" name="Рисунок 1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151" y="255132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5607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19" name="Рисунок 1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151" y="255132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4353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15" name="Рисунок 1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151" y="255132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1525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14" name="Рисунок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151" y="255132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84285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17" name="Рисунок 1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151" y="255132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817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17" name="Рисунок 1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151" y="255132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5755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16" name="Рисунок 1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151" y="255132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23934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16" name="Рисунок 1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151" y="255132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08584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139BA1-5047-414E-8A3F-E19F7F2DED6E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83F6F1-63BF-4504-A93A-2FA8850D49A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8408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13" Type="http://schemas.openxmlformats.org/officeDocument/2006/relationships/image" Target="../media/image27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6.sv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30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sv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5" Type="http://schemas.openxmlformats.org/officeDocument/2006/relationships/image" Target="../media/image29.png"/><Relationship Id="rId10" Type="http://schemas.openxmlformats.org/officeDocument/2006/relationships/image" Target="../media/image24.svg"/><Relationship Id="rId4" Type="http://schemas.openxmlformats.org/officeDocument/2006/relationships/image" Target="../media/image18.svg"/><Relationship Id="rId9" Type="http://schemas.openxmlformats.org/officeDocument/2006/relationships/image" Target="../media/image23.png"/><Relationship Id="rId14" Type="http://schemas.openxmlformats.org/officeDocument/2006/relationships/image" Target="../media/image28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55B76545-6C8B-F946-9634-A413147AEE89}"/>
              </a:ext>
            </a:extLst>
          </p:cNvPr>
          <p:cNvSpPr txBox="1"/>
          <p:nvPr/>
        </p:nvSpPr>
        <p:spPr>
          <a:xfrm>
            <a:off x="5708404" y="614270"/>
            <a:ext cx="23467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HSE Sans" panose="02000000000000000000" pitchFamily="2" charset="0"/>
              </a:rPr>
              <a:t>Business Analytics and Big Data Systems</a:t>
            </a:r>
          </a:p>
        </p:txBody>
      </p:sp>
      <p:cxnSp>
        <p:nvCxnSpPr>
          <p:cNvPr id="18" name="Straight Connector 48">
            <a:extLst>
              <a:ext uri="{FF2B5EF4-FFF2-40B4-BE49-F238E27FC236}">
                <a16:creationId xmlns:a16="http://schemas.microsoft.com/office/drawing/2014/main" id="{46457941-DFD6-9241-8BB6-CA0A3EDA88BB}"/>
              </a:ext>
            </a:extLst>
          </p:cNvPr>
          <p:cNvCxnSpPr>
            <a:cxnSpLocks/>
          </p:cNvCxnSpPr>
          <p:nvPr/>
        </p:nvCxnSpPr>
        <p:spPr>
          <a:xfrm>
            <a:off x="5649835" y="463409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50">
            <a:extLst>
              <a:ext uri="{FF2B5EF4-FFF2-40B4-BE49-F238E27FC236}">
                <a16:creationId xmlns:a16="http://schemas.microsoft.com/office/drawing/2014/main" id="{AB235920-EBA7-1044-AF40-A268EBD25FF0}"/>
              </a:ext>
            </a:extLst>
          </p:cNvPr>
          <p:cNvCxnSpPr>
            <a:cxnSpLocks/>
          </p:cNvCxnSpPr>
          <p:nvPr/>
        </p:nvCxnSpPr>
        <p:spPr>
          <a:xfrm>
            <a:off x="8202204" y="463409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3541BE7-2DE2-6447-9069-9E74408E6EED}"/>
              </a:ext>
            </a:extLst>
          </p:cNvPr>
          <p:cNvSpPr txBox="1"/>
          <p:nvPr/>
        </p:nvSpPr>
        <p:spPr>
          <a:xfrm>
            <a:off x="8357009" y="614270"/>
            <a:ext cx="20798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HSE Sans" panose="02000000000000000000" pitchFamily="2" charset="0"/>
              </a:rPr>
              <a:t>Moscow</a:t>
            </a:r>
          </a:p>
          <a:p>
            <a:r>
              <a:rPr lang="en-GB" sz="1200" dirty="0">
                <a:latin typeface="HSE Sans" panose="02000000000000000000" pitchFamily="2" charset="0"/>
              </a:rPr>
              <a:t>May 2026</a:t>
            </a:r>
            <a:endParaRPr lang="ru-RU" sz="1200" dirty="0">
              <a:latin typeface="HSE Sans" panose="02000000000000000000" pitchFamily="2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1C8D9CC-A3BB-C448-9CE9-6C4EC5E63B4E}"/>
              </a:ext>
            </a:extLst>
          </p:cNvPr>
          <p:cNvSpPr txBox="1"/>
          <p:nvPr/>
        </p:nvSpPr>
        <p:spPr>
          <a:xfrm>
            <a:off x="1215000" y="5388136"/>
            <a:ext cx="443483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HSE Sans" panose="02000000000000000000" pitchFamily="2" charset="0"/>
              </a:rPr>
              <a:t>Author: </a:t>
            </a:r>
            <a:r>
              <a:rPr lang="en-US" sz="1600" dirty="0">
                <a:latin typeface="HSE Sans" panose="02000000000000000000" pitchFamily="2" charset="0"/>
              </a:rPr>
              <a:t>Gleb </a:t>
            </a:r>
            <a:r>
              <a:rPr lang="en-US" sz="1600" dirty="0" err="1">
                <a:latin typeface="HSE Sans" panose="02000000000000000000" pitchFamily="2" charset="0"/>
              </a:rPr>
              <a:t>Dementev</a:t>
            </a:r>
            <a:endParaRPr lang="en-US" sz="1600" dirty="0">
              <a:latin typeface="HSE Sans" panose="02000000000000000000" pitchFamily="2" charset="0"/>
            </a:endParaRPr>
          </a:p>
          <a:p>
            <a:r>
              <a:rPr lang="en-US" sz="1600" b="1" dirty="0">
                <a:latin typeface="HSE Sans" panose="02000000000000000000" pitchFamily="2" charset="0"/>
              </a:rPr>
              <a:t>Supervisor: </a:t>
            </a:r>
            <a:r>
              <a:rPr lang="en-US" sz="1600" dirty="0" err="1">
                <a:latin typeface="HSE Sans" panose="02000000000000000000" pitchFamily="2" charset="0"/>
              </a:rPr>
              <a:t>Seungmin</a:t>
            </a:r>
            <a:r>
              <a:rPr lang="en-US" sz="1600" dirty="0">
                <a:latin typeface="HSE Sans" panose="02000000000000000000" pitchFamily="2" charset="0"/>
              </a:rPr>
              <a:t> </a:t>
            </a:r>
            <a:r>
              <a:rPr lang="en-US" sz="1600" dirty="0" err="1">
                <a:latin typeface="HSE Sans" panose="02000000000000000000" pitchFamily="2" charset="0"/>
              </a:rPr>
              <a:t>Jin</a:t>
            </a:r>
            <a:r>
              <a:rPr lang="en-US" sz="1600" dirty="0">
                <a:latin typeface="HSE Sans" panose="02000000000000000000" pitchFamily="2" charset="0"/>
              </a:rPr>
              <a:t>, PhD</a:t>
            </a:r>
            <a:endParaRPr lang="ru-RU" sz="1600" dirty="0">
              <a:latin typeface="HSE Sans" panose="02000000000000000000" pitchFamily="2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E0795D0-177E-C14A-8687-B5C8733160E7}"/>
              </a:ext>
            </a:extLst>
          </p:cNvPr>
          <p:cNvSpPr txBox="1"/>
          <p:nvPr/>
        </p:nvSpPr>
        <p:spPr>
          <a:xfrm>
            <a:off x="1142942" y="3027097"/>
            <a:ext cx="8486252" cy="2077492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4300" dirty="0">
                <a:solidFill>
                  <a:srgbClr val="102D69"/>
                </a:solidFill>
                <a:latin typeface="HSE Sans" panose="02000000000000000000" pitchFamily="2" charset="0"/>
              </a:rPr>
              <a:t>Automatically Evolving Multi-Turn</a:t>
            </a:r>
            <a:br>
              <a:rPr lang="en-US" sz="43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en-US" sz="4300" dirty="0">
                <a:solidFill>
                  <a:srgbClr val="102D69"/>
                </a:solidFill>
                <a:latin typeface="HSE Sans" panose="02000000000000000000" pitchFamily="2" charset="0"/>
              </a:rPr>
              <a:t>Customer Service AI Agents via Prompt-Level Distillation</a:t>
            </a:r>
          </a:p>
        </p:txBody>
      </p:sp>
      <p:sp>
        <p:nvSpPr>
          <p:cNvPr id="2" name="Прямоугольник 1"/>
          <p:cNvSpPr/>
          <p:nvPr/>
        </p:nvSpPr>
        <p:spPr>
          <a:xfrm>
            <a:off x="0" y="3676073"/>
            <a:ext cx="674255" cy="91440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/>
          <p:cNvSpPr/>
          <p:nvPr/>
        </p:nvSpPr>
        <p:spPr>
          <a:xfrm>
            <a:off x="10243127" y="3676073"/>
            <a:ext cx="1948874" cy="91440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A1191B9-8745-480E-9F67-C77218E39F00}"/>
              </a:ext>
            </a:extLst>
          </p:cNvPr>
          <p:cNvSpPr txBox="1"/>
          <p:nvPr/>
        </p:nvSpPr>
        <p:spPr>
          <a:xfrm>
            <a:off x="1214999" y="2768085"/>
            <a:ext cx="44348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HSE Sans" panose="02000000000000000000" pitchFamily="2" charset="0"/>
              </a:rPr>
              <a:t>Project-based</a:t>
            </a:r>
            <a:endParaRPr lang="ru-RU" sz="16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1571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F957D266-9D18-4C25-BA0C-D9B9D8B3506C}"/>
              </a:ext>
            </a:extLst>
          </p:cNvPr>
          <p:cNvSpPr/>
          <p:nvPr/>
        </p:nvSpPr>
        <p:spPr>
          <a:xfrm>
            <a:off x="419878" y="2090058"/>
            <a:ext cx="2606735" cy="1596117"/>
          </a:xfrm>
          <a:prstGeom prst="roundRect">
            <a:avLst>
              <a:gd name="adj" fmla="val 0"/>
            </a:avLst>
          </a:prstGeom>
          <a:solidFill>
            <a:srgbClr val="0F2D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DE475B51-8C32-422D-ACBF-EF9DAD6C923F}"/>
              </a:ext>
            </a:extLst>
          </p:cNvPr>
          <p:cNvSpPr/>
          <p:nvPr/>
        </p:nvSpPr>
        <p:spPr>
          <a:xfrm>
            <a:off x="3235631" y="2090058"/>
            <a:ext cx="2606735" cy="1596117"/>
          </a:xfrm>
          <a:prstGeom prst="roundRect">
            <a:avLst>
              <a:gd name="adj" fmla="val 0"/>
            </a:avLst>
          </a:prstGeom>
          <a:solidFill>
            <a:srgbClr val="0F2D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B053EE7B-0424-4632-B738-743D9CFC47BA}"/>
              </a:ext>
            </a:extLst>
          </p:cNvPr>
          <p:cNvSpPr/>
          <p:nvPr/>
        </p:nvSpPr>
        <p:spPr>
          <a:xfrm>
            <a:off x="6048014" y="2090058"/>
            <a:ext cx="2606735" cy="1596117"/>
          </a:xfrm>
          <a:prstGeom prst="roundRect">
            <a:avLst>
              <a:gd name="adj" fmla="val 0"/>
            </a:avLst>
          </a:prstGeom>
          <a:solidFill>
            <a:srgbClr val="0F2D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E1B1D0DC-6441-4682-8AEC-A60F7AF6DFB2}"/>
              </a:ext>
            </a:extLst>
          </p:cNvPr>
          <p:cNvSpPr/>
          <p:nvPr/>
        </p:nvSpPr>
        <p:spPr>
          <a:xfrm>
            <a:off x="8878642" y="2090058"/>
            <a:ext cx="2606735" cy="1596117"/>
          </a:xfrm>
          <a:prstGeom prst="roundRect">
            <a:avLst>
              <a:gd name="adj" fmla="val 0"/>
            </a:avLst>
          </a:prstGeom>
          <a:solidFill>
            <a:srgbClr val="0F2D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2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132991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Key Concepts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Automatically Evolving Multi-Turn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>Customer Service AI Agents via Prompt-Level Distillation </a:t>
            </a:r>
            <a:r>
              <a:rPr lang="en-US" sz="1000" i="1" dirty="0">
                <a:latin typeface="HSE Sans" panose="02000000000000000000" pitchFamily="2" charset="0"/>
              </a:rPr>
              <a:t>(project)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Introduction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ADC0E45-D267-4888-9E6E-DAA6BCCECCE0}"/>
              </a:ext>
            </a:extLst>
          </p:cNvPr>
          <p:cNvSpPr txBox="1"/>
          <p:nvPr/>
        </p:nvSpPr>
        <p:spPr>
          <a:xfrm>
            <a:off x="489975" y="2284860"/>
            <a:ext cx="24864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  <a:latin typeface="HSE Sans" panose="02000000000000000000" pitchFamily="2" charset="0"/>
              </a:rPr>
              <a:t>Large Language Model</a:t>
            </a:r>
            <a:endParaRPr lang="ru-RU" sz="1800" dirty="0">
              <a:solidFill>
                <a:schemeClr val="bg1"/>
              </a:solidFill>
              <a:latin typeface="HSE Sans" panose="02000000000000000000" pitchFamily="2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5C3732-B662-4527-B223-6BFD3FB3BBA3}"/>
              </a:ext>
            </a:extLst>
          </p:cNvPr>
          <p:cNvSpPr txBox="1"/>
          <p:nvPr/>
        </p:nvSpPr>
        <p:spPr>
          <a:xfrm>
            <a:off x="3380104" y="2284860"/>
            <a:ext cx="21062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  <a:latin typeface="HSE Sans" panose="02000000000000000000" pitchFamily="2" charset="0"/>
              </a:rPr>
              <a:t>Tool-Calling Agent</a:t>
            </a:r>
            <a:endParaRPr lang="ru-RU" sz="1800" dirty="0">
              <a:solidFill>
                <a:schemeClr val="bg1"/>
              </a:solidFill>
              <a:latin typeface="HSE Sans" panose="02000000000000000000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B5141F5-681D-4797-A0A3-507E9277DB7F}"/>
              </a:ext>
            </a:extLst>
          </p:cNvPr>
          <p:cNvSpPr txBox="1"/>
          <p:nvPr/>
        </p:nvSpPr>
        <p:spPr>
          <a:xfrm>
            <a:off x="9046962" y="2275435"/>
            <a:ext cx="1976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HSE Sans" panose="02000000000000000000" pitchFamily="2" charset="0"/>
              </a:rPr>
              <a:t>Prompt Evolution</a:t>
            </a:r>
            <a:endParaRPr lang="ru-RU" sz="1800" dirty="0">
              <a:solidFill>
                <a:schemeClr val="bg1"/>
              </a:solidFill>
              <a:latin typeface="HSE Sans" panose="02000000000000000000" pitchFamily="2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A1F3B82-DC0D-4D67-9144-756B36347D55}"/>
              </a:ext>
            </a:extLst>
          </p:cNvPr>
          <p:cNvSpPr txBox="1"/>
          <p:nvPr/>
        </p:nvSpPr>
        <p:spPr>
          <a:xfrm>
            <a:off x="444825" y="5545041"/>
            <a:ext cx="24864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F2D69"/>
                </a:solidFill>
                <a:latin typeface="HSE Sans" panose="02000000000000000000" pitchFamily="2" charset="0"/>
              </a:rPr>
              <a:t>G</a:t>
            </a:r>
            <a:r>
              <a:rPr lang="en-US" dirty="0">
                <a:solidFill>
                  <a:srgbClr val="0F2D69"/>
                </a:solidFill>
                <a:latin typeface="HSE Sans" panose="02000000000000000000" pitchFamily="2" charset="0"/>
              </a:rPr>
              <a:t>PT-5.4, Opus 4.6, Gemini 3.1</a:t>
            </a:r>
            <a:endParaRPr lang="ru-RU" sz="1800" dirty="0">
              <a:solidFill>
                <a:srgbClr val="0F2D69"/>
              </a:solidFill>
              <a:latin typeface="HSE Sans" panose="02000000000000000000" pitchFamily="2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1D81B54-71A9-48DC-9A21-B4B0C24282EC}"/>
              </a:ext>
            </a:extLst>
          </p:cNvPr>
          <p:cNvSpPr txBox="1"/>
          <p:nvPr/>
        </p:nvSpPr>
        <p:spPr>
          <a:xfrm>
            <a:off x="3334953" y="5545041"/>
            <a:ext cx="24864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F2D69"/>
                </a:solidFill>
                <a:latin typeface="HSE Sans" panose="02000000000000000000" pitchFamily="2" charset="0"/>
              </a:rPr>
              <a:t>Claude Code, </a:t>
            </a:r>
            <a:r>
              <a:rPr lang="en-US" sz="1800" dirty="0" err="1">
                <a:solidFill>
                  <a:srgbClr val="0F2D69"/>
                </a:solidFill>
                <a:latin typeface="HSE Sans" panose="02000000000000000000" pitchFamily="2" charset="0"/>
              </a:rPr>
              <a:t>OpenAI</a:t>
            </a:r>
            <a:r>
              <a:rPr lang="en-US" sz="1800" dirty="0">
                <a:solidFill>
                  <a:srgbClr val="0F2D69"/>
                </a:solidFill>
                <a:latin typeface="HSE Sans" panose="02000000000000000000" pitchFamily="2" charset="0"/>
              </a:rPr>
              <a:t> Codex, Manus</a:t>
            </a:r>
            <a:endParaRPr lang="ru-RU" sz="1800" dirty="0">
              <a:solidFill>
                <a:srgbClr val="0F2D69"/>
              </a:solidFill>
              <a:latin typeface="HSE Sans" panose="02000000000000000000" pitchFamily="2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5FEC318-194A-4EF4-A6DF-07422B49A1EC}"/>
              </a:ext>
            </a:extLst>
          </p:cNvPr>
          <p:cNvSpPr txBox="1"/>
          <p:nvPr/>
        </p:nvSpPr>
        <p:spPr>
          <a:xfrm>
            <a:off x="9072531" y="5571893"/>
            <a:ext cx="190563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F2D69"/>
                </a:solidFill>
                <a:latin typeface="HSE Sans" panose="02000000000000000000" pitchFamily="2" charset="0"/>
              </a:rPr>
              <a:t>GEPA, </a:t>
            </a:r>
            <a:r>
              <a:rPr lang="en-US" sz="1800" dirty="0" err="1">
                <a:solidFill>
                  <a:srgbClr val="0F2D69"/>
                </a:solidFill>
                <a:latin typeface="HSE Sans" panose="02000000000000000000" pitchFamily="2" charset="0"/>
              </a:rPr>
              <a:t>DSPy</a:t>
            </a:r>
            <a:r>
              <a:rPr lang="en-US" sz="1800" dirty="0">
                <a:solidFill>
                  <a:srgbClr val="0F2D69"/>
                </a:solidFill>
                <a:latin typeface="HSE Sans" panose="02000000000000000000" pitchFamily="2" charset="0"/>
              </a:rPr>
              <a:t>, </a:t>
            </a:r>
            <a:r>
              <a:rPr lang="en-US" sz="1800" dirty="0" err="1">
                <a:solidFill>
                  <a:srgbClr val="0F2D69"/>
                </a:solidFill>
                <a:latin typeface="HSE Sans" panose="02000000000000000000" pitchFamily="2" charset="0"/>
              </a:rPr>
              <a:t>EvoPrompt</a:t>
            </a:r>
            <a:endParaRPr lang="ru-RU" sz="1800" dirty="0">
              <a:solidFill>
                <a:srgbClr val="0F2D69"/>
              </a:solidFill>
              <a:latin typeface="HSE Sans" panose="02000000000000000000" pitchFamily="2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01C0C14-F836-42EA-AC05-D7D7BFA7BA85}"/>
              </a:ext>
            </a:extLst>
          </p:cNvPr>
          <p:cNvSpPr txBox="1"/>
          <p:nvPr/>
        </p:nvSpPr>
        <p:spPr>
          <a:xfrm>
            <a:off x="555290" y="2828836"/>
            <a:ext cx="224389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dirty="0">
                <a:solidFill>
                  <a:schemeClr val="bg1"/>
                </a:solidFill>
                <a:latin typeface="HSE Sans" panose="02000000000000000000"/>
              </a:rPr>
              <a:t>Neural network that generates plausible text from learned distributions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B4C43DA-D4AB-42C2-9F7D-9D9E12F18558}"/>
              </a:ext>
            </a:extLst>
          </p:cNvPr>
          <p:cNvSpPr txBox="1"/>
          <p:nvPr/>
        </p:nvSpPr>
        <p:spPr>
          <a:xfrm>
            <a:off x="6146862" y="2284860"/>
            <a:ext cx="20746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HSE Sans" panose="02000000000000000000" pitchFamily="2" charset="0"/>
              </a:rPr>
              <a:t>Agentic Benchmark</a:t>
            </a:r>
            <a:endParaRPr lang="ru-RU" sz="1800" dirty="0">
              <a:solidFill>
                <a:schemeClr val="bg1"/>
              </a:solidFill>
              <a:latin typeface="HSE Sans" panose="02000000000000000000" pitchFamily="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827E95E-C0E7-4957-96A4-29B4D6689E57}"/>
              </a:ext>
            </a:extLst>
          </p:cNvPr>
          <p:cNvSpPr txBox="1"/>
          <p:nvPr/>
        </p:nvSpPr>
        <p:spPr>
          <a:xfrm>
            <a:off x="6174933" y="5545041"/>
            <a:ext cx="24864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F2D69"/>
                </a:solidFill>
                <a:latin typeface="HSE Sans" panose="02000000000000000000" pitchFamily="2" charset="0"/>
              </a:rPr>
              <a:t>Tau-2, </a:t>
            </a:r>
            <a:r>
              <a:rPr lang="en-US" dirty="0" err="1">
                <a:solidFill>
                  <a:srgbClr val="0F2D69"/>
                </a:solidFill>
                <a:latin typeface="HSE Sans" panose="02000000000000000000" pitchFamily="2" charset="0"/>
              </a:rPr>
              <a:t>Toolbench</a:t>
            </a:r>
            <a:r>
              <a:rPr lang="en-US" dirty="0">
                <a:solidFill>
                  <a:srgbClr val="0F2D69"/>
                </a:solidFill>
                <a:latin typeface="HSE Sans" panose="02000000000000000000" pitchFamily="2" charset="0"/>
              </a:rPr>
              <a:t>, GAIA </a:t>
            </a:r>
            <a:endParaRPr lang="ru-RU" sz="1800" dirty="0">
              <a:solidFill>
                <a:srgbClr val="0F2D69"/>
              </a:solidFill>
              <a:latin typeface="HSE Sans" panose="02000000000000000000" pitchFamily="2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08DB6A3-DFD2-472C-BB8E-F6AEEEBFCFCC}"/>
              </a:ext>
            </a:extLst>
          </p:cNvPr>
          <p:cNvSpPr txBox="1"/>
          <p:nvPr/>
        </p:nvSpPr>
        <p:spPr>
          <a:xfrm>
            <a:off x="3417052" y="2828836"/>
            <a:ext cx="224389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dirty="0">
                <a:solidFill>
                  <a:schemeClr val="bg1"/>
                </a:solidFill>
                <a:latin typeface="HSE Sans" panose="02000000000000000000"/>
              </a:rPr>
              <a:t>LLM harness that allows calls to external tools via structured text output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8DB9FDA-5450-439D-BDD3-E9838FD490C4}"/>
              </a:ext>
            </a:extLst>
          </p:cNvPr>
          <p:cNvSpPr txBox="1"/>
          <p:nvPr/>
        </p:nvSpPr>
        <p:spPr>
          <a:xfrm>
            <a:off x="6146862" y="2828836"/>
            <a:ext cx="224389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dirty="0">
                <a:solidFill>
                  <a:schemeClr val="bg1"/>
                </a:solidFill>
                <a:latin typeface="HSE Sans" panose="02000000000000000000"/>
              </a:rPr>
              <a:t>LLM performance measurement on tasks requiring planning and action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9B5B8A8-A161-42EB-AD99-6A6EA992C14D}"/>
              </a:ext>
            </a:extLst>
          </p:cNvPr>
          <p:cNvSpPr txBox="1"/>
          <p:nvPr/>
        </p:nvSpPr>
        <p:spPr>
          <a:xfrm>
            <a:off x="9046962" y="2828836"/>
            <a:ext cx="19312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dirty="0">
                <a:solidFill>
                  <a:schemeClr val="bg1"/>
                </a:solidFill>
                <a:latin typeface="HSE Sans" panose="02000000000000000000"/>
              </a:rPr>
              <a:t>Automated benchmark pass rate improvement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68B0E71-AF33-4923-95B2-76762CC0DFF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91211" y="3698925"/>
            <a:ext cx="1830304" cy="1743663"/>
          </a:xfrm>
          <a:prstGeom prst="rect">
            <a:avLst/>
          </a:prstGeom>
        </p:spPr>
      </p:pic>
      <p:pic>
        <p:nvPicPr>
          <p:cNvPr id="1030" name="Picture 6" descr="Как мы делаем веб-сервис для автоматизации рабочих задач на базе агентов LLM  / Хабр">
            <a:extLst>
              <a:ext uri="{FF2B5EF4-FFF2-40B4-BE49-F238E27FC236}">
                <a16:creationId xmlns:a16="http://schemas.microsoft.com/office/drawing/2014/main" id="{6D29B9E7-BC96-4801-8343-0C9E8C04BB5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21" t="6993" r="9829" b="10033"/>
          <a:stretch/>
        </p:blipFill>
        <p:spPr bwMode="auto">
          <a:xfrm>
            <a:off x="3380104" y="3796634"/>
            <a:ext cx="2245761" cy="15085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GEPA vs Prompt Learning: Benchmarking Different Prompt Optimization  Approaches - Arize AI">
            <a:extLst>
              <a:ext uri="{FF2B5EF4-FFF2-40B4-BE49-F238E27FC236}">
                <a16:creationId xmlns:a16="http://schemas.microsoft.com/office/drawing/2014/main" id="{CEAEB63B-FB11-456A-8706-6D3AA20805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9393" y="4149079"/>
            <a:ext cx="2765231" cy="9599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Fine-tuning Qwen2.5-VL for Document Information Extraction">
            <a:extLst>
              <a:ext uri="{FF2B5EF4-FFF2-40B4-BE49-F238E27FC236}">
                <a16:creationId xmlns:a16="http://schemas.microsoft.com/office/drawing/2014/main" id="{3E90D87C-CE8D-463C-B82C-F313D5172E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875" y="4064104"/>
            <a:ext cx="2760244" cy="1129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27948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FD5A1EE-9FFE-4FA0-8AC3-E513859A3544}"/>
              </a:ext>
            </a:extLst>
          </p:cNvPr>
          <p:cNvSpPr/>
          <p:nvPr/>
        </p:nvSpPr>
        <p:spPr>
          <a:xfrm>
            <a:off x="641945" y="3136954"/>
            <a:ext cx="1767839" cy="1645920"/>
          </a:xfrm>
          <a:prstGeom prst="rect">
            <a:avLst/>
          </a:prstGeom>
          <a:solidFill>
            <a:srgbClr val="E6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6B35DC-1E39-4F1D-AD5E-25E42317E292}"/>
              </a:ext>
            </a:extLst>
          </p:cNvPr>
          <p:cNvSpPr txBox="1"/>
          <p:nvPr/>
        </p:nvSpPr>
        <p:spPr>
          <a:xfrm>
            <a:off x="687665" y="3228394"/>
            <a:ext cx="1676399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dirty="0">
                <a:solidFill>
                  <a:srgbClr val="FFFFFF"/>
                </a:solidFill>
                <a:latin typeface="HSE Sans"/>
              </a:rPr>
              <a:t>25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AB8B18-C84E-42FF-9775-717EBB5EC8EB}"/>
              </a:ext>
            </a:extLst>
          </p:cNvPr>
          <p:cNvSpPr txBox="1"/>
          <p:nvPr/>
        </p:nvSpPr>
        <p:spPr>
          <a:xfrm>
            <a:off x="687665" y="3639874"/>
            <a:ext cx="1676399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HSE Sans"/>
              </a:rPr>
              <a:t>SYSTEMS
ANALYSTS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DFB4C8-598A-42AA-9DFE-659830FCD050}"/>
              </a:ext>
            </a:extLst>
          </p:cNvPr>
          <p:cNvSpPr/>
          <p:nvPr/>
        </p:nvSpPr>
        <p:spPr>
          <a:xfrm>
            <a:off x="2409785" y="3136954"/>
            <a:ext cx="1343558" cy="1645920"/>
          </a:xfrm>
          <a:prstGeom prst="rect">
            <a:avLst/>
          </a:prstGeom>
          <a:solidFill>
            <a:srgbClr val="234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85F658-889B-4B21-9EF0-16EFB4F36607}"/>
              </a:ext>
            </a:extLst>
          </p:cNvPr>
          <p:cNvSpPr txBox="1"/>
          <p:nvPr/>
        </p:nvSpPr>
        <p:spPr>
          <a:xfrm>
            <a:off x="2455504" y="3228394"/>
            <a:ext cx="125211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HSE Sans"/>
              </a:rPr>
              <a:t>19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249B1E-183D-4166-9ADD-040D38289AE7}"/>
              </a:ext>
            </a:extLst>
          </p:cNvPr>
          <p:cNvSpPr txBox="1"/>
          <p:nvPr/>
        </p:nvSpPr>
        <p:spPr>
          <a:xfrm>
            <a:off x="2455504" y="3639874"/>
            <a:ext cx="1252118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HSE Sans"/>
              </a:rPr>
              <a:t>Developers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BDCE2B8-FCF1-444E-943C-D02115F2FD93}"/>
              </a:ext>
            </a:extLst>
          </p:cNvPr>
          <p:cNvSpPr/>
          <p:nvPr/>
        </p:nvSpPr>
        <p:spPr>
          <a:xfrm>
            <a:off x="3753343" y="3136954"/>
            <a:ext cx="1555699" cy="1645920"/>
          </a:xfrm>
          <a:prstGeom prst="rect">
            <a:avLst/>
          </a:prstGeom>
          <a:solidFill>
            <a:srgbClr val="0F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35A122-7ED3-41F7-B05F-F19B78DD9428}"/>
              </a:ext>
            </a:extLst>
          </p:cNvPr>
          <p:cNvSpPr txBox="1"/>
          <p:nvPr/>
        </p:nvSpPr>
        <p:spPr>
          <a:xfrm>
            <a:off x="3799063" y="3228394"/>
            <a:ext cx="1464259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HSE Sans"/>
              </a:rPr>
              <a:t>22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D2F3E7-AF6B-410A-B133-0C12F069BBF9}"/>
              </a:ext>
            </a:extLst>
          </p:cNvPr>
          <p:cNvSpPr txBox="1"/>
          <p:nvPr/>
        </p:nvSpPr>
        <p:spPr>
          <a:xfrm>
            <a:off x="3799063" y="3639874"/>
            <a:ext cx="1464259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HSE Sans"/>
              </a:rPr>
              <a:t>Sales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260E240-7F31-498B-950C-E42712B2EDD8}"/>
              </a:ext>
            </a:extLst>
          </p:cNvPr>
          <p:cNvSpPr/>
          <p:nvPr/>
        </p:nvSpPr>
        <p:spPr>
          <a:xfrm>
            <a:off x="5309042" y="3136954"/>
            <a:ext cx="636422" cy="1645920"/>
          </a:xfrm>
          <a:prstGeom prst="rect">
            <a:avLst/>
          </a:prstGeom>
          <a:solidFill>
            <a:srgbClr val="B3B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10634F9-7ECA-4B0A-8308-A9102CE64E4D}"/>
              </a:ext>
            </a:extLst>
          </p:cNvPr>
          <p:cNvSpPr txBox="1"/>
          <p:nvPr/>
        </p:nvSpPr>
        <p:spPr>
          <a:xfrm>
            <a:off x="5354762" y="3228394"/>
            <a:ext cx="54498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HSE Sans"/>
              </a:rPr>
              <a:t>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C154AD-5D27-42A8-A53B-2BD8CCB40ED9}"/>
              </a:ext>
            </a:extLst>
          </p:cNvPr>
          <p:cNvSpPr txBox="1"/>
          <p:nvPr/>
        </p:nvSpPr>
        <p:spPr>
          <a:xfrm>
            <a:off x="5354762" y="3639874"/>
            <a:ext cx="54498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HSE Sans"/>
              </a:rPr>
              <a:t>Other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A631BB9-202C-4EF9-8EA7-F6C17A8B0E12}"/>
              </a:ext>
            </a:extLst>
          </p:cNvPr>
          <p:cNvSpPr txBox="1"/>
          <p:nvPr/>
        </p:nvSpPr>
        <p:spPr>
          <a:xfrm>
            <a:off x="489975" y="1396903"/>
            <a:ext cx="10132991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i="1" dirty="0">
                <a:solidFill>
                  <a:srgbClr val="102D69"/>
                </a:solidFill>
                <a:latin typeface="HSE Sans" panose="02000000000000000000" pitchFamily="2" charset="0"/>
              </a:rPr>
              <a:t>target ai </a:t>
            </a:r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builds customer service automation for enterprise customers</a:t>
            </a:r>
            <a:endParaRPr lang="ru-RU" sz="2400" i="1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7" name="Straight Connector 19">
            <a:extLst>
              <a:ext uri="{FF2B5EF4-FFF2-40B4-BE49-F238E27FC236}">
                <a16:creationId xmlns:a16="http://schemas.microsoft.com/office/drawing/2014/main" id="{9C6115AF-8F6D-4EE3-9083-10745C71C6CE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21">
            <a:extLst>
              <a:ext uri="{FF2B5EF4-FFF2-40B4-BE49-F238E27FC236}">
                <a16:creationId xmlns:a16="http://schemas.microsoft.com/office/drawing/2014/main" id="{F6D55D9D-975A-4492-A31D-0514E3E63683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25">
            <a:extLst>
              <a:ext uri="{FF2B5EF4-FFF2-40B4-BE49-F238E27FC236}">
                <a16:creationId xmlns:a16="http://schemas.microsoft.com/office/drawing/2014/main" id="{56A03CC7-1000-4ABC-A61E-D9919F5A329A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72F358B2-1E84-41EB-86DE-C522F48E6D80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3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1" name="Straight Connector 13">
            <a:extLst>
              <a:ext uri="{FF2B5EF4-FFF2-40B4-BE49-F238E27FC236}">
                <a16:creationId xmlns:a16="http://schemas.microsoft.com/office/drawing/2014/main" id="{86ECADB8-58B6-48CC-81A4-686B2851C891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FD34BE1-F508-49AE-BEAE-695D38D6CA02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Automatically Evolving Multi-Turn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>Customer Service AI Agents via Prompt-Level Distillation </a:t>
            </a:r>
            <a:r>
              <a:rPr lang="en-US" sz="1000" i="1" dirty="0">
                <a:latin typeface="HSE Sans" panose="02000000000000000000" pitchFamily="2" charset="0"/>
              </a:rPr>
              <a:t>(project)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6D36B4F-B002-496C-9ECE-66C0C854CA74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Introduction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72FDE5A-B33C-4174-A074-EE1280C22484}"/>
              </a:ext>
            </a:extLst>
          </p:cNvPr>
          <p:cNvSpPr/>
          <p:nvPr/>
        </p:nvSpPr>
        <p:spPr>
          <a:xfrm>
            <a:off x="6960635" y="3125516"/>
            <a:ext cx="4572000" cy="457200"/>
          </a:xfrm>
          <a:prstGeom prst="rect">
            <a:avLst/>
          </a:prstGeom>
          <a:solidFill>
            <a:srgbClr val="0F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F14B4C-5AFF-4BBE-98D7-F826EDF6A33A}"/>
              </a:ext>
            </a:extLst>
          </p:cNvPr>
          <p:cNvSpPr txBox="1"/>
          <p:nvPr/>
        </p:nvSpPr>
        <p:spPr>
          <a:xfrm>
            <a:off x="7070973" y="3171236"/>
            <a:ext cx="2743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HSE Sans"/>
              </a:rPr>
              <a:t>200M RUB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4EA266B-1AE6-496B-ADAB-8FDA1A1C5CCD}"/>
              </a:ext>
            </a:extLst>
          </p:cNvPr>
          <p:cNvSpPr/>
          <p:nvPr/>
        </p:nvSpPr>
        <p:spPr>
          <a:xfrm>
            <a:off x="6960635" y="4319840"/>
            <a:ext cx="1714500" cy="457200"/>
          </a:xfrm>
          <a:prstGeom prst="rect">
            <a:avLst/>
          </a:prstGeom>
          <a:solidFill>
            <a:srgbClr val="E6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46F0DFD-DB08-4D69-A8CA-AF013823E618}"/>
              </a:ext>
            </a:extLst>
          </p:cNvPr>
          <p:cNvSpPr txBox="1"/>
          <p:nvPr/>
        </p:nvSpPr>
        <p:spPr>
          <a:xfrm>
            <a:off x="7067824" y="4390474"/>
            <a:ext cx="2286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rgbClr val="FFFFFF"/>
                </a:solidFill>
                <a:latin typeface="HSE Sans"/>
              </a:rPr>
              <a:t>75M RUB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A5E14A6-C825-498E-94FA-9C637270DF1D}"/>
              </a:ext>
            </a:extLst>
          </p:cNvPr>
          <p:cNvSpPr txBox="1"/>
          <p:nvPr/>
        </p:nvSpPr>
        <p:spPr>
          <a:xfrm>
            <a:off x="8675135" y="4401535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dirty="0">
                <a:solidFill>
                  <a:srgbClr val="E61E3C"/>
                </a:solidFill>
                <a:latin typeface="HSE Sans"/>
              </a:rPr>
              <a:t>= 37% of revenue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C3C5431-F13B-4E62-B1D7-AD1DE0975FCB}"/>
              </a:ext>
            </a:extLst>
          </p:cNvPr>
          <p:cNvSpPr txBox="1"/>
          <p:nvPr/>
        </p:nvSpPr>
        <p:spPr>
          <a:xfrm>
            <a:off x="567297" y="2772275"/>
            <a:ext cx="329107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i="1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target ai </a:t>
            </a:r>
            <a:r>
              <a:rPr lang="en-US" sz="16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employs a total of 75 FTEs</a:t>
            </a:r>
            <a:endParaRPr lang="en-US" sz="1600" i="1" dirty="0">
              <a:latin typeface="HSE Sans" panose="0200000000000000000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09C8849-3ADF-4DBA-98A0-190C823D5DA6}"/>
              </a:ext>
            </a:extLst>
          </p:cNvPr>
          <p:cNvSpPr txBox="1"/>
          <p:nvPr/>
        </p:nvSpPr>
        <p:spPr>
          <a:xfrm>
            <a:off x="6892694" y="2772275"/>
            <a:ext cx="52059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dirty="0">
                <a:latin typeface="HSE Sans" panose="02000000000000000000"/>
              </a:rPr>
              <a:t>Its flagship product posted 200M (70%) of 2025 revenue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9BF0102-D074-4761-BEAA-F080DFACD5CA}"/>
              </a:ext>
            </a:extLst>
          </p:cNvPr>
          <p:cNvSpPr txBox="1"/>
          <p:nvPr/>
        </p:nvSpPr>
        <p:spPr>
          <a:xfrm>
            <a:off x="6892694" y="3982594"/>
            <a:ext cx="52059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dirty="0">
                <a:latin typeface="HSE Sans" panose="02000000000000000000"/>
              </a:rPr>
              <a:t>Implementation payroll is 37% of revenue</a:t>
            </a:r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D1AF28BF-D596-4D2F-BFC2-FE614F9428AC}"/>
              </a:ext>
            </a:extLst>
          </p:cNvPr>
          <p:cNvSpPr/>
          <p:nvPr/>
        </p:nvSpPr>
        <p:spPr>
          <a:xfrm>
            <a:off x="1525864" y="4827053"/>
            <a:ext cx="6419461" cy="731520"/>
          </a:xfrm>
          <a:custGeom>
            <a:avLst/>
            <a:gdLst>
              <a:gd name="connsiteX0" fmla="*/ 0 w 6867331"/>
              <a:gd name="connsiteY0" fmla="*/ 27992 h 1130503"/>
              <a:gd name="connsiteX1" fmla="*/ 1642188 w 6867331"/>
              <a:gd name="connsiteY1" fmla="*/ 905069 h 1130503"/>
              <a:gd name="connsiteX2" fmla="*/ 3405674 w 6867331"/>
              <a:gd name="connsiteY2" fmla="*/ 1129004 h 1130503"/>
              <a:gd name="connsiteX3" fmla="*/ 5141167 w 6867331"/>
              <a:gd name="connsiteY3" fmla="*/ 942392 h 1130503"/>
              <a:gd name="connsiteX4" fmla="*/ 6867331 w 6867331"/>
              <a:gd name="connsiteY4" fmla="*/ 0 h 1130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7331" h="1130503">
                <a:moveTo>
                  <a:pt x="0" y="27992"/>
                </a:moveTo>
                <a:cubicBezTo>
                  <a:pt x="537288" y="374779"/>
                  <a:pt x="1074576" y="721567"/>
                  <a:pt x="1642188" y="905069"/>
                </a:cubicBezTo>
                <a:cubicBezTo>
                  <a:pt x="2209800" y="1088571"/>
                  <a:pt x="2822511" y="1122784"/>
                  <a:pt x="3405674" y="1129004"/>
                </a:cubicBezTo>
                <a:cubicBezTo>
                  <a:pt x="3988837" y="1135224"/>
                  <a:pt x="4564224" y="1130559"/>
                  <a:pt x="5141167" y="942392"/>
                </a:cubicBezTo>
                <a:cubicBezTo>
                  <a:pt x="5718110" y="754225"/>
                  <a:pt x="6570307" y="83975"/>
                  <a:pt x="6867331" y="0"/>
                </a:cubicBezTo>
              </a:path>
            </a:pathLst>
          </a:custGeom>
          <a:noFill/>
          <a:ln w="38100">
            <a:solidFill>
              <a:srgbClr val="E61E3C"/>
            </a:solidFill>
            <a:prstDash val="dash"/>
            <a:headEnd type="arrow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DE43C80-08A6-4369-ACB0-EB4A0461CCF5}"/>
              </a:ext>
            </a:extLst>
          </p:cNvPr>
          <p:cNvSpPr txBox="1"/>
          <p:nvPr/>
        </p:nvSpPr>
        <p:spPr>
          <a:xfrm>
            <a:off x="567296" y="5821584"/>
            <a:ext cx="102473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HSE Sans" panose="02000000000000000000"/>
              </a:rPr>
              <a:t>Every new deployment adds load to the same 25-person team. The cost structure is linear in deployments.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36F543F-A72F-4ABD-9AB5-5B47F28D2EAA}"/>
              </a:ext>
            </a:extLst>
          </p:cNvPr>
          <p:cNvSpPr txBox="1"/>
          <p:nvPr/>
        </p:nvSpPr>
        <p:spPr>
          <a:xfrm>
            <a:off x="567297" y="2137065"/>
            <a:ext cx="102473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HSE Sans" panose="02000000000000000000"/>
              </a:rPr>
              <a:t>Problem: deployment is bottlenecked by implementation team</a:t>
            </a:r>
          </a:p>
        </p:txBody>
      </p:sp>
    </p:spTree>
    <p:extLst>
      <p:ext uri="{BB962C8B-B14F-4D97-AF65-F5344CB8AC3E}">
        <p14:creationId xmlns:p14="http://schemas.microsoft.com/office/powerpoint/2010/main" val="21183302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3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132991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We ran a value chain analysis and shown the bottleneck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Automatically Evolving Multi-Turn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>Customer Service AI Agents via Prompt-Level Distillation </a:t>
            </a:r>
            <a:r>
              <a:rPr lang="en-US" sz="1000" i="1" dirty="0">
                <a:latin typeface="HSE Sans" panose="02000000000000000000" pitchFamily="2" charset="0"/>
              </a:rPr>
              <a:t>(project)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Introduction</a:t>
            </a:r>
            <a:endParaRPr lang="ru-RU" sz="1000" dirty="0">
              <a:latin typeface="HSE Sans" panose="02000000000000000000" pitchFamily="2" charset="0"/>
            </a:endParaRPr>
          </a:p>
        </p:txBody>
      </p:sp>
      <p:pic>
        <p:nvPicPr>
          <p:cNvPr id="19" name="Picture 18" descr="fig_ds_02_value_chain.png">
            <a:extLst>
              <a:ext uri="{FF2B5EF4-FFF2-40B4-BE49-F238E27FC236}">
                <a16:creationId xmlns:a16="http://schemas.microsoft.com/office/drawing/2014/main" id="{1DD05F54-0CC1-43EB-8B4E-A069DAEBCD3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2488"/>
          <a:stretch/>
        </p:blipFill>
        <p:spPr>
          <a:xfrm>
            <a:off x="198287" y="1858569"/>
            <a:ext cx="11919661" cy="342137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C72DC3B-ED16-4C7D-89BB-E8F3866977E2}"/>
              </a:ext>
            </a:extLst>
          </p:cNvPr>
          <p:cNvSpPr txBox="1"/>
          <p:nvPr/>
        </p:nvSpPr>
        <p:spPr>
          <a:xfrm>
            <a:off x="4176749" y="5414389"/>
            <a:ext cx="432811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HSE Sans" panose="02000000000000000000"/>
              </a:rPr>
              <a:t>Activities 2 and 5 share a single 25-person system analyst pool and limit scaling</a:t>
            </a:r>
          </a:p>
        </p:txBody>
      </p:sp>
    </p:spTree>
    <p:extLst>
      <p:ext uri="{BB962C8B-B14F-4D97-AF65-F5344CB8AC3E}">
        <p14:creationId xmlns:p14="http://schemas.microsoft.com/office/powerpoint/2010/main" val="27063554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4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132991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Problem,</a:t>
            </a: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 </a:t>
            </a:r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Goal, Questions, Tasks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Automatically Evolving Multi-Turn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>Customer Service AI Agents via Prompt-Level Distillation </a:t>
            </a:r>
            <a:r>
              <a:rPr lang="en-US" sz="1000" i="1" dirty="0">
                <a:latin typeface="HSE Sans" panose="02000000000000000000" pitchFamily="2" charset="0"/>
              </a:rPr>
              <a:t>(project)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Introduction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7EB57D2-060B-49A4-890B-2E8731B71810}"/>
              </a:ext>
            </a:extLst>
          </p:cNvPr>
          <p:cNvSpPr/>
          <p:nvPr/>
        </p:nvSpPr>
        <p:spPr>
          <a:xfrm>
            <a:off x="617858" y="1890512"/>
            <a:ext cx="5197238" cy="653367"/>
          </a:xfrm>
          <a:prstGeom prst="roundRect">
            <a:avLst>
              <a:gd name="adj" fmla="val 0"/>
            </a:avLst>
          </a:prstGeom>
          <a:solidFill>
            <a:srgbClr val="0F2D6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HSE Sans" panose="02000000000000000000"/>
              </a:rPr>
              <a:t>Problem: </a:t>
            </a:r>
            <a:r>
              <a:rPr lang="en-US" sz="1600" dirty="0">
                <a:latin typeface="HSE Sans" panose="02000000000000000000"/>
              </a:rPr>
              <a:t>LLM agents require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DB7E5DF-FBBE-4285-BE85-3202A68AB15F}"/>
              </a:ext>
            </a:extLst>
          </p:cNvPr>
          <p:cNvSpPr/>
          <p:nvPr/>
        </p:nvSpPr>
        <p:spPr>
          <a:xfrm>
            <a:off x="6096000" y="1897244"/>
            <a:ext cx="5259356" cy="653367"/>
          </a:xfrm>
          <a:prstGeom prst="roundRect">
            <a:avLst>
              <a:gd name="adj" fmla="val 0"/>
            </a:avLst>
          </a:prstGeom>
          <a:solidFill>
            <a:srgbClr val="0F2D6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HSE Sans" panose="02000000000000000000"/>
              </a:rPr>
              <a:t>Goal: </a:t>
            </a:r>
            <a:r>
              <a:rPr lang="en-US" sz="1600" dirty="0">
                <a:latin typeface="HSE Sans" panose="02000000000000000000"/>
              </a:rPr>
              <a:t>Automatically improve agents and fix issues </a:t>
            </a:r>
          </a:p>
        </p:txBody>
      </p:sp>
      <p:pic>
        <p:nvPicPr>
          <p:cNvPr id="22" name="Picture 21" descr="fig_edp_cycle.png">
            <a:extLst>
              <a:ext uri="{FF2B5EF4-FFF2-40B4-BE49-F238E27FC236}">
                <a16:creationId xmlns:a16="http://schemas.microsoft.com/office/drawing/2014/main" id="{0DDD6A94-5F86-4F57-805E-553BF1033C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808" y="3219234"/>
            <a:ext cx="11080242" cy="3329775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97373577-9B93-4BD4-99CC-6B996DD910AA}"/>
              </a:ext>
            </a:extLst>
          </p:cNvPr>
          <p:cNvSpPr txBox="1"/>
          <p:nvPr/>
        </p:nvSpPr>
        <p:spPr>
          <a:xfrm>
            <a:off x="608333" y="2782200"/>
            <a:ext cx="108407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HSE Sans" panose="02000000000000000000"/>
              </a:rPr>
              <a:t>We have considered TOGAF, SDLC, CRISP-DM, DSR and settled on following EDP because we are building iterative test software (as opposed to production, or enterprise, or ML solutions)</a:t>
            </a:r>
          </a:p>
        </p:txBody>
      </p:sp>
    </p:spTree>
    <p:extLst>
      <p:ext uri="{BB962C8B-B14F-4D97-AF65-F5344CB8AC3E}">
        <p14:creationId xmlns:p14="http://schemas.microsoft.com/office/powerpoint/2010/main" val="12396739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5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132991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Literature Review: Why Prompt-Level Evolution?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Automatically Evolving Multi-Turn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>Customer Service AI Agents via Prompt-Level Distillation </a:t>
            </a:r>
            <a:r>
              <a:rPr lang="en-US" sz="1000" i="1" dirty="0">
                <a:latin typeface="HSE Sans" panose="02000000000000000000" pitchFamily="2" charset="0"/>
              </a:rPr>
              <a:t>(project)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Literature Review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6B3C5A-B8EA-496E-B146-3C32C8628794}"/>
              </a:ext>
            </a:extLst>
          </p:cNvPr>
          <p:cNvSpPr/>
          <p:nvPr/>
        </p:nvSpPr>
        <p:spPr>
          <a:xfrm>
            <a:off x="489975" y="2083726"/>
            <a:ext cx="2606040" cy="274320"/>
          </a:xfrm>
          <a:prstGeom prst="rect">
            <a:avLst/>
          </a:prstGeom>
          <a:solidFill>
            <a:srgbClr val="0F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HSE Sans"/>
              </a:rPr>
              <a:t>1. Agents fail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0A90B8-BB82-4EB4-A016-C448451A14A2}"/>
              </a:ext>
            </a:extLst>
          </p:cNvPr>
          <p:cNvSpPr txBox="1"/>
          <p:nvPr/>
        </p:nvSpPr>
        <p:spPr>
          <a:xfrm>
            <a:off x="563127" y="2431197"/>
            <a:ext cx="24597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0F2D69"/>
                </a:solidFill>
                <a:latin typeface="HSE Sans"/>
              </a:rPr>
              <a:t>LLM agents are far below
enterprise reliability thresholds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470E63-79FE-48A6-BBC0-1772216DAF37}"/>
              </a:ext>
            </a:extLst>
          </p:cNvPr>
          <p:cNvSpPr txBox="1"/>
          <p:nvPr/>
        </p:nvSpPr>
        <p:spPr>
          <a:xfrm>
            <a:off x="563127" y="3287747"/>
            <a:ext cx="2459736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>
                <a:solidFill>
                  <a:srgbClr val="000000"/>
                </a:solidFill>
                <a:latin typeface="HSE Sans"/>
              </a:rPr>
              <a:t>tau-bench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(Yao et al., 2024)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>  </a:t>
            </a:r>
            <a:r>
              <a:rPr lang="en-US" sz="1300" b="0" dirty="0">
                <a:solidFill>
                  <a:srgbClr val="000000"/>
                </a:solidFill>
                <a:latin typeface="HSE Sans"/>
              </a:rPr>
              <a:t>GPT-4o fails &gt;50</a:t>
            </a:r>
            <a:r>
              <a:rPr sz="1300" b="0" dirty="0">
                <a:solidFill>
                  <a:srgbClr val="000000"/>
                </a:solidFill>
                <a:latin typeface="HSE Sans"/>
              </a:rPr>
              <a:t>% of tasks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>
                <a:solidFill>
                  <a:srgbClr val="000000"/>
                </a:solidFill>
                <a:latin typeface="HSE Sans"/>
              </a:rPr>
              <a:t>GAIA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</a:t>
            </a:r>
            <a:r>
              <a:rPr sz="1300" b="0" dirty="0" err="1">
                <a:solidFill>
                  <a:srgbClr val="7F7F7F"/>
                </a:solidFill>
                <a:latin typeface="HSE Sans"/>
              </a:rPr>
              <a:t>Mialon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 et al., 2023)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>  humans 92% vs GPT-4 15%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>
                <a:solidFill>
                  <a:srgbClr val="000000"/>
                </a:solidFill>
                <a:latin typeface="HSE Sans"/>
              </a:rPr>
              <a:t>SWE-bench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(Jimenez et al., 2024)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>  best model solves &lt;2%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 err="1">
                <a:solidFill>
                  <a:srgbClr val="000000"/>
                </a:solidFill>
                <a:latin typeface="HSE Sans"/>
              </a:rPr>
              <a:t>ToolBench</a:t>
            </a:r>
            <a:r>
              <a:rPr sz="1300" b="1" dirty="0">
                <a:solidFill>
                  <a:srgbClr val="000000"/>
                </a:solidFill>
                <a:latin typeface="HSE Sans"/>
              </a:rPr>
              <a:t>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(Qin et al., 2023)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>  OSS models score 0%</a:t>
            </a:r>
          </a:p>
        </p:txBody>
      </p:sp>
      <p:sp>
        <p:nvSpPr>
          <p:cNvPr id="13" name="Rounded Rectangle 13">
            <a:extLst>
              <a:ext uri="{FF2B5EF4-FFF2-40B4-BE49-F238E27FC236}">
                <a16:creationId xmlns:a16="http://schemas.microsoft.com/office/drawing/2014/main" id="{D0CF5567-A6EA-419B-8CB5-2469B075158E}"/>
              </a:ext>
            </a:extLst>
          </p:cNvPr>
          <p:cNvSpPr/>
          <p:nvPr/>
        </p:nvSpPr>
        <p:spPr>
          <a:xfrm>
            <a:off x="508263" y="5598367"/>
            <a:ext cx="2514600" cy="762318"/>
          </a:xfrm>
          <a:prstGeom prst="roundRect">
            <a:avLst>
              <a:gd name="adj" fmla="val 0"/>
            </a:avLst>
          </a:prstGeom>
          <a:solidFill>
            <a:srgbClr val="F0F0F5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 dirty="0">
                <a:solidFill>
                  <a:srgbClr val="0F2D69"/>
                </a:solidFill>
                <a:latin typeface="HSE Sans"/>
              </a:rPr>
              <a:t>Agents need to get better.
Can we just prompt-engineer?</a:t>
            </a:r>
          </a:p>
        </p:txBody>
      </p:sp>
      <p:sp>
        <p:nvSpPr>
          <p:cNvPr id="14" name="Right Arrow 14">
            <a:extLst>
              <a:ext uri="{FF2B5EF4-FFF2-40B4-BE49-F238E27FC236}">
                <a16:creationId xmlns:a16="http://schemas.microsoft.com/office/drawing/2014/main" id="{49F1430B-FE72-44B1-A717-4F4599F36C6F}"/>
              </a:ext>
            </a:extLst>
          </p:cNvPr>
          <p:cNvSpPr/>
          <p:nvPr/>
        </p:nvSpPr>
        <p:spPr>
          <a:xfrm>
            <a:off x="3105159" y="3638205"/>
            <a:ext cx="164592" cy="182880"/>
          </a:xfrm>
          <a:prstGeom prst="rightArrow">
            <a:avLst/>
          </a:prstGeom>
          <a:solidFill>
            <a:srgbClr val="E6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72C0015-DBB0-4BB6-8DD1-16804FADC3C0}"/>
              </a:ext>
            </a:extLst>
          </p:cNvPr>
          <p:cNvSpPr/>
          <p:nvPr/>
        </p:nvSpPr>
        <p:spPr>
          <a:xfrm>
            <a:off x="3278895" y="2083726"/>
            <a:ext cx="2606040" cy="274320"/>
          </a:xfrm>
          <a:prstGeom prst="rect">
            <a:avLst/>
          </a:prstGeom>
          <a:solidFill>
            <a:srgbClr val="0F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HSE Sans"/>
              </a:rPr>
              <a:t>2. Prompting is brittle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CD4457A-B5CB-4CCB-950A-5C48CB35A1E7}"/>
              </a:ext>
            </a:extLst>
          </p:cNvPr>
          <p:cNvSpPr txBox="1"/>
          <p:nvPr/>
        </p:nvSpPr>
        <p:spPr>
          <a:xfrm>
            <a:off x="3352047" y="2431197"/>
            <a:ext cx="24597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2D69"/>
                </a:solidFill>
                <a:latin typeface="HSE Sans"/>
              </a:rPr>
              <a:t>Static prompts help but are
fragile and hit a hard ceiling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20E141-F59F-4146-AF54-912F7E36271D}"/>
              </a:ext>
            </a:extLst>
          </p:cNvPr>
          <p:cNvSpPr txBox="1"/>
          <p:nvPr/>
        </p:nvSpPr>
        <p:spPr>
          <a:xfrm>
            <a:off x="3352047" y="3287747"/>
            <a:ext cx="2459736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0"/>
              </a:spcAft>
            </a:pPr>
            <a:r>
              <a:rPr lang="en-US" sz="1300" b="1" dirty="0">
                <a:solidFill>
                  <a:srgbClr val="000000"/>
                </a:solidFill>
                <a:latin typeface="HSE Sans"/>
              </a:rPr>
              <a:t>Sensitivity </a:t>
            </a:r>
            <a:r>
              <a:rPr lang="en-US" sz="1300" b="0" dirty="0">
                <a:solidFill>
                  <a:srgbClr val="7F7F7F"/>
                </a:solidFill>
                <a:latin typeface="HSE Sans"/>
              </a:rPr>
              <a:t>(</a:t>
            </a:r>
            <a:r>
              <a:rPr lang="en-US" sz="1300" b="0" dirty="0" err="1">
                <a:solidFill>
                  <a:srgbClr val="7F7F7F"/>
                </a:solidFill>
                <a:latin typeface="HSE Sans"/>
              </a:rPr>
              <a:t>Sclar</a:t>
            </a:r>
            <a:r>
              <a:rPr lang="en-US" sz="1300" b="0" dirty="0">
                <a:solidFill>
                  <a:srgbClr val="7F7F7F"/>
                </a:solidFill>
                <a:latin typeface="HSE Sans"/>
              </a:rPr>
              <a:t> et al., 2023)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US" sz="1300" b="0" dirty="0">
                <a:solidFill>
                  <a:srgbClr val="000000"/>
                </a:solidFill>
                <a:latin typeface="HSE Sans"/>
              </a:rPr>
              <a:t>  format → 76 pts variation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 err="1">
                <a:solidFill>
                  <a:srgbClr val="000000"/>
                </a:solidFill>
                <a:latin typeface="HSE Sans"/>
              </a:rPr>
              <a:t>CoT</a:t>
            </a:r>
            <a:r>
              <a:rPr sz="1300" b="1" dirty="0">
                <a:solidFill>
                  <a:srgbClr val="000000"/>
                </a:solidFill>
                <a:latin typeface="HSE Sans"/>
              </a:rPr>
              <a:t>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(Wei et al., 2022)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>  only works at ≥100B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 err="1">
                <a:solidFill>
                  <a:srgbClr val="000000"/>
                </a:solidFill>
                <a:latin typeface="HSE Sans"/>
              </a:rPr>
              <a:t>ReAct</a:t>
            </a:r>
            <a:r>
              <a:rPr sz="1300" b="1" dirty="0">
                <a:solidFill>
                  <a:srgbClr val="000000"/>
                </a:solidFill>
                <a:latin typeface="HSE Sans"/>
              </a:rPr>
              <a:t>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(Yao et al., 2023)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>  gains, but no self-repair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>
                <a:solidFill>
                  <a:srgbClr val="000000"/>
                </a:solidFill>
                <a:latin typeface="HSE Sans"/>
              </a:rPr>
              <a:t>APE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(Zhou et al., 2022)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>  optimal prompts are fragile</a:t>
            </a:r>
          </a:p>
        </p:txBody>
      </p:sp>
      <p:sp>
        <p:nvSpPr>
          <p:cNvPr id="18" name="Rounded Rectangle 18">
            <a:extLst>
              <a:ext uri="{FF2B5EF4-FFF2-40B4-BE49-F238E27FC236}">
                <a16:creationId xmlns:a16="http://schemas.microsoft.com/office/drawing/2014/main" id="{A9EE39BA-41BE-47C5-AC76-37E50C446519}"/>
              </a:ext>
            </a:extLst>
          </p:cNvPr>
          <p:cNvSpPr/>
          <p:nvPr/>
        </p:nvSpPr>
        <p:spPr>
          <a:xfrm>
            <a:off x="3297183" y="5598367"/>
            <a:ext cx="2514600" cy="762318"/>
          </a:xfrm>
          <a:prstGeom prst="roundRect">
            <a:avLst>
              <a:gd name="adj" fmla="val 0"/>
            </a:avLst>
          </a:prstGeom>
          <a:solidFill>
            <a:srgbClr val="F0F0F5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>
                <a:solidFill>
                  <a:srgbClr val="0F2D69"/>
                </a:solidFill>
                <a:latin typeface="HSE Sans"/>
              </a:rPr>
              <a:t>Manual prompts can't adapt.
Can we fine-tune instead?</a:t>
            </a:r>
          </a:p>
        </p:txBody>
      </p:sp>
      <p:sp>
        <p:nvSpPr>
          <p:cNvPr id="19" name="Right Arrow 19">
            <a:extLst>
              <a:ext uri="{FF2B5EF4-FFF2-40B4-BE49-F238E27FC236}">
                <a16:creationId xmlns:a16="http://schemas.microsoft.com/office/drawing/2014/main" id="{E7E11A3F-980B-4CD4-966B-B0FB0F23C7DD}"/>
              </a:ext>
            </a:extLst>
          </p:cNvPr>
          <p:cNvSpPr/>
          <p:nvPr/>
        </p:nvSpPr>
        <p:spPr>
          <a:xfrm>
            <a:off x="5894079" y="3638205"/>
            <a:ext cx="164592" cy="182880"/>
          </a:xfrm>
          <a:prstGeom prst="rightArrow">
            <a:avLst/>
          </a:prstGeom>
          <a:solidFill>
            <a:srgbClr val="E6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9B13868-D5AE-4EA0-A2B2-3355742BBA36}"/>
              </a:ext>
            </a:extLst>
          </p:cNvPr>
          <p:cNvSpPr/>
          <p:nvPr/>
        </p:nvSpPr>
        <p:spPr>
          <a:xfrm>
            <a:off x="6067815" y="2083726"/>
            <a:ext cx="2606040" cy="274320"/>
          </a:xfrm>
          <a:prstGeom prst="rect">
            <a:avLst/>
          </a:prstGeom>
          <a:solidFill>
            <a:srgbClr val="0F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HSE Sans"/>
              </a:rPr>
              <a:t>3. Fine-tuning is costly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741F7E-59F5-46B3-97C7-A07EEC105B4D}"/>
              </a:ext>
            </a:extLst>
          </p:cNvPr>
          <p:cNvSpPr txBox="1"/>
          <p:nvPr/>
        </p:nvSpPr>
        <p:spPr>
          <a:xfrm>
            <a:off x="6140967" y="2431197"/>
            <a:ext cx="24597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2D69"/>
                </a:solidFill>
                <a:latin typeface="HSE Sans"/>
              </a:rPr>
              <a:t>Weight modification works but
is expensive and destructive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4ED105-92A2-4231-87A9-6F7880785D32}"/>
              </a:ext>
            </a:extLst>
          </p:cNvPr>
          <p:cNvSpPr txBox="1"/>
          <p:nvPr/>
        </p:nvSpPr>
        <p:spPr>
          <a:xfrm>
            <a:off x="6140967" y="3287747"/>
            <a:ext cx="2459736" cy="20467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>
                <a:solidFill>
                  <a:srgbClr val="000000"/>
                </a:solidFill>
                <a:latin typeface="HSE Sans"/>
              </a:rPr>
              <a:t>Alignment tax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(Young, 2026)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>  proven irreducible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>
                <a:solidFill>
                  <a:srgbClr val="000000"/>
                </a:solidFill>
                <a:latin typeface="HSE Sans"/>
              </a:rPr>
              <a:t>SFT harm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</a:t>
            </a:r>
            <a:r>
              <a:rPr sz="1300" b="0" dirty="0" err="1">
                <a:solidFill>
                  <a:srgbClr val="7F7F7F"/>
                </a:solidFill>
                <a:latin typeface="HSE Sans"/>
              </a:rPr>
              <a:t>Shenfeld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, 2026)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>  collapses reasoning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>
                <a:solidFill>
                  <a:srgbClr val="000000"/>
                </a:solidFill>
                <a:latin typeface="HSE Sans"/>
              </a:rPr>
              <a:t>LIMA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(Zhou et al., 2023)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>  alignment = style, not knowledge</a:t>
            </a:r>
            <a:endParaRPr lang="en-US" sz="1300" b="0" dirty="0">
              <a:solidFill>
                <a:srgbClr val="000000"/>
              </a:solidFill>
              <a:latin typeface="HSE Sans"/>
            </a:endParaRP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lang="fr-FR" sz="1300" b="1" dirty="0" err="1">
                <a:solidFill>
                  <a:srgbClr val="000000"/>
                </a:solidFill>
                <a:latin typeface="HSE Sans"/>
              </a:rPr>
              <a:t>InstructGPT</a:t>
            </a:r>
            <a:r>
              <a:rPr lang="fr-FR" sz="1300" b="1" dirty="0">
                <a:solidFill>
                  <a:srgbClr val="000000"/>
                </a:solidFill>
                <a:latin typeface="HSE Sans"/>
              </a:rPr>
              <a:t> </a:t>
            </a:r>
            <a:r>
              <a:rPr lang="fr-FR" sz="1300" b="0" dirty="0">
                <a:solidFill>
                  <a:srgbClr val="7F7F7F"/>
                </a:solidFill>
                <a:latin typeface="HSE Sans"/>
              </a:rPr>
              <a:t>(</a:t>
            </a:r>
            <a:r>
              <a:rPr lang="fr-FR" sz="1300" b="0" dirty="0" err="1">
                <a:solidFill>
                  <a:srgbClr val="7F7F7F"/>
                </a:solidFill>
                <a:latin typeface="HSE Sans"/>
              </a:rPr>
              <a:t>Ouyang</a:t>
            </a:r>
            <a:r>
              <a:rPr lang="fr-FR" sz="1300" b="0" dirty="0">
                <a:solidFill>
                  <a:srgbClr val="7F7F7F"/>
                </a:solidFill>
                <a:latin typeface="HSE Sans"/>
              </a:rPr>
              <a:t> et al., 2022)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fr-FR" sz="1300" b="0" dirty="0">
                <a:solidFill>
                  <a:srgbClr val="000000"/>
                </a:solidFill>
                <a:latin typeface="HSE Sans"/>
              </a:rPr>
              <a:t>  1.3B&gt;175B, but </a:t>
            </a:r>
            <a:r>
              <a:rPr lang="fr-FR" sz="1300" b="0" dirty="0" err="1">
                <a:solidFill>
                  <a:srgbClr val="000000"/>
                </a:solidFill>
                <a:latin typeface="HSE Sans"/>
              </a:rPr>
              <a:t>regresses</a:t>
            </a:r>
            <a:endParaRPr lang="fr-FR" sz="1300" b="0" dirty="0">
              <a:solidFill>
                <a:srgbClr val="000000"/>
              </a:solidFill>
              <a:latin typeface="HSE Sans"/>
            </a:endParaRPr>
          </a:p>
        </p:txBody>
      </p:sp>
      <p:sp>
        <p:nvSpPr>
          <p:cNvPr id="29" name="Rounded Rectangle 23">
            <a:extLst>
              <a:ext uri="{FF2B5EF4-FFF2-40B4-BE49-F238E27FC236}">
                <a16:creationId xmlns:a16="http://schemas.microsoft.com/office/drawing/2014/main" id="{12D420B4-AF37-47C6-BC83-C18B731CE858}"/>
              </a:ext>
            </a:extLst>
          </p:cNvPr>
          <p:cNvSpPr/>
          <p:nvPr/>
        </p:nvSpPr>
        <p:spPr>
          <a:xfrm>
            <a:off x="6086103" y="5598367"/>
            <a:ext cx="2514600" cy="762318"/>
          </a:xfrm>
          <a:prstGeom prst="roundRect">
            <a:avLst>
              <a:gd name="adj" fmla="val 0"/>
            </a:avLst>
          </a:prstGeom>
          <a:solidFill>
            <a:srgbClr val="F0F0F5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>
                <a:solidFill>
                  <a:srgbClr val="0F2D69"/>
                </a:solidFill>
                <a:latin typeface="HSE Sans"/>
              </a:rPr>
              <a:t>Weights are the wrong level.
Can we optimize prompts auto­matically?</a:t>
            </a:r>
          </a:p>
        </p:txBody>
      </p:sp>
      <p:sp>
        <p:nvSpPr>
          <p:cNvPr id="30" name="Right Arrow 24">
            <a:extLst>
              <a:ext uri="{FF2B5EF4-FFF2-40B4-BE49-F238E27FC236}">
                <a16:creationId xmlns:a16="http://schemas.microsoft.com/office/drawing/2014/main" id="{BF7523A9-CCE3-41B7-A0A0-E65FCCE72B65}"/>
              </a:ext>
            </a:extLst>
          </p:cNvPr>
          <p:cNvSpPr/>
          <p:nvPr/>
        </p:nvSpPr>
        <p:spPr>
          <a:xfrm>
            <a:off x="8682999" y="3638205"/>
            <a:ext cx="164592" cy="182880"/>
          </a:xfrm>
          <a:prstGeom prst="rightArrow">
            <a:avLst/>
          </a:prstGeom>
          <a:solidFill>
            <a:srgbClr val="E6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7DE156B-C44A-477E-9601-797E71124FDC}"/>
              </a:ext>
            </a:extLst>
          </p:cNvPr>
          <p:cNvSpPr/>
          <p:nvPr/>
        </p:nvSpPr>
        <p:spPr>
          <a:xfrm>
            <a:off x="8856735" y="2083726"/>
            <a:ext cx="2606040" cy="274320"/>
          </a:xfrm>
          <a:prstGeom prst="rect">
            <a:avLst/>
          </a:prstGeom>
          <a:solidFill>
            <a:srgbClr val="0F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HSE Sans"/>
              </a:rPr>
              <a:t>4. Auto-optimization exists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027332F-5431-46C3-9B79-7BFB02112165}"/>
              </a:ext>
            </a:extLst>
          </p:cNvPr>
          <p:cNvSpPr txBox="1"/>
          <p:nvPr/>
        </p:nvSpPr>
        <p:spPr>
          <a:xfrm>
            <a:off x="8929887" y="2431197"/>
            <a:ext cx="24597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2D69"/>
                </a:solidFill>
                <a:latin typeface="HSE Sans"/>
              </a:rPr>
              <a:t>Prompt optimizers show strong
gains — but not on agents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E6E0607-4B0D-4507-8AFF-82F5360A6FE3}"/>
              </a:ext>
            </a:extLst>
          </p:cNvPr>
          <p:cNvSpPr txBox="1"/>
          <p:nvPr/>
        </p:nvSpPr>
        <p:spPr>
          <a:xfrm>
            <a:off x="8929887" y="3287747"/>
            <a:ext cx="2459736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 err="1">
                <a:solidFill>
                  <a:srgbClr val="000000"/>
                </a:solidFill>
                <a:latin typeface="HSE Sans"/>
              </a:rPr>
              <a:t>DSPy</a:t>
            </a:r>
            <a:r>
              <a:rPr sz="1300" b="1" dirty="0">
                <a:solidFill>
                  <a:srgbClr val="000000"/>
                </a:solidFill>
                <a:latin typeface="HSE Sans"/>
              </a:rPr>
              <a:t>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(Khattab et al., 2023)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>  +5–46% on </a:t>
            </a:r>
            <a:r>
              <a:rPr sz="1300" b="0" dirty="0" err="1">
                <a:solidFill>
                  <a:srgbClr val="000000"/>
                </a:solidFill>
                <a:latin typeface="HSE Sans"/>
              </a:rPr>
              <a:t>HotPotQA</a:t>
            </a:r>
            <a:endParaRPr sz="1300" b="0" dirty="0">
              <a:solidFill>
                <a:srgbClr val="000000"/>
              </a:solidFill>
              <a:latin typeface="HSE Sans"/>
            </a:endParaRP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 err="1">
                <a:solidFill>
                  <a:srgbClr val="000000"/>
                </a:solidFill>
                <a:latin typeface="HSE Sans"/>
              </a:rPr>
              <a:t>TextGrad</a:t>
            </a:r>
            <a:r>
              <a:rPr sz="1300" b="1" dirty="0">
                <a:solidFill>
                  <a:srgbClr val="000000"/>
                </a:solidFill>
                <a:latin typeface="HSE Sans"/>
              </a:rPr>
              <a:t>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</a:t>
            </a:r>
            <a:r>
              <a:rPr sz="1300" b="0" dirty="0" err="1">
                <a:solidFill>
                  <a:srgbClr val="7F7F7F"/>
                </a:solidFill>
                <a:latin typeface="HSE Sans"/>
              </a:rPr>
              <a:t>Yuksekgonul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, 2024)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>  +20% </a:t>
            </a:r>
            <a:r>
              <a:rPr sz="1300" b="0" dirty="0" err="1">
                <a:solidFill>
                  <a:srgbClr val="000000"/>
                </a:solidFill>
                <a:latin typeface="HSE Sans"/>
              </a:rPr>
              <a:t>LeetCode</a:t>
            </a:r>
            <a:r>
              <a:rPr sz="1300" b="0" dirty="0">
                <a:solidFill>
                  <a:srgbClr val="000000"/>
                </a:solidFill>
                <a:latin typeface="HSE Sans"/>
              </a:rPr>
              <a:t>; Nature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 err="1">
                <a:solidFill>
                  <a:srgbClr val="000000"/>
                </a:solidFill>
                <a:latin typeface="HSE Sans"/>
              </a:rPr>
              <a:t>EvoPrompt</a:t>
            </a:r>
            <a:r>
              <a:rPr sz="1300" b="1" dirty="0">
                <a:solidFill>
                  <a:srgbClr val="000000"/>
                </a:solidFill>
                <a:latin typeface="HSE Sans"/>
              </a:rPr>
              <a:t>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(Guo et al., 2023)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>  +25% Big-Bench Hard</a:t>
            </a:r>
            <a:endParaRPr lang="en-US" sz="1300" b="0" dirty="0">
              <a:solidFill>
                <a:srgbClr val="000000"/>
              </a:solidFill>
              <a:latin typeface="HSE Sans"/>
            </a:endParaRP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lang="en-US" sz="1300" b="1" dirty="0">
                <a:solidFill>
                  <a:srgbClr val="000000"/>
                </a:solidFill>
                <a:latin typeface="HSE Sans"/>
              </a:rPr>
              <a:t>OPRO </a:t>
            </a:r>
            <a:r>
              <a:rPr lang="en-US" sz="1300" b="0" dirty="0">
                <a:solidFill>
                  <a:srgbClr val="7F7F7F"/>
                </a:solidFill>
                <a:latin typeface="HSE Sans"/>
              </a:rPr>
              <a:t>(Yang et al., 2023)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US" sz="1300" b="0" dirty="0">
                <a:solidFill>
                  <a:srgbClr val="000000"/>
                </a:solidFill>
                <a:latin typeface="HSE Sans"/>
              </a:rPr>
              <a:t>  +50% Big-Bench Hard</a:t>
            </a:r>
          </a:p>
        </p:txBody>
      </p:sp>
      <p:sp>
        <p:nvSpPr>
          <p:cNvPr id="34" name="Rounded Rectangle 28">
            <a:extLst>
              <a:ext uri="{FF2B5EF4-FFF2-40B4-BE49-F238E27FC236}">
                <a16:creationId xmlns:a16="http://schemas.microsoft.com/office/drawing/2014/main" id="{098D38BE-FE13-4B0E-A710-22EE5BC4B1F8}"/>
              </a:ext>
            </a:extLst>
          </p:cNvPr>
          <p:cNvSpPr/>
          <p:nvPr/>
        </p:nvSpPr>
        <p:spPr>
          <a:xfrm>
            <a:off x="8875023" y="5598367"/>
            <a:ext cx="2514600" cy="762318"/>
          </a:xfrm>
          <a:prstGeom prst="roundRect">
            <a:avLst>
              <a:gd name="adj" fmla="val 0"/>
            </a:avLst>
          </a:prstGeom>
          <a:solidFill>
            <a:srgbClr val="F0F0F5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 dirty="0">
                <a:solidFill>
                  <a:srgbClr val="0F2D69"/>
                </a:solidFill>
                <a:latin typeface="HSE Sans"/>
              </a:rPr>
              <a:t>Tools exist, benchmarks exist,
but the two have not met.</a:t>
            </a:r>
          </a:p>
        </p:txBody>
      </p:sp>
    </p:spTree>
    <p:extLst>
      <p:ext uri="{BB962C8B-B14F-4D97-AF65-F5344CB8AC3E}">
        <p14:creationId xmlns:p14="http://schemas.microsoft.com/office/powerpoint/2010/main" val="32627959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101679C-8ED8-4ACD-88D1-47C008EE8CF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974" y="4254759"/>
            <a:ext cx="11251483" cy="2368399"/>
          </a:xfrm>
          <a:prstGeom prst="rect">
            <a:avLst/>
          </a:prstGeom>
        </p:spPr>
      </p:pic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6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4" y="3607048"/>
            <a:ext cx="10132991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Dataset: industry-standard benchmark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Automatically Evolving Multi-Turn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>Customer Service AI Agents via Prompt-Level Distillation </a:t>
            </a:r>
            <a:r>
              <a:rPr lang="en-US" sz="1000" i="1" dirty="0">
                <a:latin typeface="HSE Sans" panose="02000000000000000000" pitchFamily="2" charset="0"/>
              </a:rPr>
              <a:t>(project)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Methodology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F89183-FF3F-4F04-831A-FB2518E41D09}"/>
              </a:ext>
            </a:extLst>
          </p:cNvPr>
          <p:cNvSpPr txBox="1"/>
          <p:nvPr/>
        </p:nvSpPr>
        <p:spPr>
          <a:xfrm>
            <a:off x="552223" y="4069403"/>
            <a:ext cx="1125148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HSE Sans" panose="02000000000000000000"/>
              </a:rPr>
              <a:t>τ²-bench (2025): customer service automation agents with pre-existing prompts, no saturation, tool-calls, complex failure modes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3C8263D-9341-4CBB-9856-6F0B7DED2A7B}"/>
              </a:ext>
            </a:extLst>
          </p:cNvPr>
          <p:cNvSpPr txBox="1"/>
          <p:nvPr/>
        </p:nvSpPr>
        <p:spPr>
          <a:xfrm>
            <a:off x="489974" y="1312528"/>
            <a:ext cx="10132991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Models: open-source SOTA (to enable on-premises) 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graphicFrame>
        <p:nvGraphicFramePr>
          <p:cNvPr id="14" name="Table 0">
            <a:extLst>
              <a:ext uri="{FF2B5EF4-FFF2-40B4-BE49-F238E27FC236}">
                <a16:creationId xmlns:a16="http://schemas.microsoft.com/office/drawing/2014/main" id="{BA5E21A8-6A78-4ABA-9E60-14F64A6BB1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8757748"/>
              </p:ext>
            </p:extLst>
          </p:nvPr>
        </p:nvGraphicFramePr>
        <p:xfrm>
          <a:off x="552222" y="1897358"/>
          <a:ext cx="9620477" cy="1447800"/>
        </p:xfrm>
        <a:graphic>
          <a:graphicData uri="http://schemas.openxmlformats.org/drawingml/2006/table">
            <a:tbl>
              <a:tblPr/>
              <a:tblGrid>
                <a:gridCol w="19240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723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40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490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HSE Sans" panose="02000000000000000000"/>
                        </a:rPr>
                        <a:t>Role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HSE Sans" panose="02000000000000000000"/>
                        </a:rPr>
                        <a:t>Model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HSE Sans" panose="02000000000000000000"/>
                        </a:rPr>
                        <a:t>Rationale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489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Student 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Qwen3 30B-A3B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Cost-efficient MoE; headroom to frontier, non-thinking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489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Student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Qwen3.5 Flash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SOTA </a:t>
                      </a:r>
                      <a:r>
                        <a:rPr lang="en-US" sz="1300" dirty="0" err="1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Qwen</a:t>
                      </a: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 at the time, non-thinking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489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Student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GLM 4.7 Flash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Different arch family, comparable benchmarks results, non-thinking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489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Teacher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Kimi K2.5 (~1T </a:t>
                      </a:r>
                      <a:r>
                        <a:rPr lang="en-US" sz="1300" dirty="0" err="1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MoE</a:t>
                      </a: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)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Frontier reasoning, thinking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50752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8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638335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We had a teacher look at each error, fix it, then merge its fixes into global prompt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Automatically Evolving Multi-Turn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>Customer Service AI Agents via Prompt-Level Distillation </a:t>
            </a:r>
            <a:r>
              <a:rPr lang="en-US" sz="1000" i="1" dirty="0">
                <a:latin typeface="HSE Sans" panose="02000000000000000000" pitchFamily="2" charset="0"/>
              </a:rPr>
              <a:t>(project)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Methodology</a:t>
            </a:r>
            <a:endParaRPr lang="ru-RU" sz="1000" dirty="0">
              <a:latin typeface="HSE Sans" panose="02000000000000000000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75DF7D-E4FD-405C-8918-25F9F87D16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093" y="3061742"/>
            <a:ext cx="10437845" cy="148977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06EF1C8-3124-4CAC-92F2-F88BE4E929A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465" y="4730448"/>
            <a:ext cx="10437845" cy="1579411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6934D28-8100-4772-8306-28E5A123F7E5}"/>
              </a:ext>
            </a:extLst>
          </p:cNvPr>
          <p:cNvCxnSpPr/>
          <p:nvPr/>
        </p:nvCxnSpPr>
        <p:spPr>
          <a:xfrm>
            <a:off x="6811347" y="3671618"/>
            <a:ext cx="0" cy="10450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BD58DCC-D326-4F5D-8F6D-4513325225A0}"/>
              </a:ext>
            </a:extLst>
          </p:cNvPr>
          <p:cNvSpPr/>
          <p:nvPr/>
        </p:nvSpPr>
        <p:spPr>
          <a:xfrm>
            <a:off x="690464" y="4730448"/>
            <a:ext cx="10705709" cy="1663189"/>
          </a:xfrm>
          <a:prstGeom prst="roundRect">
            <a:avLst>
              <a:gd name="adj" fmla="val 0"/>
            </a:avLst>
          </a:prstGeom>
          <a:noFill/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08D13B5-EB04-4819-9788-EA5500A89756}"/>
              </a:ext>
            </a:extLst>
          </p:cNvPr>
          <p:cNvSpPr txBox="1"/>
          <p:nvPr/>
        </p:nvSpPr>
        <p:spPr>
          <a:xfrm>
            <a:off x="8187022" y="3058671"/>
            <a:ext cx="329107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3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Outer Loop (all tasks) </a:t>
            </a:r>
            <a:endParaRPr lang="en-US" sz="1300" dirty="0">
              <a:latin typeface="HSE Sans" panose="0200000000000000000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C1DF35F-161A-456D-B657-65B87C51D24F}"/>
              </a:ext>
            </a:extLst>
          </p:cNvPr>
          <p:cNvSpPr txBox="1"/>
          <p:nvPr/>
        </p:nvSpPr>
        <p:spPr>
          <a:xfrm>
            <a:off x="8105096" y="4756588"/>
            <a:ext cx="329107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3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Inner Loop (1 task)</a:t>
            </a:r>
            <a:endParaRPr lang="en-US" sz="1300" dirty="0">
              <a:latin typeface="HSE Sans" panose="0200000000000000000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C5F96DE-2DC0-404E-8368-B19AB25B1814}"/>
              </a:ext>
            </a:extLst>
          </p:cNvPr>
          <p:cNvSpPr txBox="1"/>
          <p:nvPr/>
        </p:nvSpPr>
        <p:spPr>
          <a:xfrm>
            <a:off x="690464" y="1938838"/>
            <a:ext cx="17354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1. Run benchmark</a:t>
            </a:r>
            <a:endParaRPr lang="en-US" sz="1600" dirty="0">
              <a:latin typeface="HSE Sans" panose="0200000000000000000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0BF9122-5D47-4C6F-9B9F-B37ADDCF3AA4}"/>
              </a:ext>
            </a:extLst>
          </p:cNvPr>
          <p:cNvSpPr txBox="1"/>
          <p:nvPr/>
        </p:nvSpPr>
        <p:spPr>
          <a:xfrm>
            <a:off x="2953073" y="1938838"/>
            <a:ext cx="17354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2. Find errors</a:t>
            </a:r>
            <a:endParaRPr lang="en-US" sz="1600" dirty="0">
              <a:latin typeface="HSE Sans" panose="0200000000000000000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6232C1-4DDC-4AD1-BA81-03F0920F7CA6}"/>
              </a:ext>
            </a:extLst>
          </p:cNvPr>
          <p:cNvSpPr txBox="1"/>
          <p:nvPr/>
        </p:nvSpPr>
        <p:spPr>
          <a:xfrm>
            <a:off x="4879780" y="1919015"/>
            <a:ext cx="21367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3. Try fixing each error</a:t>
            </a:r>
            <a:endParaRPr lang="en-US" sz="1600" dirty="0">
              <a:latin typeface="HSE Sans" panose="0200000000000000000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1EBAD2-CE40-4C8C-9DD9-933258981940}"/>
              </a:ext>
            </a:extLst>
          </p:cNvPr>
          <p:cNvSpPr txBox="1"/>
          <p:nvPr/>
        </p:nvSpPr>
        <p:spPr>
          <a:xfrm>
            <a:off x="7398915" y="1919015"/>
            <a:ext cx="21367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4. Merge fixes</a:t>
            </a:r>
            <a:endParaRPr lang="en-US" sz="1600" dirty="0">
              <a:latin typeface="HSE Sans" panose="0200000000000000000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1C3CF28-AC16-454F-B1C1-6C5BF741AFE1}"/>
              </a:ext>
            </a:extLst>
          </p:cNvPr>
          <p:cNvSpPr txBox="1"/>
          <p:nvPr/>
        </p:nvSpPr>
        <p:spPr>
          <a:xfrm>
            <a:off x="9470311" y="1944921"/>
            <a:ext cx="21367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5. Re-run benchmark</a:t>
            </a:r>
            <a:endParaRPr lang="en-US" sz="1600" dirty="0">
              <a:latin typeface="HSE Sans" panose="0200000000000000000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78B7672-0F74-4C50-A750-BF042AA53F9D}"/>
              </a:ext>
            </a:extLst>
          </p:cNvPr>
          <p:cNvCxnSpPr>
            <a:stCxn id="32" idx="3"/>
            <a:endCxn id="33" idx="1"/>
          </p:cNvCxnSpPr>
          <p:nvPr/>
        </p:nvCxnSpPr>
        <p:spPr>
          <a:xfrm>
            <a:off x="2425959" y="2108115"/>
            <a:ext cx="5271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54CBF1C-942F-4848-BEA3-A675EE7B26B3}"/>
              </a:ext>
            </a:extLst>
          </p:cNvPr>
          <p:cNvCxnSpPr/>
          <p:nvPr/>
        </p:nvCxnSpPr>
        <p:spPr>
          <a:xfrm>
            <a:off x="4275442" y="2081470"/>
            <a:ext cx="5271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802631D8-712D-4FCF-B554-2C06F83A65F0}"/>
              </a:ext>
            </a:extLst>
          </p:cNvPr>
          <p:cNvCxnSpPr/>
          <p:nvPr/>
        </p:nvCxnSpPr>
        <p:spPr>
          <a:xfrm>
            <a:off x="6871801" y="2102641"/>
            <a:ext cx="5271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4ABE306-FB42-47A5-88DB-251D6056750A}"/>
              </a:ext>
            </a:extLst>
          </p:cNvPr>
          <p:cNvCxnSpPr/>
          <p:nvPr/>
        </p:nvCxnSpPr>
        <p:spPr>
          <a:xfrm>
            <a:off x="8815679" y="2088292"/>
            <a:ext cx="5271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D89BD3F5-6227-4C47-AF67-1299072DDD4A}"/>
              </a:ext>
            </a:extLst>
          </p:cNvPr>
          <p:cNvSpPr/>
          <p:nvPr/>
        </p:nvSpPr>
        <p:spPr>
          <a:xfrm>
            <a:off x="489976" y="2967138"/>
            <a:ext cx="11058598" cy="3578900"/>
          </a:xfrm>
          <a:prstGeom prst="roundRect">
            <a:avLst>
              <a:gd name="adj" fmla="val 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2449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9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638335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A teacher could edit instruction, tool schema and build validators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Automatically Evolving Multi-Turn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>Customer Service AI Agents via Prompt-Level Distillation </a:t>
            </a:r>
            <a:r>
              <a:rPr lang="en-US" sz="1000" i="1" dirty="0">
                <a:latin typeface="HSE Sans" panose="02000000000000000000" pitchFamily="2" charset="0"/>
              </a:rPr>
              <a:t>(project)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Methodology</a:t>
            </a:r>
            <a:endParaRPr lang="ru-RU" sz="1000" dirty="0">
              <a:latin typeface="HSE Sans" panose="02000000000000000000" pitchFamily="2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1A7590-04E5-4F3E-8A13-3A73D3849A7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3941" y="2766829"/>
            <a:ext cx="8989927" cy="362680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5E9EECF-4CE6-4409-A839-961EEA931D33}"/>
              </a:ext>
            </a:extLst>
          </p:cNvPr>
          <p:cNvSpPr txBox="1"/>
          <p:nvPr/>
        </p:nvSpPr>
        <p:spPr>
          <a:xfrm>
            <a:off x="489239" y="1958884"/>
            <a:ext cx="432940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Benchmark evaluates task</a:t>
            </a:r>
          </a:p>
          <a:p>
            <a:pPr marL="342900" indent="-342900">
              <a:buAutoNum type="arabicPeriod"/>
            </a:pPr>
            <a:r>
              <a:rPr lang="en-US" dirty="0"/>
              <a:t>Benchmark classifies a mistake</a:t>
            </a:r>
          </a:p>
          <a:p>
            <a:pPr marL="342900" indent="-342900">
              <a:buAutoNum type="arabicPeriod"/>
            </a:pPr>
            <a:r>
              <a:rPr lang="en-US" dirty="0"/>
              <a:t>Benchmark gives Teacher the failure and its explanation</a:t>
            </a:r>
          </a:p>
          <a:p>
            <a:pPr marL="342900" indent="-342900">
              <a:buAutoNum type="arabicPeriod"/>
            </a:pPr>
            <a:r>
              <a:rPr lang="en-US" dirty="0"/>
              <a:t>Teacher calls tools to modify the Student</a:t>
            </a:r>
          </a:p>
          <a:p>
            <a:pPr marL="342900" indent="-342900">
              <a:buAutoNum type="arabicPeriod"/>
            </a:pPr>
            <a:r>
              <a:rPr lang="en-US" dirty="0"/>
              <a:t>Valid patches get applied</a:t>
            </a:r>
          </a:p>
          <a:p>
            <a:pPr marL="342900" indent="-342900">
              <a:buAutoNum type="arabicPeriod"/>
            </a:pPr>
            <a:r>
              <a:rPr lang="en-US" dirty="0"/>
              <a:t>Patched Student gets tested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51773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9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638335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We built an experimental UI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Automatically Evolving Multi-Turn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>Customer Service AI Agents via Prompt-Level Distillation </a:t>
            </a:r>
            <a:r>
              <a:rPr lang="en-US" sz="1000" i="1" dirty="0">
                <a:latin typeface="HSE Sans" panose="02000000000000000000" pitchFamily="2" charset="0"/>
              </a:rPr>
              <a:t>(project)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Methodology</a:t>
            </a:r>
            <a:endParaRPr lang="ru-RU" sz="1000" dirty="0">
              <a:latin typeface="HSE Sans" panose="02000000000000000000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A4F35B-7BD9-4CC4-A21B-92ABE8B786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975" y="2867194"/>
            <a:ext cx="5078078" cy="352644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F240C8A-D8BE-4B66-82A5-92FDF49430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0321" y="2204158"/>
            <a:ext cx="5908899" cy="15536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F5C459E-BF21-4B20-A26A-455684BB887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4069" t="11878" r="6194" b="12781"/>
          <a:stretch/>
        </p:blipFill>
        <p:spPr>
          <a:xfrm>
            <a:off x="5880322" y="4476254"/>
            <a:ext cx="5908899" cy="191738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95767753-86C5-4DD4-AC29-91931B1115CD}"/>
              </a:ext>
            </a:extLst>
          </p:cNvPr>
          <p:cNvSpPr txBox="1"/>
          <p:nvPr/>
        </p:nvSpPr>
        <p:spPr>
          <a:xfrm>
            <a:off x="489975" y="2440936"/>
            <a:ext cx="43294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20-task run summary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11C6B3E-DEB3-4D85-8ABD-4B5F9F5EABCD}"/>
              </a:ext>
            </a:extLst>
          </p:cNvPr>
          <p:cNvSpPr txBox="1"/>
          <p:nvPr/>
        </p:nvSpPr>
        <p:spPr>
          <a:xfrm>
            <a:off x="5809142" y="1816799"/>
            <a:ext cx="43294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LLM teacher generating a fix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694E254-AF74-431D-B062-A8451BC366BD}"/>
              </a:ext>
            </a:extLst>
          </p:cNvPr>
          <p:cNvSpPr txBox="1"/>
          <p:nvPr/>
        </p:nvSpPr>
        <p:spPr>
          <a:xfrm>
            <a:off x="5809142" y="4103381"/>
            <a:ext cx="43294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20-task over 3 sweeps result heatmap</a:t>
            </a:r>
          </a:p>
        </p:txBody>
      </p:sp>
    </p:spTree>
    <p:extLst>
      <p:ext uri="{BB962C8B-B14F-4D97-AF65-F5344CB8AC3E}">
        <p14:creationId xmlns:p14="http://schemas.microsoft.com/office/powerpoint/2010/main" val="35236039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10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638335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We have shown pass rate improvement on most student models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Automatically Evolving Multi-Turn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>Customer Service AI Agents via Prompt-Level Distillation </a:t>
            </a:r>
            <a:r>
              <a:rPr lang="en-US" sz="1000" i="1" dirty="0">
                <a:latin typeface="HSE Sans" panose="02000000000000000000" pitchFamily="2" charset="0"/>
              </a:rPr>
              <a:t>(project)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Results</a:t>
            </a:r>
            <a:endParaRPr lang="ru-RU" sz="1000" dirty="0">
              <a:latin typeface="HSE Sans" panose="02000000000000000000" pitchFamily="2" charset="0"/>
            </a:endParaRPr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ADA4585E-C6BD-44C7-B054-FDBB2B4F76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0003686"/>
              </p:ext>
            </p:extLst>
          </p:nvPr>
        </p:nvGraphicFramePr>
        <p:xfrm>
          <a:off x="563593" y="2511935"/>
          <a:ext cx="8869658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7094">
                  <a:extLst>
                    <a:ext uri="{9D8B030D-6E8A-4147-A177-3AD203B41FA5}">
                      <a16:colId xmlns:a16="http://schemas.microsoft.com/office/drawing/2014/main" val="2642438039"/>
                    </a:ext>
                  </a:extLst>
                </a:gridCol>
                <a:gridCol w="1267094">
                  <a:extLst>
                    <a:ext uri="{9D8B030D-6E8A-4147-A177-3AD203B41FA5}">
                      <a16:colId xmlns:a16="http://schemas.microsoft.com/office/drawing/2014/main" val="3769751419"/>
                    </a:ext>
                  </a:extLst>
                </a:gridCol>
                <a:gridCol w="1267094">
                  <a:extLst>
                    <a:ext uri="{9D8B030D-6E8A-4147-A177-3AD203B41FA5}">
                      <a16:colId xmlns:a16="http://schemas.microsoft.com/office/drawing/2014/main" val="1497278959"/>
                    </a:ext>
                  </a:extLst>
                </a:gridCol>
                <a:gridCol w="1267094">
                  <a:extLst>
                    <a:ext uri="{9D8B030D-6E8A-4147-A177-3AD203B41FA5}">
                      <a16:colId xmlns:a16="http://schemas.microsoft.com/office/drawing/2014/main" val="898981612"/>
                    </a:ext>
                  </a:extLst>
                </a:gridCol>
                <a:gridCol w="1267094">
                  <a:extLst>
                    <a:ext uri="{9D8B030D-6E8A-4147-A177-3AD203B41FA5}">
                      <a16:colId xmlns:a16="http://schemas.microsoft.com/office/drawing/2014/main" val="3944807663"/>
                    </a:ext>
                  </a:extLst>
                </a:gridCol>
                <a:gridCol w="1267094">
                  <a:extLst>
                    <a:ext uri="{9D8B030D-6E8A-4147-A177-3AD203B41FA5}">
                      <a16:colId xmlns:a16="http://schemas.microsoft.com/office/drawing/2014/main" val="2322091685"/>
                    </a:ext>
                  </a:extLst>
                </a:gridCol>
                <a:gridCol w="1267094">
                  <a:extLst>
                    <a:ext uri="{9D8B030D-6E8A-4147-A177-3AD203B41FA5}">
                      <a16:colId xmlns:a16="http://schemas.microsoft.com/office/drawing/2014/main" val="3371738985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lang="en-US" dirty="0"/>
                        <a:t>Model -&gt;</a:t>
                      </a: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Qwen</a:t>
                      </a:r>
                      <a:r>
                        <a:rPr lang="en-US" dirty="0"/>
                        <a:t> 30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0F2D69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Qwen</a:t>
                      </a:r>
                      <a:r>
                        <a:rPr lang="en-US" dirty="0"/>
                        <a:t> 3.5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0F2D69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GLM-4.7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0F2D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7367696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Task count</a:t>
                      </a:r>
                    </a:p>
                  </a:txBody>
                  <a:tcPr anchor="ctr">
                    <a:solidFill>
                      <a:srgbClr val="00498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Before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After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Before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After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Before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After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85036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US" dirty="0"/>
                        <a:t>5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53%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73%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100%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100%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47%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47%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7683740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27%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50%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60%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63%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40%</a:t>
                      </a:r>
                    </a:p>
                  </a:txBody>
                  <a:tcPr anchor="ctr">
                    <a:solidFill>
                      <a:srgbClr val="CD5A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413648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22%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30%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47%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58%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r"/>
                      <a:endParaRPr lang="en-US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547380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F280963-4ECC-4A52-AB74-BB75536E75DD}"/>
              </a:ext>
            </a:extLst>
          </p:cNvPr>
          <p:cNvSpPr txBox="1"/>
          <p:nvPr/>
        </p:nvSpPr>
        <p:spPr>
          <a:xfrm>
            <a:off x="489975" y="1880992"/>
            <a:ext cx="9204531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600" dirty="0"/>
              <a:t>We have been able to elicit performance improvement in most cases</a:t>
            </a:r>
          </a:p>
        </p:txBody>
      </p:sp>
    </p:spTree>
    <p:extLst>
      <p:ext uri="{BB962C8B-B14F-4D97-AF65-F5344CB8AC3E}">
        <p14:creationId xmlns:p14="http://schemas.microsoft.com/office/powerpoint/2010/main" val="29593490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11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638335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We can automatically fix some tasks; others prove resistant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Automatically Evolving Multi-Turn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>Customer Service AI Agents via Prompt-Level Distillation </a:t>
            </a:r>
            <a:r>
              <a:rPr lang="en-US" sz="1000" i="1" dirty="0">
                <a:latin typeface="HSE Sans" panose="02000000000000000000" pitchFamily="2" charset="0"/>
              </a:rPr>
              <a:t>(project)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Results</a:t>
            </a:r>
            <a:endParaRPr lang="ru-RU" sz="1000" dirty="0">
              <a:latin typeface="HSE Sans" panose="02000000000000000000" pitchFamily="2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D2F5A82-4A6D-4572-9A8D-053713AD5F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7760247"/>
              </p:ext>
            </p:extLst>
          </p:nvPr>
        </p:nvGraphicFramePr>
        <p:xfrm>
          <a:off x="493774" y="1920239"/>
          <a:ext cx="4474209" cy="47324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50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50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79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50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79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250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797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32176">
                <a:tc>
                  <a:txBody>
                    <a:bodyPr/>
                    <a:lstStyle/>
                    <a:p>
                      <a:pPr algn="ctr"/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27432" marR="27432" marT="9144" marB="9144">
                    <a:solidFill>
                      <a:srgbClr val="0F2D69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chemeClr val="bg1"/>
                          </a:solidFill>
                          <a:latin typeface="HSE Sans"/>
                        </a:rPr>
                        <a:t>Qwen3 30B-A3B</a:t>
                      </a:r>
                    </a:p>
                  </a:txBody>
                  <a:tcPr marL="27432" marR="27432" marT="9144" marB="9144">
                    <a:solidFill>
                      <a:srgbClr val="0F2D69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marL="27432" marR="27432" marT="9144" marB="9144">
                    <a:solidFill>
                      <a:srgbClr val="F5C3C3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chemeClr val="bg1"/>
                          </a:solidFill>
                          <a:latin typeface="HSE Sans"/>
                        </a:rPr>
                        <a:t>Qwen3.5 Flash</a:t>
                      </a:r>
                    </a:p>
                  </a:txBody>
                  <a:tcPr marL="27432" marR="27432" marT="9144" marB="9144">
                    <a:solidFill>
                      <a:srgbClr val="0F2D69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marL="27432" marR="27432" marT="9144" marB="9144">
                    <a:solidFill>
                      <a:srgbClr val="F5C3C3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chemeClr val="bg1"/>
                          </a:solidFill>
                          <a:latin typeface="HSE Sans"/>
                        </a:rPr>
                        <a:t>GLM 4.7 Flash</a:t>
                      </a:r>
                    </a:p>
                  </a:txBody>
                  <a:tcPr marL="27432" marR="27432" marT="9144" marB="9144">
                    <a:solidFill>
                      <a:srgbClr val="0F2D69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marL="27432" marR="27432" marT="9144" marB="9144">
                    <a:solidFill>
                      <a:srgbClr val="F5C3C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2176"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chemeClr val="bg1"/>
                          </a:solidFill>
                          <a:latin typeface="HSE Sans"/>
                        </a:rPr>
                        <a:t>Task</a:t>
                      </a:r>
                    </a:p>
                  </a:txBody>
                  <a:tcPr marL="27432" marR="27432" marT="9144" marB="9144" anchor="ctr">
                    <a:solidFill>
                      <a:srgbClr val="0F2D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chemeClr val="bg1"/>
                          </a:solidFill>
                          <a:latin typeface="HSE Sans"/>
                        </a:rPr>
                        <a:t>Base</a:t>
                      </a:r>
                    </a:p>
                  </a:txBody>
                  <a:tcPr marL="27432" marR="27432" marT="9144" marB="9144" anchor="ctr">
                    <a:solidFill>
                      <a:srgbClr val="0F2D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dirty="0">
                          <a:solidFill>
                            <a:schemeClr val="bg1"/>
                          </a:solidFill>
                          <a:latin typeface="HSE Sans"/>
                        </a:rPr>
                        <a:t>Evolved</a:t>
                      </a:r>
                      <a:endParaRPr sz="1300" b="0" dirty="0">
                        <a:solidFill>
                          <a:schemeClr val="bg1"/>
                        </a:solidFill>
                        <a:latin typeface="HSE Sans"/>
                      </a:endParaRPr>
                    </a:p>
                  </a:txBody>
                  <a:tcPr marL="27432" marR="27432" marT="9144" marB="9144" anchor="ctr">
                    <a:solidFill>
                      <a:srgbClr val="0F2D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chemeClr val="bg1"/>
                          </a:solidFill>
                          <a:latin typeface="HSE Sans"/>
                        </a:rPr>
                        <a:t>Base</a:t>
                      </a:r>
                    </a:p>
                  </a:txBody>
                  <a:tcPr marL="27432" marR="27432" marT="9144" marB="9144" anchor="ctr">
                    <a:solidFill>
                      <a:srgbClr val="0F2D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dirty="0">
                          <a:solidFill>
                            <a:schemeClr val="bg1"/>
                          </a:solidFill>
                          <a:latin typeface="HSE Sans"/>
                        </a:rPr>
                        <a:t>Evolved</a:t>
                      </a:r>
                      <a:endParaRPr sz="1300" b="0" dirty="0">
                        <a:solidFill>
                          <a:schemeClr val="bg1"/>
                        </a:solidFill>
                        <a:latin typeface="HSE Sans"/>
                      </a:endParaRPr>
                    </a:p>
                  </a:txBody>
                  <a:tcPr marL="27432" marR="27432" marT="9144" marB="9144" anchor="ctr">
                    <a:solidFill>
                      <a:srgbClr val="0F2D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chemeClr val="bg1"/>
                          </a:solidFill>
                          <a:latin typeface="HSE Sans"/>
                        </a:rPr>
                        <a:t>Base</a:t>
                      </a:r>
                    </a:p>
                  </a:txBody>
                  <a:tcPr marL="27432" marR="27432" marT="9144" marB="9144" anchor="ctr">
                    <a:solidFill>
                      <a:srgbClr val="0F2D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dirty="0">
                          <a:solidFill>
                            <a:schemeClr val="bg1"/>
                          </a:solidFill>
                          <a:latin typeface="HSE Sans"/>
                        </a:rPr>
                        <a:t>Evolved</a:t>
                      </a:r>
                      <a:endParaRPr sz="1300" b="0" dirty="0">
                        <a:solidFill>
                          <a:schemeClr val="bg1"/>
                        </a:solidFill>
                        <a:latin typeface="HSE Sans"/>
                      </a:endParaRPr>
                    </a:p>
                  </a:txBody>
                  <a:tcPr marL="27432" marR="27432" marT="9144" marB="9144" anchor="ctr">
                    <a:solidFill>
                      <a:srgbClr val="0F2D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000000"/>
                          </a:solidFill>
                          <a:latin typeface="HSE Sans"/>
                        </a:rPr>
                        <a:t>0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1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3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4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5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7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9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10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11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12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14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15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17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20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21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23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27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28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33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3431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34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3964AC9A-3493-42FC-AC64-A65F01F04857}"/>
              </a:ext>
            </a:extLst>
          </p:cNvPr>
          <p:cNvSpPr txBox="1"/>
          <p:nvPr/>
        </p:nvSpPr>
        <p:spPr>
          <a:xfrm>
            <a:off x="5195362" y="1920239"/>
            <a:ext cx="650286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1200"/>
              </a:spcAft>
              <a:buAutoNum type="arabicPeriod"/>
            </a:pPr>
            <a:r>
              <a:rPr lang="en-US" sz="1600" dirty="0"/>
              <a:t>Many tasks are fully resistant to prompt modification. This implies that we hit model reasoning capability ceiling</a:t>
            </a:r>
          </a:p>
          <a:p>
            <a:pPr marL="342900" indent="-342900">
              <a:spcAft>
                <a:spcPts val="1200"/>
              </a:spcAft>
              <a:buAutoNum type="arabicPeriod"/>
            </a:pPr>
            <a:r>
              <a:rPr lang="en-US" sz="1600" dirty="0"/>
              <a:t>Most fixes are powered by instruction (reward hacking is prevented). Guardrail fixes are mostly applied at later stages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F6FB1A5-F309-4168-B1DC-D1A1A869E3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7159" y="3506756"/>
            <a:ext cx="4664036" cy="3071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80426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12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638335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The more tasks, the lower the fix rate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Automatically Evolving Multi-Turn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>Customer Service AI Agents via Prompt-Level Distillation </a:t>
            </a:r>
            <a:r>
              <a:rPr lang="en-US" sz="1000" i="1" dirty="0">
                <a:latin typeface="HSE Sans" panose="02000000000000000000" pitchFamily="2" charset="0"/>
              </a:rPr>
              <a:t>(project)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Results</a:t>
            </a:r>
            <a:endParaRPr lang="ru-RU" sz="1000" dirty="0">
              <a:latin typeface="HSE Sans" panose="02000000000000000000" pitchFamily="2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8921C23F-499B-4858-99AC-A0A891A69ED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4976" y="2358141"/>
            <a:ext cx="2715597" cy="1508665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68DD533F-F488-4075-A897-BDE3F326BDB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87467" y="2358141"/>
            <a:ext cx="2715598" cy="1508666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33CE741F-5D19-4324-AFAA-DD0FBB174BF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79959" y="2358046"/>
            <a:ext cx="2715768" cy="1508760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CA4A1956-CC09-434B-B364-70F8E3199610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394805" y="5176462"/>
            <a:ext cx="2715768" cy="1508760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F175FDCE-135B-486C-99F7-DE8BDEE4020C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187297" y="5178237"/>
            <a:ext cx="2715768" cy="1508760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259F40D0-3F8A-4B7E-9652-623E549CB442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87297" y="3768142"/>
            <a:ext cx="2715768" cy="1508760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D4C283B1-E7E8-427B-9E6E-818A92BF2B3C}"/>
              </a:ext>
            </a:extLst>
          </p:cNvPr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979789" y="3768142"/>
            <a:ext cx="2715768" cy="150876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996930FA-D289-40D0-8194-E99C7EE74483}"/>
              </a:ext>
            </a:extLst>
          </p:cNvPr>
          <p:cNvSpPr txBox="1"/>
          <p:nvPr/>
        </p:nvSpPr>
        <p:spPr>
          <a:xfrm>
            <a:off x="9288731" y="5599351"/>
            <a:ext cx="2286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 tested due to continuous regression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1D8B828-CFC2-4E7E-8E9F-C7F81CC7C391}"/>
              </a:ext>
            </a:extLst>
          </p:cNvPr>
          <p:cNvSpPr txBox="1"/>
          <p:nvPr/>
        </p:nvSpPr>
        <p:spPr>
          <a:xfrm>
            <a:off x="3712326" y="4189350"/>
            <a:ext cx="2286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Nothing to fix; </a:t>
            </a:r>
            <a:br>
              <a:rPr lang="en-US" dirty="0"/>
            </a:br>
            <a:r>
              <a:rPr lang="en-US" dirty="0"/>
              <a:t>all green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4254EBD-80CA-4510-B0CC-B45047A5C6A3}"/>
              </a:ext>
            </a:extLst>
          </p:cNvPr>
          <p:cNvSpPr txBox="1"/>
          <p:nvPr/>
        </p:nvSpPr>
        <p:spPr>
          <a:xfrm>
            <a:off x="3922206" y="2074913"/>
            <a:ext cx="186623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3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5 tasks</a:t>
            </a:r>
            <a:endParaRPr lang="en-US" sz="1400" dirty="0">
              <a:latin typeface="HSE Sans" panose="0200000000000000000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4E7252D-35AF-48CA-B622-596CFEF13FDC}"/>
              </a:ext>
            </a:extLst>
          </p:cNvPr>
          <p:cNvSpPr txBox="1"/>
          <p:nvPr/>
        </p:nvSpPr>
        <p:spPr>
          <a:xfrm>
            <a:off x="6730720" y="2074913"/>
            <a:ext cx="186623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3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10 tasks</a:t>
            </a:r>
            <a:endParaRPr lang="en-US" sz="1400" dirty="0">
              <a:latin typeface="HSE Sans" panose="0200000000000000000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A58E4D-1969-44F9-A006-EFEFCEDADBBA}"/>
              </a:ext>
            </a:extLst>
          </p:cNvPr>
          <p:cNvSpPr txBox="1"/>
          <p:nvPr/>
        </p:nvSpPr>
        <p:spPr>
          <a:xfrm>
            <a:off x="9498611" y="2074913"/>
            <a:ext cx="186623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3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20 tasks</a:t>
            </a:r>
            <a:endParaRPr lang="en-US" sz="1400" dirty="0">
              <a:latin typeface="HSE Sans" panose="0200000000000000000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62990E4-409C-4AF2-BCF4-3759A2A333EB}"/>
              </a:ext>
            </a:extLst>
          </p:cNvPr>
          <p:cNvSpPr txBox="1"/>
          <p:nvPr/>
        </p:nvSpPr>
        <p:spPr>
          <a:xfrm rot="16200000">
            <a:off x="2345879" y="2940066"/>
            <a:ext cx="186623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300" dirty="0" err="1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Qwen</a:t>
            </a:r>
            <a:r>
              <a:rPr lang="en-US" sz="13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 3</a:t>
            </a:r>
            <a:endParaRPr lang="en-US" sz="1400" dirty="0">
              <a:latin typeface="HSE Sans" panose="0200000000000000000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66FFBF-3C7B-48BB-B38B-AB584F32DD93}"/>
              </a:ext>
            </a:extLst>
          </p:cNvPr>
          <p:cNvSpPr txBox="1"/>
          <p:nvPr/>
        </p:nvSpPr>
        <p:spPr>
          <a:xfrm rot="16200000">
            <a:off x="2340653" y="4386307"/>
            <a:ext cx="186623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300" dirty="0" err="1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Qwen</a:t>
            </a:r>
            <a:r>
              <a:rPr lang="en-US" sz="13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 3.5</a:t>
            </a:r>
            <a:endParaRPr lang="en-US" sz="1400" dirty="0">
              <a:latin typeface="HSE Sans" panose="0200000000000000000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A40C63E-EEF1-4B91-945F-7912B60681A2}"/>
              </a:ext>
            </a:extLst>
          </p:cNvPr>
          <p:cNvSpPr txBox="1"/>
          <p:nvPr/>
        </p:nvSpPr>
        <p:spPr>
          <a:xfrm rot="16200000">
            <a:off x="2358767" y="5762716"/>
            <a:ext cx="186623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3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GLM 4.7</a:t>
            </a:r>
            <a:endParaRPr lang="en-US" sz="1400" dirty="0">
              <a:latin typeface="HSE Sans" panose="0200000000000000000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F6CD6AE-E372-495E-A90C-91A8875C7BA8}"/>
              </a:ext>
            </a:extLst>
          </p:cNvPr>
          <p:cNvSpPr txBox="1"/>
          <p:nvPr/>
        </p:nvSpPr>
        <p:spPr>
          <a:xfrm>
            <a:off x="288946" y="2575221"/>
            <a:ext cx="2649661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1200"/>
              </a:spcAft>
              <a:buAutoNum type="arabicPeriod"/>
            </a:pPr>
            <a:r>
              <a:rPr lang="en-US" sz="1600" dirty="0">
                <a:latin typeface="HSE Sans" panose="02000000000000000000"/>
              </a:rPr>
              <a:t>Some models just can’t get any benefits from prompt tuning – e.g. GLM 4.7</a:t>
            </a:r>
          </a:p>
          <a:p>
            <a:pPr marL="342900" indent="-342900">
              <a:spcAft>
                <a:spcPts val="1200"/>
              </a:spcAft>
              <a:buAutoNum type="arabicPeriod"/>
            </a:pPr>
            <a:r>
              <a:rPr lang="en-US" sz="1600" dirty="0">
                <a:latin typeface="HSE Sans" panose="02000000000000000000"/>
              </a:rPr>
              <a:t>All models poorly retain of pass rate improvement - sweep 1 has 100% fix rate, only half persist to sweep 3</a:t>
            </a:r>
          </a:p>
          <a:p>
            <a:pPr marL="342900" indent="-342900">
              <a:spcAft>
                <a:spcPts val="1200"/>
              </a:spcAft>
              <a:buAutoNum type="arabicPeriod"/>
            </a:pPr>
            <a:r>
              <a:rPr lang="en-US" sz="1600" dirty="0">
                <a:latin typeface="HSE Sans" panose="02000000000000000000"/>
              </a:rPr>
              <a:t>The stronger the model, the more it retains -&gt; </a:t>
            </a:r>
            <a:r>
              <a:rPr lang="en-US" sz="1600" dirty="0" err="1">
                <a:latin typeface="HSE Sans" panose="02000000000000000000"/>
              </a:rPr>
              <a:t>Qwen</a:t>
            </a:r>
            <a:r>
              <a:rPr lang="en-US" sz="1600" dirty="0">
                <a:latin typeface="HSE Sans" panose="02000000000000000000"/>
              </a:rPr>
              <a:t> 3.5 is superior to </a:t>
            </a:r>
            <a:r>
              <a:rPr lang="en-US" sz="1600" dirty="0" err="1">
                <a:latin typeface="HSE Sans" panose="02000000000000000000"/>
              </a:rPr>
              <a:t>Qwen</a:t>
            </a:r>
            <a:r>
              <a:rPr lang="en-US" sz="1600" dirty="0">
                <a:latin typeface="HSE Sans" panose="02000000000000000000"/>
              </a:rPr>
              <a:t> 3</a:t>
            </a:r>
          </a:p>
        </p:txBody>
      </p:sp>
    </p:spTree>
    <p:extLst>
      <p:ext uri="{BB962C8B-B14F-4D97-AF65-F5344CB8AC3E}">
        <p14:creationId xmlns:p14="http://schemas.microsoft.com/office/powerpoint/2010/main" val="14642767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13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Automatically Evolving Multi-Turn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>Customer Service AI Agents via Prompt-Level Distillation </a:t>
            </a:r>
            <a:r>
              <a:rPr lang="en-US" sz="1000" i="1" dirty="0">
                <a:latin typeface="HSE Sans" panose="02000000000000000000" pitchFamily="2" charset="0"/>
              </a:rPr>
              <a:t>(project)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Results</a:t>
            </a:r>
            <a:endParaRPr lang="ru-RU" sz="1000" dirty="0">
              <a:latin typeface="HSE Sans" panose="02000000000000000000" pitchFamily="2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9052E7-6CAB-4EA8-A835-A602925E49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8457" y="3033043"/>
            <a:ext cx="6252811" cy="316724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CB99004-B94F-495E-955A-E9F95DDECF4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6701"/>
          <a:stretch/>
        </p:blipFill>
        <p:spPr>
          <a:xfrm>
            <a:off x="627176" y="3009025"/>
            <a:ext cx="4622690" cy="3191262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94D0CAB6-41CF-4678-93D7-DC68675F421E}"/>
              </a:ext>
            </a:extLst>
          </p:cNvPr>
          <p:cNvSpPr txBox="1"/>
          <p:nvPr/>
        </p:nvSpPr>
        <p:spPr>
          <a:xfrm>
            <a:off x="489975" y="1396903"/>
            <a:ext cx="10638335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Automatic agent alignment is to save up to $2M in labor over a year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6086D5F-5F36-470D-8EF9-80872642B7AB}"/>
              </a:ext>
            </a:extLst>
          </p:cNvPr>
          <p:cNvSpPr txBox="1"/>
          <p:nvPr/>
        </p:nvSpPr>
        <p:spPr>
          <a:xfrm>
            <a:off x="627176" y="2385093"/>
            <a:ext cx="46226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Eliminating several hours of labor per each fix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4519D87-D724-4FC2-B7A3-F2E129773B2E}"/>
              </a:ext>
            </a:extLst>
          </p:cNvPr>
          <p:cNvSpPr txBox="1"/>
          <p:nvPr/>
        </p:nvSpPr>
        <p:spPr>
          <a:xfrm>
            <a:off x="6094446" y="2390880"/>
            <a:ext cx="609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333333"/>
                </a:solidFill>
                <a:latin typeface="HSE Sans" panose="02000000000000000000"/>
                <a:cs typeface="Arial" pitchFamily="34" charset="-120"/>
              </a:rPr>
              <a:t>Enables the company to scale without additional hiring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78056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fig_roadmap.png">
            <a:extLst>
              <a:ext uri="{FF2B5EF4-FFF2-40B4-BE49-F238E27FC236}">
                <a16:creationId xmlns:a16="http://schemas.microsoft.com/office/drawing/2014/main" id="{75833507-1185-4648-A43E-642CE3CEE1B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8957" t="21467" r="3773" b="46895"/>
          <a:stretch/>
        </p:blipFill>
        <p:spPr>
          <a:xfrm>
            <a:off x="449727" y="1858568"/>
            <a:ext cx="11583386" cy="197048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E1866C7-E252-4A73-BB0B-05221027DD4A}"/>
              </a:ext>
            </a:extLst>
          </p:cNvPr>
          <p:cNvSpPr txBox="1"/>
          <p:nvPr/>
        </p:nvSpPr>
        <p:spPr>
          <a:xfrm>
            <a:off x="489975" y="1396903"/>
            <a:ext cx="11082900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We have rolled out a fixing system for 2 enterprise customers and 7 account executives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67968A-5434-4CA8-98EE-E7DFBF171BF5}"/>
              </a:ext>
            </a:extLst>
          </p:cNvPr>
          <p:cNvSpPr txBox="1"/>
          <p:nvPr/>
        </p:nvSpPr>
        <p:spPr>
          <a:xfrm>
            <a:off x="600075" y="3914775"/>
            <a:ext cx="31527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Demonstrated in this thesis</a:t>
            </a:r>
          </a:p>
          <a:p>
            <a:pPr marL="285750" indent="-285750">
              <a:buFontTx/>
              <a:buChar char="-"/>
            </a:pPr>
            <a:r>
              <a:rPr lang="en-US" dirty="0"/>
              <a:t>Discovered what works and caveats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D75825-BF2C-4685-A30A-993F1844C1EC}"/>
              </a:ext>
            </a:extLst>
          </p:cNvPr>
          <p:cNvSpPr txBox="1"/>
          <p:nvPr/>
        </p:nvSpPr>
        <p:spPr>
          <a:xfrm>
            <a:off x="4371975" y="3914775"/>
            <a:ext cx="31527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Testing fixes of issues submitted by real users</a:t>
            </a:r>
          </a:p>
          <a:p>
            <a:pPr marL="285750" indent="-285750">
              <a:buFontTx/>
              <a:buChar char="-"/>
            </a:pPr>
            <a:r>
              <a:rPr lang="en-US" dirty="0"/>
              <a:t>Verification by admins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AE8260-747C-4325-AB34-5A4BF33D777D}"/>
              </a:ext>
            </a:extLst>
          </p:cNvPr>
          <p:cNvSpPr txBox="1"/>
          <p:nvPr/>
        </p:nvSpPr>
        <p:spPr>
          <a:xfrm>
            <a:off x="8248650" y="3914775"/>
            <a:ext cx="31527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Eliminate verification</a:t>
            </a:r>
          </a:p>
          <a:p>
            <a:pPr marL="285750" indent="-285750">
              <a:buFontTx/>
              <a:buChar char="-"/>
            </a:pPr>
            <a:r>
              <a:rPr lang="en-US" dirty="0"/>
              <a:t>Connect end users and teachers directly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2D340E-3434-4930-8F5A-A693526C9B64}"/>
              </a:ext>
            </a:extLst>
          </p:cNvPr>
          <p:cNvSpPr txBox="1"/>
          <p:nvPr/>
        </p:nvSpPr>
        <p:spPr>
          <a:xfrm>
            <a:off x="4106267" y="5151832"/>
            <a:ext cx="3501000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pPr algn="ctr"/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We are here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2B25DD1-DAF8-4EFD-B20C-712CEE01E5A7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5856767" y="4895850"/>
            <a:ext cx="0" cy="25598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9">
            <a:extLst>
              <a:ext uri="{FF2B5EF4-FFF2-40B4-BE49-F238E27FC236}">
                <a16:creationId xmlns:a16="http://schemas.microsoft.com/office/drawing/2014/main" id="{F78EE5CE-F745-4CBB-AD21-9CF6D933E6BC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21">
            <a:extLst>
              <a:ext uri="{FF2B5EF4-FFF2-40B4-BE49-F238E27FC236}">
                <a16:creationId xmlns:a16="http://schemas.microsoft.com/office/drawing/2014/main" id="{5558DD7B-F860-4DF3-A3F1-AE87A802F7E3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25">
            <a:extLst>
              <a:ext uri="{FF2B5EF4-FFF2-40B4-BE49-F238E27FC236}">
                <a16:creationId xmlns:a16="http://schemas.microsoft.com/office/drawing/2014/main" id="{7434549B-E428-4D4F-AC09-D159B28F0031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CFE0A9A-8265-4AA6-A41A-4712279995A6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15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6" name="Straight Connector 13">
            <a:extLst>
              <a:ext uri="{FF2B5EF4-FFF2-40B4-BE49-F238E27FC236}">
                <a16:creationId xmlns:a16="http://schemas.microsoft.com/office/drawing/2014/main" id="{CF3AFA04-DE19-4819-BF8A-078EF876193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A1B9397-8F24-4B18-BD00-70DC8C92B757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Automatically Evolving Multi-Turn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>Customer Service AI Agents via Prompt-Level Distillation </a:t>
            </a:r>
            <a:r>
              <a:rPr lang="en-US" sz="1000" i="1" dirty="0">
                <a:latin typeface="HSE Sans" panose="02000000000000000000" pitchFamily="2" charset="0"/>
              </a:rPr>
              <a:t>(project)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86B6922-ED96-4054-B284-E0135B57FF77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Conclusion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11473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15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Automatically Evolving Multi-Turn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>Customer Service AI Agents via Prompt-Level Distillation </a:t>
            </a:r>
            <a:r>
              <a:rPr lang="en-US" sz="1000" i="1" dirty="0">
                <a:latin typeface="HSE Sans" panose="02000000000000000000" pitchFamily="2" charset="0"/>
              </a:rPr>
              <a:t>(project)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Conclusion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83E954F-FF62-4D8E-90F9-745DC0F2DED6}"/>
              </a:ext>
            </a:extLst>
          </p:cNvPr>
          <p:cNvSpPr txBox="1"/>
          <p:nvPr/>
        </p:nvSpPr>
        <p:spPr>
          <a:xfrm>
            <a:off x="489976" y="1396903"/>
            <a:ext cx="1880000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Limitations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F6FA68-446B-4CD6-9778-E6C2D54FF2D6}"/>
              </a:ext>
            </a:extLst>
          </p:cNvPr>
          <p:cNvSpPr txBox="1"/>
          <p:nvPr/>
        </p:nvSpPr>
        <p:spPr>
          <a:xfrm>
            <a:off x="6158118" y="1396903"/>
            <a:ext cx="1880000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Further Work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A4DF4B-876E-40E3-9A1A-52D4EF52B362}"/>
              </a:ext>
            </a:extLst>
          </p:cNvPr>
          <p:cNvSpPr txBox="1"/>
          <p:nvPr/>
        </p:nvSpPr>
        <p:spPr>
          <a:xfrm>
            <a:off x="489976" y="1968759"/>
            <a:ext cx="4660522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en-US" sz="1600" dirty="0"/>
              <a:t>Single domain tested; only 20 tasks x 3 trials</a:t>
            </a:r>
          </a:p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en-US" sz="1600" dirty="0"/>
              <a:t>Only OSS models</a:t>
            </a:r>
          </a:p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en-US" sz="1600" dirty="0"/>
              <a:t>No RLHF, </a:t>
            </a:r>
            <a:r>
              <a:rPr lang="en-US" sz="1600" dirty="0" err="1"/>
              <a:t>LoRA</a:t>
            </a:r>
            <a:r>
              <a:rPr lang="en-US" sz="1600" dirty="0"/>
              <a:t> comparisons</a:t>
            </a:r>
          </a:p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en-US" sz="1600" dirty="0"/>
              <a:t>Insufficient reliability: 73% pass rate &lt;&lt; 99.99%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209615-852C-4E94-8697-00AEC9A4EA5B}"/>
              </a:ext>
            </a:extLst>
          </p:cNvPr>
          <p:cNvSpPr txBox="1"/>
          <p:nvPr/>
        </p:nvSpPr>
        <p:spPr>
          <a:xfrm>
            <a:off x="6158118" y="1968759"/>
            <a:ext cx="4660522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en-US" sz="1600" dirty="0"/>
              <a:t>Vary teachers and students</a:t>
            </a:r>
          </a:p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en-US" sz="1600" dirty="0"/>
              <a:t>Compare against adapted GEPA &amp; others</a:t>
            </a:r>
          </a:p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en-US" sz="1600" dirty="0"/>
              <a:t>Multi-agent decomposition</a:t>
            </a:r>
          </a:p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en-US" sz="1600" dirty="0"/>
              <a:t>Test against other benchmarks</a:t>
            </a:r>
          </a:p>
        </p:txBody>
      </p:sp>
    </p:spTree>
    <p:extLst>
      <p:ext uri="{BB962C8B-B14F-4D97-AF65-F5344CB8AC3E}">
        <p14:creationId xmlns:p14="http://schemas.microsoft.com/office/powerpoint/2010/main" val="215918035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Try new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4986"/>
      </a:accent1>
      <a:accent2>
        <a:srgbClr val="004256"/>
      </a:accent2>
      <a:accent3>
        <a:srgbClr val="A5A5A5"/>
      </a:accent3>
      <a:accent4>
        <a:srgbClr val="500056"/>
      </a:accent4>
      <a:accent5>
        <a:srgbClr val="5B9BD5"/>
      </a:accent5>
      <a:accent6>
        <a:srgbClr val="864300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15971</TotalTime>
  <Words>1576</Words>
  <Application>Microsoft Office PowerPoint</Application>
  <PresentationFormat>Widescreen</PresentationFormat>
  <Paragraphs>401</Paragraphs>
  <Slides>16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Calibri Light</vt:lpstr>
      <vt:lpstr>HSE Sans</vt:lpstr>
      <vt:lpstr>Тема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Барабанова Мария Сергеевна</dc:creator>
  <cp:lastModifiedBy>Gleb</cp:lastModifiedBy>
  <cp:revision>75</cp:revision>
  <dcterms:created xsi:type="dcterms:W3CDTF">2021-12-23T09:05:15Z</dcterms:created>
  <dcterms:modified xsi:type="dcterms:W3CDTF">2026-04-14T19:22:38Z</dcterms:modified>
</cp:coreProperties>
</file>