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71" r:id="rId2"/>
    <p:sldId id="259" r:id="rId3"/>
    <p:sldId id="273" r:id="rId4"/>
    <p:sldId id="274" r:id="rId5"/>
    <p:sldId id="272" r:id="rId6"/>
    <p:sldId id="275" r:id="rId7"/>
    <p:sldId id="276" r:id="rId8"/>
    <p:sldId id="277" r:id="rId9"/>
    <p:sldId id="278" r:id="rId10"/>
    <p:sldId id="280" r:id="rId11"/>
    <p:sldId id="281" r:id="rId12"/>
    <p:sldId id="282" r:id="rId13"/>
    <p:sldId id="283" r:id="rId14"/>
    <p:sldId id="279" r:id="rId15"/>
    <p:sldId id="284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DD2"/>
    <a:srgbClr val="C8E6C9"/>
    <a:srgbClr val="0F2D69"/>
    <a:srgbClr val="E61E3C"/>
    <a:srgbClr val="234B9B"/>
    <a:srgbClr val="F5C3C3"/>
    <a:srgbClr val="CD5A5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209" autoAdjust="0"/>
  </p:normalViewPr>
  <p:slideViewPr>
    <p:cSldViewPr snapToGrid="0">
      <p:cViewPr varScale="1">
        <p:scale>
          <a:sx n="103" d="100"/>
          <a:sy n="103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C4D81D-654F-48DB-A33D-3E6F325A1010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93330-6B9A-4C0D-8499-7E41F0768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750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605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831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405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129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35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7963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0525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110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7325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307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346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2358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03399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440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90" y="417310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35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6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27" name="Рисунок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07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3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5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7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55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9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58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39BA1-5047-414E-8A3F-E19F7F2DED6E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3F6F1-63BF-4504-A93A-2FA8850D49A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408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2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Relationship Id="rId14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5B76545-6C8B-F946-9634-A413147AEE89}"/>
              </a:ext>
            </a:extLst>
          </p:cNvPr>
          <p:cNvSpPr txBox="1"/>
          <p:nvPr/>
        </p:nvSpPr>
        <p:spPr>
          <a:xfrm>
            <a:off x="5708404" y="614270"/>
            <a:ext cx="234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E Sans" panose="02000000000000000000" pitchFamily="2" charset="0"/>
              </a:rPr>
              <a:t>Business Analytics and Big Data Systems</a:t>
            </a:r>
          </a:p>
        </p:txBody>
      </p:sp>
      <p:cxnSp>
        <p:nvCxnSpPr>
          <p:cNvPr id="18" name="Straight Connector 48">
            <a:extLst>
              <a:ext uri="{FF2B5EF4-FFF2-40B4-BE49-F238E27FC236}">
                <a16:creationId xmlns:a16="http://schemas.microsoft.com/office/drawing/2014/main" id="{46457941-DFD6-9241-8BB6-CA0A3EDA88BB}"/>
              </a:ext>
            </a:extLst>
          </p:cNvPr>
          <p:cNvCxnSpPr>
            <a:cxnSpLocks/>
          </p:cNvCxnSpPr>
          <p:nvPr/>
        </p:nvCxnSpPr>
        <p:spPr>
          <a:xfrm>
            <a:off x="5649835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50">
            <a:extLst>
              <a:ext uri="{FF2B5EF4-FFF2-40B4-BE49-F238E27FC236}">
                <a16:creationId xmlns:a16="http://schemas.microsoft.com/office/drawing/2014/main" id="{AB235920-EBA7-1044-AF40-A268EBD25FF0}"/>
              </a:ext>
            </a:extLst>
          </p:cNvPr>
          <p:cNvCxnSpPr>
            <a:cxnSpLocks/>
          </p:cNvCxnSpPr>
          <p:nvPr/>
        </p:nvCxnSpPr>
        <p:spPr>
          <a:xfrm>
            <a:off x="8202204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541BE7-2DE2-6447-9069-9E74408E6EED}"/>
              </a:ext>
            </a:extLst>
          </p:cNvPr>
          <p:cNvSpPr txBox="1"/>
          <p:nvPr/>
        </p:nvSpPr>
        <p:spPr>
          <a:xfrm>
            <a:off x="8357009" y="614270"/>
            <a:ext cx="2079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HSE Sans" panose="02000000000000000000" pitchFamily="2" charset="0"/>
              </a:rPr>
              <a:t>Moscow</a:t>
            </a:r>
          </a:p>
          <a:p>
            <a:r>
              <a:rPr lang="en-GB" sz="1200" dirty="0">
                <a:latin typeface="HSE Sans" panose="02000000000000000000" pitchFamily="2" charset="0"/>
              </a:rPr>
              <a:t>May 2026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8D9CC-A3BB-C448-9CE9-6C4EC5E63B4E}"/>
              </a:ext>
            </a:extLst>
          </p:cNvPr>
          <p:cNvSpPr txBox="1"/>
          <p:nvPr/>
        </p:nvSpPr>
        <p:spPr>
          <a:xfrm>
            <a:off x="1273569" y="5210854"/>
            <a:ext cx="44348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SE Sans" panose="02000000000000000000" pitchFamily="2" charset="0"/>
              </a:rPr>
              <a:t>Author: </a:t>
            </a:r>
            <a:r>
              <a:rPr lang="en-US" sz="1600" dirty="0">
                <a:latin typeface="HSE Sans" panose="02000000000000000000" pitchFamily="2" charset="0"/>
              </a:rPr>
              <a:t>Gleb </a:t>
            </a:r>
            <a:r>
              <a:rPr lang="en-US" sz="1600" dirty="0" err="1">
                <a:latin typeface="HSE Sans" panose="02000000000000000000" pitchFamily="2" charset="0"/>
              </a:rPr>
              <a:t>Dementev</a:t>
            </a:r>
            <a:endParaRPr lang="en-US" sz="1600" dirty="0">
              <a:latin typeface="HSE Sans" panose="02000000000000000000" pitchFamily="2" charset="0"/>
            </a:endParaRPr>
          </a:p>
          <a:p>
            <a:r>
              <a:rPr lang="en-US" sz="1600" b="1" dirty="0">
                <a:latin typeface="HSE Sans" panose="02000000000000000000" pitchFamily="2" charset="0"/>
              </a:rPr>
              <a:t>Supervisor: </a:t>
            </a:r>
            <a:r>
              <a:rPr lang="en-US" sz="1600" dirty="0" err="1">
                <a:latin typeface="HSE Sans" panose="02000000000000000000" pitchFamily="2" charset="0"/>
              </a:rPr>
              <a:t>Seungmin</a:t>
            </a:r>
            <a:r>
              <a:rPr lang="en-US" sz="1600" dirty="0">
                <a:latin typeface="HSE Sans" panose="02000000000000000000" pitchFamily="2" charset="0"/>
              </a:rPr>
              <a:t> </a:t>
            </a:r>
            <a:r>
              <a:rPr lang="en-US" sz="1600" dirty="0" err="1">
                <a:latin typeface="HSE Sans" panose="02000000000000000000" pitchFamily="2" charset="0"/>
              </a:rPr>
              <a:t>Jin</a:t>
            </a:r>
            <a:r>
              <a:rPr lang="en-US" sz="1600" dirty="0">
                <a:latin typeface="HSE Sans" panose="02000000000000000000" pitchFamily="2" charset="0"/>
              </a:rPr>
              <a:t>, PhD</a:t>
            </a:r>
            <a:endParaRPr lang="ru-RU" sz="1600" dirty="0">
              <a:latin typeface="HSE Sans" panose="020000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0795D0-177E-C14A-8687-B5C8733160E7}"/>
              </a:ext>
            </a:extLst>
          </p:cNvPr>
          <p:cNvSpPr txBox="1"/>
          <p:nvPr/>
        </p:nvSpPr>
        <p:spPr>
          <a:xfrm>
            <a:off x="1198924" y="3288354"/>
            <a:ext cx="10132991" cy="141577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0" y="3676073"/>
            <a:ext cx="674255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0243127" y="3676073"/>
            <a:ext cx="1948874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57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957D266-9D18-4C25-BA0C-D9B9D8B3506C}"/>
              </a:ext>
            </a:extLst>
          </p:cNvPr>
          <p:cNvSpPr/>
          <p:nvPr/>
        </p:nvSpPr>
        <p:spPr>
          <a:xfrm>
            <a:off x="419878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E475B51-8C32-422D-ACBF-EF9DAD6C923F}"/>
              </a:ext>
            </a:extLst>
          </p:cNvPr>
          <p:cNvSpPr/>
          <p:nvPr/>
        </p:nvSpPr>
        <p:spPr>
          <a:xfrm>
            <a:off x="3235631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053EE7B-0424-4632-B738-743D9CFC47BA}"/>
              </a:ext>
            </a:extLst>
          </p:cNvPr>
          <p:cNvSpPr/>
          <p:nvPr/>
        </p:nvSpPr>
        <p:spPr>
          <a:xfrm>
            <a:off x="6048014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E1B1D0DC-6441-4682-8AEC-A60F7AF6DFB2}"/>
              </a:ext>
            </a:extLst>
          </p:cNvPr>
          <p:cNvSpPr/>
          <p:nvPr/>
        </p:nvSpPr>
        <p:spPr>
          <a:xfrm>
            <a:off x="8878642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Key Concepts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DC0E45-D267-4888-9E6E-DAA6BCCECCE0}"/>
              </a:ext>
            </a:extLst>
          </p:cNvPr>
          <p:cNvSpPr txBox="1"/>
          <p:nvPr/>
        </p:nvSpPr>
        <p:spPr>
          <a:xfrm>
            <a:off x="489975" y="2284860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Large Language Model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5C3732-B662-4527-B223-6BFD3FB3BBA3}"/>
              </a:ext>
            </a:extLst>
          </p:cNvPr>
          <p:cNvSpPr txBox="1"/>
          <p:nvPr/>
        </p:nvSpPr>
        <p:spPr>
          <a:xfrm>
            <a:off x="3380104" y="2284860"/>
            <a:ext cx="210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Tool-Calling Agent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141F5-681D-4797-A0A3-507E9277DB7F}"/>
              </a:ext>
            </a:extLst>
          </p:cNvPr>
          <p:cNvSpPr txBox="1"/>
          <p:nvPr/>
        </p:nvSpPr>
        <p:spPr>
          <a:xfrm>
            <a:off x="9046962" y="2275435"/>
            <a:ext cx="1976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Prompt Evolution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1F3B82-DC0D-4D67-9144-756B36347D55}"/>
              </a:ext>
            </a:extLst>
          </p:cNvPr>
          <p:cNvSpPr txBox="1"/>
          <p:nvPr/>
        </p:nvSpPr>
        <p:spPr>
          <a:xfrm>
            <a:off x="444825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PT-5.4, Opus 4.6, Gemini 3.1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D81B54-71A9-48DC-9A21-B4B0C24282EC}"/>
              </a:ext>
            </a:extLst>
          </p:cNvPr>
          <p:cNvSpPr txBox="1"/>
          <p:nvPr/>
        </p:nvSpPr>
        <p:spPr>
          <a:xfrm>
            <a:off x="3334953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Claude Code,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OpenAI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 Codex, Manus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FEC318-194A-4EF4-A6DF-07422B49A1EC}"/>
              </a:ext>
            </a:extLst>
          </p:cNvPr>
          <p:cNvSpPr txBox="1"/>
          <p:nvPr/>
        </p:nvSpPr>
        <p:spPr>
          <a:xfrm>
            <a:off x="9072531" y="5571893"/>
            <a:ext cx="19056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GEPA,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DSPy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EvoPrompt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1C0C14-F836-42EA-AC05-D7D7BFA7BA85}"/>
              </a:ext>
            </a:extLst>
          </p:cNvPr>
          <p:cNvSpPr txBox="1"/>
          <p:nvPr/>
        </p:nvSpPr>
        <p:spPr>
          <a:xfrm>
            <a:off x="555290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Neural network that generates plausible text from learned distributions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4C43DA-D4AB-42C2-9F7D-9D9E12F18558}"/>
              </a:ext>
            </a:extLst>
          </p:cNvPr>
          <p:cNvSpPr txBox="1"/>
          <p:nvPr/>
        </p:nvSpPr>
        <p:spPr>
          <a:xfrm>
            <a:off x="6146862" y="2284860"/>
            <a:ext cx="2074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Agentic Benchmark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27E95E-C0E7-4957-96A4-29B4D6689E57}"/>
              </a:ext>
            </a:extLst>
          </p:cNvPr>
          <p:cNvSpPr txBox="1"/>
          <p:nvPr/>
        </p:nvSpPr>
        <p:spPr>
          <a:xfrm>
            <a:off x="6174933" y="5545041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Tau-2, </a:t>
            </a:r>
            <a:r>
              <a:rPr lang="en-US" dirty="0" err="1">
                <a:solidFill>
                  <a:srgbClr val="0F2D69"/>
                </a:solidFill>
                <a:latin typeface="HSE Sans" panose="02000000000000000000" pitchFamily="2" charset="0"/>
              </a:rPr>
              <a:t>Toolbench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, GAIA 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08DB6A3-DFD2-472C-BB8E-F6AEEEBFCFCC}"/>
              </a:ext>
            </a:extLst>
          </p:cNvPr>
          <p:cNvSpPr txBox="1"/>
          <p:nvPr/>
        </p:nvSpPr>
        <p:spPr>
          <a:xfrm>
            <a:off x="341705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 harness that allows calls to external tools via structured text output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DB9FDA-5450-439D-BDD3-E9838FD490C4}"/>
              </a:ext>
            </a:extLst>
          </p:cNvPr>
          <p:cNvSpPr txBox="1"/>
          <p:nvPr/>
        </p:nvSpPr>
        <p:spPr>
          <a:xfrm>
            <a:off x="614686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 performance measurement on tasks requiring planning and action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B5B8A8-A161-42EB-AD99-6A6EA992C14D}"/>
              </a:ext>
            </a:extLst>
          </p:cNvPr>
          <p:cNvSpPr txBox="1"/>
          <p:nvPr/>
        </p:nvSpPr>
        <p:spPr>
          <a:xfrm>
            <a:off x="9046962" y="2828836"/>
            <a:ext cx="1931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Automated benchmark pass rate improvement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68B0E71-AF33-4923-95B2-76762CC0DF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1211" y="3698925"/>
            <a:ext cx="1830304" cy="1743663"/>
          </a:xfrm>
          <a:prstGeom prst="rect">
            <a:avLst/>
          </a:prstGeom>
        </p:spPr>
      </p:pic>
      <p:pic>
        <p:nvPicPr>
          <p:cNvPr id="1030" name="Picture 6" descr="Как мы делаем веб-сервис для автоматизации рабочих задач на базе агентов LLM  / Хабр">
            <a:extLst>
              <a:ext uri="{FF2B5EF4-FFF2-40B4-BE49-F238E27FC236}">
                <a16:creationId xmlns:a16="http://schemas.microsoft.com/office/drawing/2014/main" id="{6D29B9E7-BC96-4801-8343-0C9E8C04BB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1" t="6993" r="9829" b="10033"/>
          <a:stretch/>
        </p:blipFill>
        <p:spPr bwMode="auto">
          <a:xfrm>
            <a:off x="3380104" y="3796634"/>
            <a:ext cx="2245761" cy="15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EPA vs Prompt Learning: Benchmarking Different Prompt Optimization  Approaches - Arize AI">
            <a:extLst>
              <a:ext uri="{FF2B5EF4-FFF2-40B4-BE49-F238E27FC236}">
                <a16:creationId xmlns:a16="http://schemas.microsoft.com/office/drawing/2014/main" id="{CEAEB63B-FB11-456A-8706-6D3AA2080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393" y="4149079"/>
            <a:ext cx="2765231" cy="959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ne-tuning Qwen2.5-VL for Document Information Extraction">
            <a:extLst>
              <a:ext uri="{FF2B5EF4-FFF2-40B4-BE49-F238E27FC236}">
                <a16:creationId xmlns:a16="http://schemas.microsoft.com/office/drawing/2014/main" id="{3E90D87C-CE8D-463C-B82C-F313D5172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75" y="4064104"/>
            <a:ext cx="2760244" cy="112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79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29599D-7BBE-496F-935C-A535BDADC01E}"/>
              </a:ext>
            </a:extLst>
          </p:cNvPr>
          <p:cNvSpPr/>
          <p:nvPr/>
        </p:nvSpPr>
        <p:spPr>
          <a:xfrm>
            <a:off x="555171" y="4413380"/>
            <a:ext cx="4618654" cy="9237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Relevance &amp; Research Gap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141F5-681D-4797-A0A3-507E9277DB7F}"/>
              </a:ext>
            </a:extLst>
          </p:cNvPr>
          <p:cNvSpPr txBox="1"/>
          <p:nvPr/>
        </p:nvSpPr>
        <p:spPr>
          <a:xfrm>
            <a:off x="440492" y="3255792"/>
            <a:ext cx="48499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2. Other benchmarks show promising techniques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4C43DA-D4AB-42C2-9F7D-9D9E12F18558}"/>
              </a:ext>
            </a:extLst>
          </p:cNvPr>
          <p:cNvSpPr txBox="1"/>
          <p:nvPr/>
        </p:nvSpPr>
        <p:spPr>
          <a:xfrm>
            <a:off x="489975" y="2204848"/>
            <a:ext cx="3914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1. Low Agentic Benchmark Pass Rates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DB9FDA-5450-439D-BDD3-E9838FD490C4}"/>
              </a:ext>
            </a:extLst>
          </p:cNvPr>
          <p:cNvSpPr txBox="1"/>
          <p:nvPr/>
        </p:nvSpPr>
        <p:spPr>
          <a:xfrm>
            <a:off x="489975" y="2589667"/>
            <a:ext cx="34848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HSE Sans" panose="02000000000000000000"/>
              </a:rPr>
              <a:t>Enterprises cannot do with 98.5% pass rate -&gt; instant 1.5pp churn increase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335B65-AD70-44B8-8F7B-345EDA832E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458" y="1284126"/>
            <a:ext cx="6560858" cy="460795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6FD091D-61D5-4068-BD2F-CAE5DDEAEA5A}"/>
              </a:ext>
            </a:extLst>
          </p:cNvPr>
          <p:cNvSpPr txBox="1"/>
          <p:nvPr/>
        </p:nvSpPr>
        <p:spPr>
          <a:xfrm>
            <a:off x="489975" y="3605394"/>
            <a:ext cx="43339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HSE Sans" panose="02000000000000000000"/>
              </a:rPr>
              <a:t>Prompt Evolution and teacher-student distillation have been shown to improve performance across domains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7D148C-EF90-49B8-A5D4-A67A1CE8A8EB}"/>
              </a:ext>
            </a:extLst>
          </p:cNvPr>
          <p:cNvSpPr txBox="1"/>
          <p:nvPr/>
        </p:nvSpPr>
        <p:spPr>
          <a:xfrm>
            <a:off x="783771" y="4552097"/>
            <a:ext cx="42734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Question: Can we automatically improve agentic performance at prompt level?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AEA86F-7235-4997-B467-45A2BC3013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257" y="5810932"/>
            <a:ext cx="11590059" cy="93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55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4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Problem,</a:t>
            </a: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Goal, Questions, Tasks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EB57D2-060B-49A4-890B-2E8731B71810}"/>
              </a:ext>
            </a:extLst>
          </p:cNvPr>
          <p:cNvSpPr/>
          <p:nvPr/>
        </p:nvSpPr>
        <p:spPr>
          <a:xfrm>
            <a:off x="617858" y="1890512"/>
            <a:ext cx="5197238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>Problem: </a:t>
            </a:r>
            <a:r>
              <a:rPr lang="en-US" sz="1600" dirty="0">
                <a:latin typeface="HSE Sans" panose="02000000000000000000"/>
              </a:rPr>
              <a:t>LLM agents are unreliable at enterprise scale and tasks, as shown by agentic benchmarks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DB7E5DF-FBBE-4285-BE85-3202A68AB15F}"/>
              </a:ext>
            </a:extLst>
          </p:cNvPr>
          <p:cNvSpPr/>
          <p:nvPr/>
        </p:nvSpPr>
        <p:spPr>
          <a:xfrm>
            <a:off x="6096000" y="1897244"/>
            <a:ext cx="5259356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>Goal: </a:t>
            </a:r>
            <a:r>
              <a:rPr lang="en-US" sz="1600" dirty="0">
                <a:latin typeface="HSE Sans" panose="02000000000000000000"/>
              </a:rPr>
              <a:t>Demonstrate automatic benchmark pass rate improvement and show its limitations</a:t>
            </a:r>
          </a:p>
        </p:txBody>
      </p:sp>
      <p:graphicFrame>
        <p:nvGraphicFramePr>
          <p:cNvPr id="20" name="Table 0">
            <a:extLst>
              <a:ext uri="{FF2B5EF4-FFF2-40B4-BE49-F238E27FC236}">
                <a16:creationId xmlns:a16="http://schemas.microsoft.com/office/drawing/2014/main" id="{B53282AE-C7EC-46BC-9448-AE6FCEB68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351644"/>
              </p:ext>
            </p:extLst>
          </p:nvPr>
        </p:nvGraphicFramePr>
        <p:xfrm>
          <a:off x="617858" y="4287412"/>
          <a:ext cx="10737498" cy="1737360"/>
        </p:xfrm>
        <a:graphic>
          <a:graphicData uri="http://schemas.openxmlformats.org/drawingml/2006/table">
            <a:tbl>
              <a:tblPr/>
              <a:tblGrid>
                <a:gridCol w="5368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68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Objective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Outcome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1. Baseline eval on τ²-bench airline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Failure mode catalogue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2. Diagnose-patch-validate loop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Evolution framework (software)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3. Eval across 5/10/20 tasks, 3 models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Scaling data + cross-model comparison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4. Measure gap closure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Primary outcome metric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5. Analyse patch distribution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Boundaries of prompt-level intervention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8FFC94-AB69-4DDD-937E-DAD4AA559B72}"/>
              </a:ext>
            </a:extLst>
          </p:cNvPr>
          <p:cNvSpPr/>
          <p:nvPr/>
        </p:nvSpPr>
        <p:spPr>
          <a:xfrm>
            <a:off x="617859" y="2835221"/>
            <a:ext cx="3375644" cy="1148951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0919731-1A79-4AC2-81CC-689E83D33617}"/>
              </a:ext>
            </a:extLst>
          </p:cNvPr>
          <p:cNvSpPr/>
          <p:nvPr/>
        </p:nvSpPr>
        <p:spPr>
          <a:xfrm>
            <a:off x="4298785" y="2835221"/>
            <a:ext cx="3375644" cy="1148951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347D1C7-9A78-4D7C-8137-AA832D07040D}"/>
              </a:ext>
            </a:extLst>
          </p:cNvPr>
          <p:cNvSpPr/>
          <p:nvPr/>
        </p:nvSpPr>
        <p:spPr>
          <a:xfrm>
            <a:off x="7979712" y="2835221"/>
            <a:ext cx="3375644" cy="1148951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AF2000-7B23-4CC0-9835-596F652A4EA3}"/>
              </a:ext>
            </a:extLst>
          </p:cNvPr>
          <p:cNvSpPr txBox="1"/>
          <p:nvPr/>
        </p:nvSpPr>
        <p:spPr>
          <a:xfrm>
            <a:off x="716125" y="2903109"/>
            <a:ext cx="468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Q</a:t>
            </a:r>
            <a:r>
              <a:rPr lang="ru-RU" dirty="0">
                <a:solidFill>
                  <a:srgbClr val="102D69"/>
                </a:solidFill>
                <a:latin typeface="HSE Sans" panose="02000000000000000000" pitchFamily="2" charset="0"/>
              </a:rPr>
              <a:t>1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9D89F-AC82-40E8-9188-BDA374D41739}"/>
              </a:ext>
            </a:extLst>
          </p:cNvPr>
          <p:cNvSpPr txBox="1"/>
          <p:nvPr/>
        </p:nvSpPr>
        <p:spPr>
          <a:xfrm>
            <a:off x="4401716" y="2903109"/>
            <a:ext cx="468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02D69"/>
                </a:solidFill>
                <a:latin typeface="HSE Sans" panose="02000000000000000000" pitchFamily="2" charset="0"/>
              </a:rPr>
              <a:t>Q</a:t>
            </a:r>
            <a:r>
              <a:rPr lang="ru-RU" sz="18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4C7C29-D1C5-4398-B8A5-4B02A6CDD59C}"/>
              </a:ext>
            </a:extLst>
          </p:cNvPr>
          <p:cNvSpPr txBox="1"/>
          <p:nvPr/>
        </p:nvSpPr>
        <p:spPr>
          <a:xfrm>
            <a:off x="8036000" y="2915659"/>
            <a:ext cx="468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02D69"/>
                </a:solidFill>
                <a:latin typeface="HSE Sans" panose="02000000000000000000" pitchFamily="2" charset="0"/>
              </a:rPr>
              <a:t>Q</a:t>
            </a:r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75E97A-C53E-4DC6-BC45-E1B6CF2E4449}"/>
              </a:ext>
            </a:extLst>
          </p:cNvPr>
          <p:cNvSpPr txBox="1"/>
          <p:nvPr/>
        </p:nvSpPr>
        <p:spPr>
          <a:xfrm>
            <a:off x="702424" y="3272441"/>
            <a:ext cx="3291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Which failure modes respond to prompt/schema edits? Which resist?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A52B75-D4CC-4926-8576-64235F88ADCF}"/>
              </a:ext>
            </a:extLst>
          </p:cNvPr>
          <p:cNvSpPr txBox="1"/>
          <p:nvPr/>
        </p:nvSpPr>
        <p:spPr>
          <a:xfrm>
            <a:off x="4383352" y="3272441"/>
            <a:ext cx="3291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How well does fix rate respond to task variety?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80E3C7-A90C-46ED-AAC9-5991038CD963}"/>
              </a:ext>
            </a:extLst>
          </p:cNvPr>
          <p:cNvSpPr txBox="1"/>
          <p:nvPr/>
        </p:nvSpPr>
        <p:spPr>
          <a:xfrm>
            <a:off x="8042713" y="3272441"/>
            <a:ext cx="3291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Can we close the gap to frontier model w/o weight updates?</a:t>
            </a:r>
            <a:endParaRPr lang="en-US" sz="1600" dirty="0">
              <a:latin typeface="HSE Sans" panose="020000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1239673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Literature Review: Why Prompt-Level Evolution?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Literature Review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B3C5A-B8EA-496E-B146-3C32C8628794}"/>
              </a:ext>
            </a:extLst>
          </p:cNvPr>
          <p:cNvSpPr/>
          <p:nvPr/>
        </p:nvSpPr>
        <p:spPr>
          <a:xfrm>
            <a:off x="48997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HSE Sans"/>
              </a:rPr>
              <a:t>1. Agents fail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0A90B8-BB82-4EB4-A016-C448451A14A2}"/>
              </a:ext>
            </a:extLst>
          </p:cNvPr>
          <p:cNvSpPr txBox="1"/>
          <p:nvPr/>
        </p:nvSpPr>
        <p:spPr>
          <a:xfrm>
            <a:off x="56312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0F2D69"/>
                </a:solidFill>
                <a:latin typeface="HSE Sans"/>
              </a:rPr>
              <a:t>LLM agents are far below
enterprise reliability thresholds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470E63-79FE-48A6-BBC0-1772216DAF37}"/>
              </a:ext>
            </a:extLst>
          </p:cNvPr>
          <p:cNvSpPr txBox="1"/>
          <p:nvPr/>
        </p:nvSpPr>
        <p:spPr>
          <a:xfrm>
            <a:off x="56312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tau-bench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et al.,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</a:t>
            </a:r>
            <a:r>
              <a:rPr lang="en-US" sz="1300" b="0" dirty="0">
                <a:solidFill>
                  <a:srgbClr val="000000"/>
                </a:solidFill>
                <a:latin typeface="HSE Sans"/>
              </a:rPr>
              <a:t>GPT-4o fails &gt;50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% of tasks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GAIA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Mialon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humans 92% vs GPT-4 15%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SWE-bench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(Jimenez et al.,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best model solves &lt;2%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ToolBench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(Qin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OSS models score 0%</a:t>
            </a:r>
          </a:p>
        </p:txBody>
      </p:sp>
      <p:sp>
        <p:nvSpPr>
          <p:cNvPr id="13" name="Rounded Rectangle 13">
            <a:extLst>
              <a:ext uri="{FF2B5EF4-FFF2-40B4-BE49-F238E27FC236}">
                <a16:creationId xmlns:a16="http://schemas.microsoft.com/office/drawing/2014/main" id="{D0CF5567-A6EA-419B-8CB5-2469B075158E}"/>
              </a:ext>
            </a:extLst>
          </p:cNvPr>
          <p:cNvSpPr/>
          <p:nvPr/>
        </p:nvSpPr>
        <p:spPr>
          <a:xfrm>
            <a:off x="50826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Agents need to get better.
Can we just prompt-engineer?</a:t>
            </a:r>
          </a:p>
        </p:txBody>
      </p:sp>
      <p:sp>
        <p:nvSpPr>
          <p:cNvPr id="14" name="Right Arrow 14">
            <a:extLst>
              <a:ext uri="{FF2B5EF4-FFF2-40B4-BE49-F238E27FC236}">
                <a16:creationId xmlns:a16="http://schemas.microsoft.com/office/drawing/2014/main" id="{49F1430B-FE72-44B1-A717-4F4599F36C6F}"/>
              </a:ext>
            </a:extLst>
          </p:cNvPr>
          <p:cNvSpPr/>
          <p:nvPr/>
        </p:nvSpPr>
        <p:spPr>
          <a:xfrm>
            <a:off x="310515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2C0015-DBB0-4BB6-8DD1-16804FADC3C0}"/>
              </a:ext>
            </a:extLst>
          </p:cNvPr>
          <p:cNvSpPr/>
          <p:nvPr/>
        </p:nvSpPr>
        <p:spPr>
          <a:xfrm>
            <a:off x="327889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2. Prompting is brittle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4457A-B5CB-4CCB-950A-5C48CB35A1E7}"/>
              </a:ext>
            </a:extLst>
          </p:cNvPr>
          <p:cNvSpPr txBox="1"/>
          <p:nvPr/>
        </p:nvSpPr>
        <p:spPr>
          <a:xfrm>
            <a:off x="335204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Static prompts help but are
fragile and hit a hard ceiling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20E141-F59F-4146-AF54-912F7E36271D}"/>
              </a:ext>
            </a:extLst>
          </p:cNvPr>
          <p:cNvSpPr txBox="1"/>
          <p:nvPr/>
        </p:nvSpPr>
        <p:spPr>
          <a:xfrm>
            <a:off x="335204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>Sensitivity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en-US" sz="1300" b="0" dirty="0" err="1">
                <a:solidFill>
                  <a:srgbClr val="7F7F7F"/>
                </a:solidFill>
                <a:latin typeface="HSE Sans"/>
              </a:rPr>
              <a:t>Sclar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>  format → 76 pts variation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CoT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(Wei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only works at ≥100B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ReAct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gains, but no self-repair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APE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optimal prompts are fragile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A9EE39BA-41BE-47C5-AC76-37E50C446519}"/>
              </a:ext>
            </a:extLst>
          </p:cNvPr>
          <p:cNvSpPr/>
          <p:nvPr/>
        </p:nvSpPr>
        <p:spPr>
          <a:xfrm>
            <a:off x="329718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Manual prompts can't adapt.
Can we fine-tune instead?</a:t>
            </a:r>
          </a:p>
        </p:txBody>
      </p:sp>
      <p:sp>
        <p:nvSpPr>
          <p:cNvPr id="19" name="Right Arrow 19">
            <a:extLst>
              <a:ext uri="{FF2B5EF4-FFF2-40B4-BE49-F238E27FC236}">
                <a16:creationId xmlns:a16="http://schemas.microsoft.com/office/drawing/2014/main" id="{E7E11A3F-980B-4CD4-966B-B0FB0F23C7DD}"/>
              </a:ext>
            </a:extLst>
          </p:cNvPr>
          <p:cNvSpPr/>
          <p:nvPr/>
        </p:nvSpPr>
        <p:spPr>
          <a:xfrm>
            <a:off x="589407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B13868-D5AE-4EA0-A2B2-3355742BBA36}"/>
              </a:ext>
            </a:extLst>
          </p:cNvPr>
          <p:cNvSpPr/>
          <p:nvPr/>
        </p:nvSpPr>
        <p:spPr>
          <a:xfrm>
            <a:off x="606781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3. Fine-tuning is costly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741F7E-59F5-46B3-97C7-A07EEC105B4D}"/>
              </a:ext>
            </a:extLst>
          </p:cNvPr>
          <p:cNvSpPr txBox="1"/>
          <p:nvPr/>
        </p:nvSpPr>
        <p:spPr>
          <a:xfrm>
            <a:off x="614096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Weight modification works but
is expensive and destructive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ED105-92A2-4231-87A9-6F7880785D32}"/>
              </a:ext>
            </a:extLst>
          </p:cNvPr>
          <p:cNvSpPr txBox="1"/>
          <p:nvPr/>
        </p:nvSpPr>
        <p:spPr>
          <a:xfrm>
            <a:off x="6140967" y="3287747"/>
            <a:ext cx="2459736" cy="204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Alignment tax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(Young,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proven irreducible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SFT harm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Shenfeld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collapses reasoning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LIMA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alignment = style, not knowledge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fr-FR" sz="1300" b="1" dirty="0" err="1">
                <a:solidFill>
                  <a:srgbClr val="000000"/>
                </a:solidFill>
                <a:latin typeface="HSE Sans"/>
              </a:rPr>
              <a:t>InstructGPT</a:t>
            </a:r>
            <a:r>
              <a:rPr lang="fr-FR"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fr-FR" sz="1300" b="0" dirty="0" err="1">
                <a:solidFill>
                  <a:srgbClr val="7F7F7F"/>
                </a:solidFill>
                <a:latin typeface="HSE Sans"/>
              </a:rPr>
              <a:t>Ouyang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fr-FR" sz="1300" b="0" dirty="0">
                <a:solidFill>
                  <a:srgbClr val="000000"/>
                </a:solidFill>
                <a:latin typeface="HSE Sans"/>
              </a:rPr>
              <a:t>  1.3B&gt;175B, but </a:t>
            </a:r>
            <a:r>
              <a:rPr lang="fr-FR" sz="1300" b="0" dirty="0" err="1">
                <a:solidFill>
                  <a:srgbClr val="000000"/>
                </a:solidFill>
                <a:latin typeface="HSE Sans"/>
              </a:rPr>
              <a:t>regresses</a:t>
            </a:r>
            <a:endParaRPr lang="fr-FR" sz="1300" b="0" dirty="0">
              <a:solidFill>
                <a:srgbClr val="000000"/>
              </a:solidFill>
              <a:latin typeface="HSE Sans"/>
            </a:endParaRPr>
          </a:p>
        </p:txBody>
      </p:sp>
      <p:sp>
        <p:nvSpPr>
          <p:cNvPr id="29" name="Rounded Rectangle 23">
            <a:extLst>
              <a:ext uri="{FF2B5EF4-FFF2-40B4-BE49-F238E27FC236}">
                <a16:creationId xmlns:a16="http://schemas.microsoft.com/office/drawing/2014/main" id="{12D420B4-AF37-47C6-BC83-C18B731CE858}"/>
              </a:ext>
            </a:extLst>
          </p:cNvPr>
          <p:cNvSpPr/>
          <p:nvPr/>
        </p:nvSpPr>
        <p:spPr>
          <a:xfrm>
            <a:off x="608610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Weights are the wrong level.
Can we optimize prompts auto­matically?</a:t>
            </a:r>
          </a:p>
        </p:txBody>
      </p:sp>
      <p:sp>
        <p:nvSpPr>
          <p:cNvPr id="30" name="Right Arrow 24">
            <a:extLst>
              <a:ext uri="{FF2B5EF4-FFF2-40B4-BE49-F238E27FC236}">
                <a16:creationId xmlns:a16="http://schemas.microsoft.com/office/drawing/2014/main" id="{BF7523A9-CCE3-41B7-A0A0-E65FCCE72B65}"/>
              </a:ext>
            </a:extLst>
          </p:cNvPr>
          <p:cNvSpPr/>
          <p:nvPr/>
        </p:nvSpPr>
        <p:spPr>
          <a:xfrm>
            <a:off x="868299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DE156B-C44A-477E-9601-797E71124FDC}"/>
              </a:ext>
            </a:extLst>
          </p:cNvPr>
          <p:cNvSpPr/>
          <p:nvPr/>
        </p:nvSpPr>
        <p:spPr>
          <a:xfrm>
            <a:off x="885673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4. Auto-optimization exists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7332F-5431-46C3-9B79-7BFB02112165}"/>
              </a:ext>
            </a:extLst>
          </p:cNvPr>
          <p:cNvSpPr txBox="1"/>
          <p:nvPr/>
        </p:nvSpPr>
        <p:spPr>
          <a:xfrm>
            <a:off x="892988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Prompt optimizers show strong
gains — but not on agents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6E0607-4B0D-4507-8AFF-82F5360A6FE3}"/>
              </a:ext>
            </a:extLst>
          </p:cNvPr>
          <p:cNvSpPr txBox="1"/>
          <p:nvPr/>
        </p:nvSpPr>
        <p:spPr>
          <a:xfrm>
            <a:off x="892988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DSPy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(Khattab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+5–46% on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HotPotQA</a:t>
            </a:r>
            <a:endParaRPr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TextGrad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Yuksekgonul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+20%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LeetCode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; Nature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EvoPrompt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(Guo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+25% Big-Bench Hard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>OPRO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(Yang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>  +50% Big-Bench Hard</a:t>
            </a:r>
          </a:p>
        </p:txBody>
      </p:sp>
      <p:sp>
        <p:nvSpPr>
          <p:cNvPr id="34" name="Rounded Rectangle 28">
            <a:extLst>
              <a:ext uri="{FF2B5EF4-FFF2-40B4-BE49-F238E27FC236}">
                <a16:creationId xmlns:a16="http://schemas.microsoft.com/office/drawing/2014/main" id="{098D38BE-FE13-4B0E-A710-22EE5BC4B1F8}"/>
              </a:ext>
            </a:extLst>
          </p:cNvPr>
          <p:cNvSpPr/>
          <p:nvPr/>
        </p:nvSpPr>
        <p:spPr>
          <a:xfrm>
            <a:off x="887502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Tools exist, benchmarks exist,
but the two have not met.</a:t>
            </a:r>
          </a:p>
        </p:txBody>
      </p:sp>
    </p:spTree>
    <p:extLst>
      <p:ext uri="{BB962C8B-B14F-4D97-AF65-F5344CB8AC3E}">
        <p14:creationId xmlns:p14="http://schemas.microsoft.com/office/powerpoint/2010/main" val="3262795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Dataset: tau2-bench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89183-FF3F-4F04-831A-FB2518E41D09}"/>
              </a:ext>
            </a:extLst>
          </p:cNvPr>
          <p:cNvSpPr txBox="1"/>
          <p:nvPr/>
        </p:nvSpPr>
        <p:spPr>
          <a:xfrm>
            <a:off x="489975" y="1927160"/>
            <a:ext cx="62467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τ²-bench (2025): customer service automation agents with pre-existing prompts, no saturation, tool-calls, complex failure modes</a:t>
            </a:r>
          </a:p>
          <a:p>
            <a:endParaRPr lang="en-US" sz="1600" dirty="0"/>
          </a:p>
          <a:p>
            <a:r>
              <a:rPr lang="en-US" sz="1600" dirty="0"/>
              <a:t>We picked airline domain, it had 50 tasks (subsets: 5, 10, 20)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1679C-8ED8-4ACD-88D1-47C008EE8C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74" y="4254759"/>
            <a:ext cx="11251483" cy="236839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EFF82C-207F-4C39-B2B8-DAF2D7A28C5F}"/>
              </a:ext>
            </a:extLst>
          </p:cNvPr>
          <p:cNvSpPr txBox="1"/>
          <p:nvPr/>
        </p:nvSpPr>
        <p:spPr>
          <a:xfrm>
            <a:off x="8257590" y="3916205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Tau-2 benchmark architecture</a:t>
            </a:r>
            <a:endParaRPr lang="en-US" sz="1300" dirty="0">
              <a:latin typeface="HSE Sans" panose="020000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43507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7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chose SOTA OSS for benchmarking. Student models had to be non-thinking.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90A72042-4092-44AF-BC94-4E4975B9A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943324"/>
              </p:ext>
            </p:extLst>
          </p:nvPr>
        </p:nvGraphicFramePr>
        <p:xfrm>
          <a:off x="1981200" y="2946903"/>
          <a:ext cx="8229600" cy="2377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Role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Model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Rationale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 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 30B-A3B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Cost-efficient MoE; headroom to frontier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Qwen3.5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SOTA instant-response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GLM 4.7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Different arch family, comparable benchmarks results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Teacher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Kimi K2.5 (~1T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MoE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)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Frontier reasoning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878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8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had a teacher look at each error, fix it, then merge its fixes into global prompt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75DF7D-E4FD-405C-8918-25F9F87D16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93" y="3061742"/>
            <a:ext cx="10437845" cy="1489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EF1C8-3124-4CAC-92F2-F88BE4E929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65" y="4730448"/>
            <a:ext cx="10437845" cy="1579411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934D28-8100-4772-8306-28E5A123F7E5}"/>
              </a:ext>
            </a:extLst>
          </p:cNvPr>
          <p:cNvCxnSpPr/>
          <p:nvPr/>
        </p:nvCxnSpPr>
        <p:spPr>
          <a:xfrm>
            <a:off x="6811347" y="3671618"/>
            <a:ext cx="0" cy="1045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BD58DCC-D326-4F5D-8F6D-4513325225A0}"/>
              </a:ext>
            </a:extLst>
          </p:cNvPr>
          <p:cNvSpPr/>
          <p:nvPr/>
        </p:nvSpPr>
        <p:spPr>
          <a:xfrm>
            <a:off x="690464" y="4730448"/>
            <a:ext cx="10705709" cy="1663189"/>
          </a:xfrm>
          <a:prstGeom prst="roundRect">
            <a:avLst>
              <a:gd name="adj" fmla="val 0"/>
            </a:avLst>
          </a:prstGeom>
          <a:noFill/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8D13B5-EB04-4819-9788-EA5500A89756}"/>
              </a:ext>
            </a:extLst>
          </p:cNvPr>
          <p:cNvSpPr txBox="1"/>
          <p:nvPr/>
        </p:nvSpPr>
        <p:spPr>
          <a:xfrm>
            <a:off x="8187022" y="3058671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Outer Loop (all tasks) 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1DF35F-161A-456D-B657-65B87C51D24F}"/>
              </a:ext>
            </a:extLst>
          </p:cNvPr>
          <p:cNvSpPr txBox="1"/>
          <p:nvPr/>
        </p:nvSpPr>
        <p:spPr>
          <a:xfrm>
            <a:off x="8105096" y="4756588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Inner Loop (1 task)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5F96DE-2DC0-404E-8368-B19AB25B1814}"/>
              </a:ext>
            </a:extLst>
          </p:cNvPr>
          <p:cNvSpPr txBox="1"/>
          <p:nvPr/>
        </p:nvSpPr>
        <p:spPr>
          <a:xfrm>
            <a:off x="690464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1. Run benchmark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BF9122-5D47-4C6F-9B9F-B37ADDCF3AA4}"/>
              </a:ext>
            </a:extLst>
          </p:cNvPr>
          <p:cNvSpPr txBox="1"/>
          <p:nvPr/>
        </p:nvSpPr>
        <p:spPr>
          <a:xfrm>
            <a:off x="2953073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2. Find errors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6232C1-4DDC-4AD1-BA81-03F0920F7CA6}"/>
              </a:ext>
            </a:extLst>
          </p:cNvPr>
          <p:cNvSpPr txBox="1"/>
          <p:nvPr/>
        </p:nvSpPr>
        <p:spPr>
          <a:xfrm>
            <a:off x="4879780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3. Try fixing each error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1EBAD2-CE40-4C8C-9DD9-933258981940}"/>
              </a:ext>
            </a:extLst>
          </p:cNvPr>
          <p:cNvSpPr txBox="1"/>
          <p:nvPr/>
        </p:nvSpPr>
        <p:spPr>
          <a:xfrm>
            <a:off x="7398915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4. Merge fixes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C3CF28-AC16-454F-B1C1-6C5BF741AFE1}"/>
              </a:ext>
            </a:extLst>
          </p:cNvPr>
          <p:cNvSpPr txBox="1"/>
          <p:nvPr/>
        </p:nvSpPr>
        <p:spPr>
          <a:xfrm>
            <a:off x="9470311" y="1944921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5. Re-run benchmark</a:t>
            </a:r>
            <a:endParaRPr lang="en-US" sz="1600" dirty="0">
              <a:latin typeface="HSE Sans" panose="0200000000000000000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8B7672-0F74-4C50-A750-BF042AA53F9D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2425959" y="2108115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4CBF1C-942F-4848-BEA3-A675EE7B26B3}"/>
              </a:ext>
            </a:extLst>
          </p:cNvPr>
          <p:cNvCxnSpPr/>
          <p:nvPr/>
        </p:nvCxnSpPr>
        <p:spPr>
          <a:xfrm>
            <a:off x="4275442" y="2081470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02631D8-712D-4FCF-B554-2C06F83A65F0}"/>
              </a:ext>
            </a:extLst>
          </p:cNvPr>
          <p:cNvCxnSpPr/>
          <p:nvPr/>
        </p:nvCxnSpPr>
        <p:spPr>
          <a:xfrm>
            <a:off x="6871801" y="2102641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4ABE306-FB42-47A5-88DB-251D6056750A}"/>
              </a:ext>
            </a:extLst>
          </p:cNvPr>
          <p:cNvCxnSpPr/>
          <p:nvPr/>
        </p:nvCxnSpPr>
        <p:spPr>
          <a:xfrm>
            <a:off x="8815679" y="2088292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89BD3F5-6227-4C47-AF67-1299072DDD4A}"/>
              </a:ext>
            </a:extLst>
          </p:cNvPr>
          <p:cNvSpPr/>
          <p:nvPr/>
        </p:nvSpPr>
        <p:spPr>
          <a:xfrm>
            <a:off x="489976" y="2967138"/>
            <a:ext cx="11058598" cy="3578900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244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A teacher could edit instruction, tool schema and build validators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A7590-04E5-4F3E-8A13-3A73D3849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941" y="2766829"/>
            <a:ext cx="8989927" cy="36268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E9EECF-4CE6-4409-A839-961EEA931D33}"/>
              </a:ext>
            </a:extLst>
          </p:cNvPr>
          <p:cNvSpPr txBox="1"/>
          <p:nvPr/>
        </p:nvSpPr>
        <p:spPr>
          <a:xfrm>
            <a:off x="489239" y="1958884"/>
            <a:ext cx="43294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Benchmark evaluates task</a:t>
            </a:r>
          </a:p>
          <a:p>
            <a:pPr marL="342900" indent="-342900">
              <a:buAutoNum type="arabicPeriod"/>
            </a:pPr>
            <a:r>
              <a:rPr lang="en-US" dirty="0"/>
              <a:t>Benchmark classifies a mistake</a:t>
            </a:r>
          </a:p>
          <a:p>
            <a:pPr marL="342900" indent="-342900">
              <a:buAutoNum type="arabicPeriod"/>
            </a:pPr>
            <a:r>
              <a:rPr lang="en-US" dirty="0"/>
              <a:t>Benchmark gives Teacher the failure and its explanation</a:t>
            </a:r>
          </a:p>
          <a:p>
            <a:pPr marL="342900" indent="-342900">
              <a:buAutoNum type="arabicPeriod"/>
            </a:pPr>
            <a:r>
              <a:rPr lang="en-US" dirty="0"/>
              <a:t>Teacher calls tools to modify the Student</a:t>
            </a:r>
          </a:p>
          <a:p>
            <a:pPr marL="342900" indent="-342900">
              <a:buAutoNum type="arabicPeriod"/>
            </a:pPr>
            <a:r>
              <a:rPr lang="en-US" dirty="0"/>
              <a:t>Valid patches get applied</a:t>
            </a:r>
          </a:p>
          <a:p>
            <a:pPr marL="342900" indent="-342900">
              <a:buAutoNum type="arabicPeriod"/>
            </a:pPr>
            <a:r>
              <a:rPr lang="en-US" dirty="0"/>
              <a:t>Patched Student gets tested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177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10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have shown pass rate improvement on most student models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DA4585E-C6BD-44C7-B054-FDBB2B4F7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417752"/>
              </p:ext>
            </p:extLst>
          </p:nvPr>
        </p:nvGraphicFramePr>
        <p:xfrm>
          <a:off x="1599291" y="3880782"/>
          <a:ext cx="8738552" cy="1851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638">
                  <a:extLst>
                    <a:ext uri="{9D8B030D-6E8A-4147-A177-3AD203B41FA5}">
                      <a16:colId xmlns:a16="http://schemas.microsoft.com/office/drawing/2014/main" val="2642438039"/>
                    </a:ext>
                  </a:extLst>
                </a:gridCol>
                <a:gridCol w="2184638">
                  <a:extLst>
                    <a:ext uri="{9D8B030D-6E8A-4147-A177-3AD203B41FA5}">
                      <a16:colId xmlns:a16="http://schemas.microsoft.com/office/drawing/2014/main" val="3769751419"/>
                    </a:ext>
                  </a:extLst>
                </a:gridCol>
                <a:gridCol w="2184638">
                  <a:extLst>
                    <a:ext uri="{9D8B030D-6E8A-4147-A177-3AD203B41FA5}">
                      <a16:colId xmlns:a16="http://schemas.microsoft.com/office/drawing/2014/main" val="898981612"/>
                    </a:ext>
                  </a:extLst>
                </a:gridCol>
                <a:gridCol w="2184638">
                  <a:extLst>
                    <a:ext uri="{9D8B030D-6E8A-4147-A177-3AD203B41FA5}">
                      <a16:colId xmlns:a16="http://schemas.microsoft.com/office/drawing/2014/main" val="2322091685"/>
                    </a:ext>
                  </a:extLst>
                </a:gridCol>
              </a:tblGrid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Task count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Qwen</a:t>
                      </a:r>
                      <a:r>
                        <a:rPr lang="en-US" dirty="0"/>
                        <a:t> 30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Qwen</a:t>
                      </a:r>
                      <a:r>
                        <a:rPr lang="en-US" dirty="0"/>
                        <a:t> 3.5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GLM-4.7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367696"/>
                  </a:ext>
                </a:extLst>
              </a:tr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53 -&gt; 73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100 -&gt; 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47 -&gt; 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837405"/>
                  </a:ext>
                </a:extLst>
              </a:tr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27 -&gt; 50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60 -&gt; 63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50 -&gt; 40 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13648"/>
                  </a:ext>
                </a:extLst>
              </a:tr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22 -&gt; 30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47 -&gt; 58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 -&gt; 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4738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F280963-4ECC-4A52-AB74-BB75536E75DD}"/>
              </a:ext>
            </a:extLst>
          </p:cNvPr>
          <p:cNvSpPr txBox="1"/>
          <p:nvPr/>
        </p:nvSpPr>
        <p:spPr>
          <a:xfrm>
            <a:off x="1599291" y="2361665"/>
            <a:ext cx="8738552" cy="113877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 err="1"/>
              <a:t>Qwen</a:t>
            </a:r>
            <a:r>
              <a:rPr lang="en-US" sz="1600" dirty="0"/>
              <a:t> 30 shows most consistent improvement from weak baseline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 err="1"/>
              <a:t>Qwen</a:t>
            </a:r>
            <a:r>
              <a:rPr lang="en-US" sz="1600" dirty="0"/>
              <a:t> 3.5 shows high baseline, less prompt-driven improvement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GLM-4.7 regresses after applying patches (tested 3 times)</a:t>
            </a:r>
          </a:p>
        </p:txBody>
      </p:sp>
    </p:spTree>
    <p:extLst>
      <p:ext uri="{BB962C8B-B14F-4D97-AF65-F5344CB8AC3E}">
        <p14:creationId xmlns:p14="http://schemas.microsoft.com/office/powerpoint/2010/main" val="2959349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11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F1: We can fix only some tasks; others prove resistant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D2F5A82-4A6D-4572-9A8D-053713AD5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60247"/>
              </p:ext>
            </p:extLst>
          </p:nvPr>
        </p:nvGraphicFramePr>
        <p:xfrm>
          <a:off x="493774" y="1920239"/>
          <a:ext cx="4474209" cy="4732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2176">
                <a:tc>
                  <a:txBody>
                    <a:bodyPr/>
                    <a:lstStyle/>
                    <a:p>
                      <a:pPr algn="ctr"/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176"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Task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9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12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343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964AC9A-3493-42FC-AC64-A65F01F04857}"/>
              </a:ext>
            </a:extLst>
          </p:cNvPr>
          <p:cNvSpPr txBox="1"/>
          <p:nvPr/>
        </p:nvSpPr>
        <p:spPr>
          <a:xfrm>
            <a:off x="5195362" y="1920239"/>
            <a:ext cx="65028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Many tasks are fully resistant to prompt modification. This implies that we hit model reasoning capability ceiling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Most fixes are powered by instruction (reward hacking is prevented). Guardrail fixes are mostly applied at later stages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48EC7C-685C-416F-9627-40D6D416D382}"/>
              </a:ext>
            </a:extLst>
          </p:cNvPr>
          <p:cNvSpPr txBox="1"/>
          <p:nvPr/>
        </p:nvSpPr>
        <p:spPr>
          <a:xfrm>
            <a:off x="489975" y="1219873"/>
            <a:ext cx="609755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Q1: Which failure modes respond to prompt/schema edits? Which resist?</a:t>
            </a:r>
            <a:endParaRPr lang="en-US" sz="1300" i="1" dirty="0">
              <a:latin typeface="HSE Sans" panose="0200000000000000000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FB1A5-F309-4168-B1DC-D1A1A869E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967" y="3581400"/>
            <a:ext cx="4664036" cy="307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042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F2: More tasks -&gt; lower the fix rate, but with caveats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DDA0B3-83F9-4328-9E46-B65D7ECDBDC9}"/>
              </a:ext>
            </a:extLst>
          </p:cNvPr>
          <p:cNvSpPr txBox="1"/>
          <p:nvPr/>
        </p:nvSpPr>
        <p:spPr>
          <a:xfrm>
            <a:off x="489975" y="1219873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Q2: </a:t>
            </a:r>
            <a:r>
              <a:rPr lang="en-US" sz="14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How well does fix rate respond to task variety?</a:t>
            </a:r>
            <a:endParaRPr lang="en-US" sz="1400" i="1" dirty="0">
              <a:latin typeface="HSE Sans" panose="0200000000000000000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921C23F-499B-4858-99AC-A0A891A69E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4976" y="2358141"/>
            <a:ext cx="2715597" cy="150866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8DD533F-F488-4075-A897-BDE3F326BDB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7467" y="2358141"/>
            <a:ext cx="2715598" cy="1508666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3CE741F-5D19-4324-AFAA-DD0FBB174B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9959" y="2358046"/>
            <a:ext cx="2715768" cy="150876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4A1956-CC09-434B-B364-70F8E319961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94805" y="5176462"/>
            <a:ext cx="2715768" cy="150876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F175FDCE-135B-486C-99F7-DE8BDEE4020C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87297" y="5178237"/>
            <a:ext cx="2715768" cy="150876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259F40D0-3F8A-4B7E-9652-623E549CB442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87297" y="3768142"/>
            <a:ext cx="2715768" cy="150876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4C283B1-E7E8-427B-9E6E-818A92BF2B3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79789" y="3768142"/>
            <a:ext cx="2715768" cy="150876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96930FA-D289-40D0-8194-E99C7EE74483}"/>
              </a:ext>
            </a:extLst>
          </p:cNvPr>
          <p:cNvSpPr txBox="1"/>
          <p:nvPr/>
        </p:nvSpPr>
        <p:spPr>
          <a:xfrm>
            <a:off x="9288731" y="5599351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tested due to continuous regression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D8B828-CFC2-4E7E-8E9F-C7F81CC7C391}"/>
              </a:ext>
            </a:extLst>
          </p:cNvPr>
          <p:cNvSpPr txBox="1"/>
          <p:nvPr/>
        </p:nvSpPr>
        <p:spPr>
          <a:xfrm>
            <a:off x="3712326" y="4189350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Nothing to fix; </a:t>
            </a:r>
            <a:br>
              <a:rPr lang="en-US" dirty="0"/>
            </a:br>
            <a:r>
              <a:rPr lang="en-US" dirty="0"/>
              <a:t>all green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254EBD-80CA-4510-B0CC-B45047A5C6A3}"/>
              </a:ext>
            </a:extLst>
          </p:cNvPr>
          <p:cNvSpPr txBox="1"/>
          <p:nvPr/>
        </p:nvSpPr>
        <p:spPr>
          <a:xfrm>
            <a:off x="3922206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E7252D-35AF-48CA-B622-596CFEF13FDC}"/>
              </a:ext>
            </a:extLst>
          </p:cNvPr>
          <p:cNvSpPr txBox="1"/>
          <p:nvPr/>
        </p:nvSpPr>
        <p:spPr>
          <a:xfrm>
            <a:off x="6730720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10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A58E4D-1969-44F9-A006-EFEFCEDADBBA}"/>
              </a:ext>
            </a:extLst>
          </p:cNvPr>
          <p:cNvSpPr txBox="1"/>
          <p:nvPr/>
        </p:nvSpPr>
        <p:spPr>
          <a:xfrm>
            <a:off x="9498611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20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2990E4-409C-4AF2-BCF4-3759A2A333EB}"/>
              </a:ext>
            </a:extLst>
          </p:cNvPr>
          <p:cNvSpPr txBox="1"/>
          <p:nvPr/>
        </p:nvSpPr>
        <p:spPr>
          <a:xfrm rot="16200000">
            <a:off x="2345879" y="294006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 3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6FFBF-3C7B-48BB-B38B-AB584F32DD93}"/>
              </a:ext>
            </a:extLst>
          </p:cNvPr>
          <p:cNvSpPr txBox="1"/>
          <p:nvPr/>
        </p:nvSpPr>
        <p:spPr>
          <a:xfrm rot="16200000">
            <a:off x="2340653" y="4386307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 3.5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40C63E-EEF1-4B91-945F-7912B60681A2}"/>
              </a:ext>
            </a:extLst>
          </p:cNvPr>
          <p:cNvSpPr txBox="1"/>
          <p:nvPr/>
        </p:nvSpPr>
        <p:spPr>
          <a:xfrm rot="16200000">
            <a:off x="2358767" y="576271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GLM 4.7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6CD6AE-E372-495E-A90C-91A8875C7BA8}"/>
              </a:ext>
            </a:extLst>
          </p:cNvPr>
          <p:cNvSpPr txBox="1"/>
          <p:nvPr/>
        </p:nvSpPr>
        <p:spPr>
          <a:xfrm>
            <a:off x="288946" y="2575221"/>
            <a:ext cx="264966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Some models just can’t get any benefits from prompt tuning – e.g. GLM 4.7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All models poorly retain of pass rate improvement - sweep 1 has 100% fix rate, only half persist to sweep 3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The stronger the model, the more it retains -&gt;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> 3.5 is superior to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14642767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F3: We cannot fully close the gap to frontier model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68FE28-806F-46D5-BE7A-D0FEF6AB077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7" t="34488" r="12877" b="-1"/>
          <a:stretch/>
        </p:blipFill>
        <p:spPr>
          <a:xfrm>
            <a:off x="5901463" y="3769567"/>
            <a:ext cx="5742405" cy="2866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5F083-DF14-4A4D-8E11-AF97260528B0}"/>
              </a:ext>
            </a:extLst>
          </p:cNvPr>
          <p:cNvSpPr txBox="1"/>
          <p:nvPr/>
        </p:nvSpPr>
        <p:spPr>
          <a:xfrm>
            <a:off x="489975" y="1219873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Q3: </a:t>
            </a:r>
            <a:r>
              <a:rPr lang="en-US" sz="14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Can we close the gap to frontier model w/o weight updates?</a:t>
            </a:r>
            <a:endParaRPr lang="en-US" sz="1400" i="1" dirty="0">
              <a:latin typeface="HSE Sans" panose="0200000000000000000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00CCB-DF6F-4BAA-92B3-6B9EE9586DE8}"/>
              </a:ext>
            </a:extLst>
          </p:cNvPr>
          <p:cNvSpPr txBox="1"/>
          <p:nvPr/>
        </p:nvSpPr>
        <p:spPr>
          <a:xfrm>
            <a:off x="6095999" y="2066925"/>
            <a:ext cx="554786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b="1" dirty="0"/>
              <a:t>B</a:t>
            </a:r>
            <a:r>
              <a:rPr lang="en-US" sz="1600" dirty="0"/>
              <a:t>aseline – Student, no prompt tuning</a:t>
            </a:r>
          </a:p>
          <a:p>
            <a:pPr>
              <a:spcAft>
                <a:spcPts val="1200"/>
              </a:spcAft>
            </a:pPr>
            <a:r>
              <a:rPr lang="en-US" sz="1600" b="1" dirty="0"/>
              <a:t>K </a:t>
            </a:r>
            <a:r>
              <a:rPr lang="en-US" sz="1600" dirty="0"/>
              <a:t>(evolved) – Student after prompt tuning</a:t>
            </a:r>
          </a:p>
          <a:p>
            <a:pPr>
              <a:spcAft>
                <a:spcPts val="1200"/>
              </a:spcAft>
            </a:pPr>
            <a:r>
              <a:rPr lang="en-US" sz="1600" b="1" dirty="0"/>
              <a:t>F</a:t>
            </a:r>
            <a:r>
              <a:rPr lang="en-US" sz="1600" dirty="0"/>
              <a:t>rontier – Teacher, no prompt tuning</a:t>
            </a:r>
            <a:endParaRPr lang="en-US" sz="1600" b="1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1A823C0-2191-4C38-BBA6-D337788F3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865702"/>
              </p:ext>
            </p:extLst>
          </p:nvPr>
        </p:nvGraphicFramePr>
        <p:xfrm>
          <a:off x="489975" y="4351255"/>
          <a:ext cx="5025002" cy="22196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46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46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46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76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Model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Scale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chemeClr val="bg1"/>
                          </a:solidFill>
                          <a:latin typeface="HSE Sans"/>
                        </a:rPr>
                        <a:t>B (%)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chemeClr val="bg1"/>
                          </a:solidFill>
                          <a:latin typeface="HSE Sans"/>
                        </a:rPr>
                        <a:t>K (%)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Δ (pp)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GC (%)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53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73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E7D32"/>
                          </a:solidFill>
                          <a:latin typeface="HSE Sans"/>
                        </a:rPr>
                        <a:t>+20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69%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E7D32"/>
                          </a:solidFill>
                          <a:latin typeface="HSE Sans"/>
                        </a:rPr>
                        <a:t>+23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42%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22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E7D32"/>
                          </a:solidFill>
                          <a:latin typeface="HSE Sans"/>
                        </a:rPr>
                        <a:t>+8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13%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5t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F7F7F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60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63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E7D32"/>
                          </a:solidFill>
                          <a:latin typeface="HSE Sans"/>
                        </a:rPr>
                        <a:t>+3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14%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58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E7D32"/>
                          </a:solidFill>
                          <a:latin typeface="HSE Sans"/>
                        </a:rPr>
                        <a:t>+11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31%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7F7F7F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0%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62828"/>
                          </a:solidFill>
                          <a:latin typeface="HSE Sans"/>
                        </a:rPr>
                        <a:t>-10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C62828"/>
                          </a:solidFill>
                          <a:latin typeface="HSE Sans"/>
                        </a:rPr>
                        <a:t>-31%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5D85055-A70E-41E9-8908-629C9B359667}"/>
              </a:ext>
            </a:extLst>
          </p:cNvPr>
          <p:cNvSpPr txBox="1"/>
          <p:nvPr/>
        </p:nvSpPr>
        <p:spPr>
          <a:xfrm>
            <a:off x="489975" y="2037141"/>
            <a:ext cx="502500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No model demonstrated full gap closure. Further modifications to the teaching pipeline required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Cannot yet infer any pattern what drives more/less gap closure</a:t>
            </a:r>
          </a:p>
        </p:txBody>
      </p:sp>
    </p:spTree>
    <p:extLst>
      <p:ext uri="{BB962C8B-B14F-4D97-AF65-F5344CB8AC3E}">
        <p14:creationId xmlns:p14="http://schemas.microsoft.com/office/powerpoint/2010/main" val="1727805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14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Conclusion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43" name="Table 0">
            <a:extLst>
              <a:ext uri="{FF2B5EF4-FFF2-40B4-BE49-F238E27FC236}">
                <a16:creationId xmlns:a16="http://schemas.microsoft.com/office/drawing/2014/main" id="{839340E9-4540-456E-BE6A-8C3A5BE85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926909"/>
              </p:ext>
            </p:extLst>
          </p:nvPr>
        </p:nvGraphicFramePr>
        <p:xfrm>
          <a:off x="548132" y="2826617"/>
          <a:ext cx="5609986" cy="1798320"/>
        </p:xfrm>
        <a:graphic>
          <a:graphicData uri="http://schemas.openxmlformats.org/drawingml/2006/table">
            <a:tbl>
              <a:tblPr/>
              <a:tblGrid>
                <a:gridCol w="1558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8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1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0" dirty="0">
                          <a:solidFill>
                            <a:srgbClr val="000000"/>
                          </a:solidFill>
                        </a:rPr>
                        <a:t>Q1: Which failure modes respond?</a:t>
                      </a:r>
                      <a:endParaRPr lang="en-US" sz="1300" b="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Policy failures most responsive. Multi-step reasoning resists intervention.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4AD97A"/>
                          </a:solidFill>
                        </a:rPr>
                        <a:t>✓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3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0" dirty="0">
                          <a:solidFill>
                            <a:srgbClr val="000000"/>
                          </a:solidFill>
                        </a:rPr>
                        <a:t>Q2: Does fix rate scale?</a:t>
                      </a:r>
                      <a:endParaRPr lang="en-US" sz="1300" b="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Stable at 5–10 tasks (+20pp). Halves at 20 (+11pp). Capacity ceiling: 5–8 fixable tasks.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4AD97A"/>
                          </a:solidFill>
                        </a:rPr>
                        <a:t>✓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3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0" dirty="0">
                          <a:solidFill>
                            <a:srgbClr val="000000"/>
                          </a:solidFill>
                        </a:rPr>
                        <a:t>Q3: Can patches close gap?</a:t>
                      </a:r>
                      <a:endParaRPr lang="en-US" sz="1300" b="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Yes for capable students (Qwen3.5→65%). No for weak (GLM→0%). Contingent on student.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D9C84A"/>
                          </a:solidFill>
                        </a:rPr>
                        <a:t>~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5" name="Text 3">
            <a:extLst>
              <a:ext uri="{FF2B5EF4-FFF2-40B4-BE49-F238E27FC236}">
                <a16:creationId xmlns:a16="http://schemas.microsoft.com/office/drawing/2014/main" id="{82B78FAA-5174-4D23-9E42-F3380D894A65}"/>
              </a:ext>
            </a:extLst>
          </p:cNvPr>
          <p:cNvSpPr/>
          <p:nvPr/>
        </p:nvSpPr>
        <p:spPr>
          <a:xfrm>
            <a:off x="6497199" y="2832638"/>
            <a:ext cx="5261010" cy="2440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1.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Teacher-driven prompt evolution framework — 3 patch surfaces, validate-before-merge</a:t>
            </a:r>
            <a:endParaRPr lang="en-US" sz="1600" dirty="0">
              <a:latin typeface="HSE Sans" panose="02000000000000000000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2.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Empirical eval of auto prompt optimization on multi-turn tool-calling benchmark</a:t>
            </a:r>
            <a:endParaRPr lang="en-US" sz="1600" dirty="0">
              <a:latin typeface="HSE Sans" panose="02000000000000000000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3.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Scaling evidence: stable gain, declining fix rate, hard core, student capability role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3E954F-FF62-4D8E-90F9-745DC0F2DED6}"/>
              </a:ext>
            </a:extLst>
          </p:cNvPr>
          <p:cNvSpPr txBox="1"/>
          <p:nvPr/>
        </p:nvSpPr>
        <p:spPr>
          <a:xfrm>
            <a:off x="489976" y="2180676"/>
            <a:ext cx="5444294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Outcomes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DED217-8DDA-445A-9C42-81E4B50242DA}"/>
              </a:ext>
            </a:extLst>
          </p:cNvPr>
          <p:cNvSpPr txBox="1"/>
          <p:nvPr/>
        </p:nvSpPr>
        <p:spPr>
          <a:xfrm>
            <a:off x="6382858" y="2180676"/>
            <a:ext cx="3954986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Contributions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117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Self-Evolving LLM Agents via Reflective Prompt and Tool-Schema Patching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Conclusion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3E954F-FF62-4D8E-90F9-745DC0F2DED6}"/>
              </a:ext>
            </a:extLst>
          </p:cNvPr>
          <p:cNvSpPr txBox="1"/>
          <p:nvPr/>
        </p:nvSpPr>
        <p:spPr>
          <a:xfrm>
            <a:off x="489976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Limitations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F6FA68-446B-4CD6-9778-E6C2D54FF2D6}"/>
              </a:ext>
            </a:extLst>
          </p:cNvPr>
          <p:cNvSpPr txBox="1"/>
          <p:nvPr/>
        </p:nvSpPr>
        <p:spPr>
          <a:xfrm>
            <a:off x="6158118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Further Work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A4DF4B-876E-40E3-9A1A-52D4EF52B362}"/>
              </a:ext>
            </a:extLst>
          </p:cNvPr>
          <p:cNvSpPr txBox="1"/>
          <p:nvPr/>
        </p:nvSpPr>
        <p:spPr>
          <a:xfrm>
            <a:off x="489976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Single domain tested; only 20 tasks x 3 trials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Only OSS models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No RLHF, </a:t>
            </a:r>
            <a:r>
              <a:rPr lang="en-US" sz="1600" dirty="0" err="1"/>
              <a:t>LoRA</a:t>
            </a:r>
            <a:r>
              <a:rPr lang="en-US" sz="1600" dirty="0"/>
              <a:t> comparisons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Insufficient reliability: 73% pass rate &lt;&lt; 99.99%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209615-852C-4E94-8697-00AEC9A4EA5B}"/>
              </a:ext>
            </a:extLst>
          </p:cNvPr>
          <p:cNvSpPr txBox="1"/>
          <p:nvPr/>
        </p:nvSpPr>
        <p:spPr>
          <a:xfrm>
            <a:off x="6158118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Vary teachers and students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Compare against adapted GEPA &amp; others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Multi-agent decomposition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Test against other benchmarks</a:t>
            </a:r>
          </a:p>
        </p:txBody>
      </p:sp>
    </p:spTree>
    <p:extLst>
      <p:ext uri="{BB962C8B-B14F-4D97-AF65-F5344CB8AC3E}">
        <p14:creationId xmlns:p14="http://schemas.microsoft.com/office/powerpoint/2010/main" val="215918035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Try new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986"/>
      </a:accent1>
      <a:accent2>
        <a:srgbClr val="004256"/>
      </a:accent2>
      <a:accent3>
        <a:srgbClr val="A5A5A5"/>
      </a:accent3>
      <a:accent4>
        <a:srgbClr val="500056"/>
      </a:accent4>
      <a:accent5>
        <a:srgbClr val="5B9BD5"/>
      </a:accent5>
      <a:accent6>
        <a:srgbClr val="864300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15499</TotalTime>
  <Words>1759</Words>
  <Application>Microsoft Office PowerPoint</Application>
  <PresentationFormat>Widescreen</PresentationFormat>
  <Paragraphs>457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HSE Sans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Барабанова Мария Сергеевна</dc:creator>
  <cp:lastModifiedBy>Gleb</cp:lastModifiedBy>
  <cp:revision>61</cp:revision>
  <dcterms:created xsi:type="dcterms:W3CDTF">2021-12-23T09:05:15Z</dcterms:created>
  <dcterms:modified xsi:type="dcterms:W3CDTF">2026-03-19T17:44:30Z</dcterms:modified>
</cp:coreProperties>
</file>