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72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Self-Evolving LLM Agents via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Reflective Prompt and Tool-Schema Patching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Gleb Dementev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Defense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Terms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Tool-Calling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tool schemas → multi-turn conversation → tool invocations on DB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customer-service bots, CRM agents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Evolution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diagnoses failures → generates patches (prompt, schemas, code) → student re-evaluated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weight modification.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1463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90D9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τ²-bench: evaluation surface — structured tasks, simulated users, binary pass/fail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Domains: airline, retail, telecom  |  Teacher: Kimi K2.5  |  Student: Qwen3 30B-A3B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4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Agent Deployment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Agents fail 15–50% on enterprise benchmarks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prompts can't adapt post-deploy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Fine-tuning: expensive, irreversible, alignment tax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Prompt Optimization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DSPy, TextGrad, GEPA improve w/o weight access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Teacher–student distillation works at weight/output level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 yet tested at prompt level on 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Prompt-level evolution on agentic benchmarks — untested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2.5: Optimization coverage heatmap — empty 'Tool-Calling Benchmark' column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Problem, Goal &amp; Research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4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822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method combines teacher-driven prompt optimization + validation on tool-agent-user benchmarks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extent teacher-driven prompt/tool-schema evolution improves agent performance on τ²-bench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failure modes respond to prompt/schema edits? Which resist?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behaviour — does fix rate hold as task pool grows?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prompt patches close baseline→frontier gap w/o weight updates?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16459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 Baseline eval on τ²-bench airline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Failure mode catalogue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 Diagnose-patch-validate loop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Evolution framework (software)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 Eval across 5/10/20 tasks, 3 models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Scaling data + cross-model comparison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 Measure gap closure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Primary outcome 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 Analyse patch distribution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Boundaries of prompt-level intervention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Theoretical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Benchmarks &amp; Prompting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τ-bench, AgentBench, GAIA quantify gap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prompting: capability ↑, adaptability 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Fine-tuning impractical for rapid iteration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Optimization &amp; Distillation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DSPy, TextGrad, GEPA: gains on reasoning tasks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Distillation: weights → outputs → prompts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None validated on tool-calling benchmarks</a:t>
            </a:r>
            <a:endParaRPr lang="en-US" sz="1000" dirty="0"/>
          </a:p>
        </p:txBody>
      </p:sp>
      <p:pic>
        <p:nvPicPr>
          <p:cNvPr id="10" name="Image 0" descr="/sessions/wonderful-vigilant-goodall/mnt/tau-evo/figures/slide_fig_lr_01_argumen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8595360" cy="8321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2.1 — Six-step argument chain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 &amp;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τ²-bench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(Barres et al., 2025): multi-turn convos, simulated user, tool calls on DB, binary pass¹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 domain — 50 tasks (subsets: 5, 10, 20)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97480" cy="914400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 (Baseline)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default prompt/tools → floor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97480" cy="914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(Evolved)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evolved prompt/patched tools → intervention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6974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 (Frontier)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Teacher, default prompt/tools → ceiling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834640"/>
            <a:ext cx="45720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Closure = (K − B) / (F − B) × 100%</a:t>
            </a:r>
            <a:endParaRPr lang="en-US" sz="1400" dirty="0"/>
          </a:p>
        </p:txBody>
      </p:sp>
      <p:pic>
        <p:nvPicPr>
          <p:cNvPr id="16" name="Image 0" descr="/sessions/wonderful-vigilant-goodall/mnt/tau-evo/figures/slide_fig_07_conversation_mechan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20440"/>
            <a:ext cx="82296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Selection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Student (primary)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Qwen3 30B-A3B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(3.3B active)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Cost-efficient MoE; headroom to frontier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Student (ablation)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Qwen3.5 Flash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Stronger instruction follower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Student (ablation)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GLM 4.7 Flash (9B)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Different arch family → generalisability test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Teacher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Kimi K2.5 (~1T MoE)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Frontier reasoning; 256K ctx; open-weight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 simulator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Qwen3 30B-A3B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Follows scripts; frontier not needed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Evolution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Outer Loop</a:t>
            </a:r>
            <a:endParaRPr lang="en-US" sz="1200" dirty="0"/>
          </a:p>
        </p:txBody>
      </p:sp>
      <p:pic>
        <p:nvPicPr>
          <p:cNvPr id="5" name="Image 0" descr="/sessions/wonderful-vigilant-goodall/mnt/tau-evo/figures/slide_fig_01_outer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Inner Loop (per-failure fix)</a:t>
            </a:r>
            <a:endParaRPr lang="en-US" sz="1200" dirty="0"/>
          </a:p>
        </p:txBody>
      </p:sp>
      <p:pic>
        <p:nvPicPr>
          <p:cNvPr id="7" name="Image 1" descr="/sessions/wonderful-vigilant-goodall/mnt/tau-evo/figures/slide_fig_02_inner_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43200"/>
            <a:ext cx="8229600" cy="1188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teaching (prompt+schema) → Phase 2: guardrails (+preprocessor code)  |  Unanimous pass required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Patch Surfaces &amp; Teacher Session</a:t>
            </a:r>
            <a:endParaRPr lang="en-US" sz="2600" dirty="0"/>
          </a:p>
        </p:txBody>
      </p:sp>
      <p:pic>
        <p:nvPicPr>
          <p:cNvPr id="4" name="Image 0" descr="/sessions/wonderful-vigilant-goodall/mnt/tau-evo/figures/slide_fig_06_patch_surf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3657600" cy="2505456"/>
          </a:xfrm>
          <a:prstGeom prst="rect">
            <a:avLst/>
          </a:prstGeom>
        </p:spPr>
      </p:pic>
      <p:pic>
        <p:nvPicPr>
          <p:cNvPr id="5" name="Image 1" descr="/sessions/wonderful-vigilant-goodall/mnt/tau-evo/figures/slide_fig_04_teacher_se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822960"/>
            <a:ext cx="4754880" cy="1984248"/>
          </a:xfrm>
          <a:prstGeom prst="rect">
            <a:avLst/>
          </a:prstGeom>
        </p:spPr>
      </p:pic>
      <p:pic>
        <p:nvPicPr>
          <p:cNvPr id="6" name="Image 2" descr="/sessions/wonderful-vigilant-goodall/mnt/tau-evo/figures/slide_fig_10_esca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566160"/>
            <a:ext cx="8595360" cy="10058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surfaces: prompt patches (rules), tool schema patches (constraints), tool preprocessors (code)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Metrics &amp; Failure Taxonomy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pass¹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fraction of tasks with perfect reward (1.0). Binary, no partial credit.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Closure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(K−B)/(F−B) × 100%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Rate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fraction of attempted fixes → unanimous pass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Failure Taxonomy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188720"/>
            <a:ext cx="3200400" cy="2926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188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TOOL_MISUSE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554480"/>
            <a:ext cx="3200400" cy="292608"/>
          </a:xfrm>
          <a:prstGeom prst="rect">
            <a:avLst/>
          </a:prstGeom>
          <a:solidFill>
            <a:srgbClr val="D94A4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554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POLICY_VIOLATION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920240"/>
            <a:ext cx="3200400" cy="292608"/>
          </a:xfrm>
          <a:prstGeom prst="rect">
            <a:avLst/>
          </a:prstGeom>
          <a:solidFill>
            <a:srgbClr val="D9C84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920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REASONING_ERROR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286000"/>
            <a:ext cx="3200400" cy="292608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2860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COMMUNICATION_ERROR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Tiers: instruction (prompt/schema) | tools (schema-only) | guardrail (preprocessor code)</a:t>
            </a:r>
            <a:endParaRPr lang="en-US" sz="1000" dirty="0"/>
          </a:p>
        </p:txBody>
      </p:sp>
      <p:pic>
        <p:nvPicPr>
          <p:cNvPr id="15" name="Image 0" descr="/sessions/wonderful-vigilant-goodall/mnt/tau-evo/figures/slide_fig_09_reward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73152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F1: Improvement Across All Scales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30B-A3B: prompt evolution improves pass rate at every scale tested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D9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tasks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4AD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+20pp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rate: 100%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71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tasks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+23pp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3756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rate: 56%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C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71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tasks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D9C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+11pp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rate: 53%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absolute gain at 5–10 tasks; diminishing returns at 20. Fix rate declines with scale.</a:t>
            </a:r>
            <a:endParaRPr lang="en-US" sz="1100" dirty="0"/>
          </a:p>
        </p:txBody>
      </p:sp>
      <p:pic>
        <p:nvPicPr>
          <p:cNvPr id="18" name="Image 0" descr="/sessions/wonderful-vigilant-goodall/mnt/tau-evo/figures/slide_fig_11_paralle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931920"/>
            <a:ext cx="6400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F2: Value Contingent on Student Capability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teacher patches → sharply divergent outcomes across students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Student @ 10 tasks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 pass (majority)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Fix rate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Qwen3.5 Flash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D97A"/>
                          </a:solidFill>
                        </a:rPr>
                        <a:t>+30pp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Qwen3 30B-A3B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90D9"/>
                          </a:solidFill>
                        </a:rPr>
                        <a:t>+20pp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GLM 4.7 Flash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4A4A"/>
                          </a:solidFill>
                        </a:rPr>
                        <a:t>0pp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20 tasks: Qwen3.5 Flash → 65% (+20pp)  |  Qwen3 30B → 30% (+5pp)  |  GLM dropped (negative results)</a:t>
            </a:r>
            <a:endParaRPr lang="en-US" sz="1100" dirty="0"/>
          </a:p>
        </p:txBody>
      </p:sp>
      <p:pic>
        <p:nvPicPr>
          <p:cNvPr id="7" name="Image 0" descr="/sessions/wonderful-vigilant-goodall/mnt/tau-evo/figures/slide_fig_12_patch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7315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F3: 70–92% Fixes Are Instruction-Tier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text + schema edits dominate; ratio stable across scales and models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tasks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417320"/>
            <a:ext cx="4544568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Shape 5"/>
          <p:cNvSpPr/>
          <p:nvPr/>
        </p:nvSpPr>
        <p:spPr>
          <a:xfrm>
            <a:off x="7104888" y="1417320"/>
            <a:ext cx="185623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417320"/>
            <a:ext cx="4544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71%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tasks (Qwen3)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057400"/>
            <a:ext cx="4544568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Shape 9"/>
          <p:cNvSpPr/>
          <p:nvPr/>
        </p:nvSpPr>
        <p:spPr>
          <a:xfrm>
            <a:off x="7104888" y="2057400"/>
            <a:ext cx="185623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057400"/>
            <a:ext cx="4544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71%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tasks (Qwen3.5)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697480"/>
            <a:ext cx="51206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2697480"/>
            <a:ext cx="12801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337560"/>
            <a:ext cx="448056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3337560"/>
            <a:ext cx="12801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3337560"/>
            <a:ext cx="640080" cy="320040"/>
          </a:xfrm>
          <a:prstGeom prst="rect">
            <a:avLst/>
          </a:prstGeom>
          <a:solidFill>
            <a:srgbClr val="D9C84A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3337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3749040"/>
            <a:ext cx="274320" cy="1828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30632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Instruction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27432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Guardrail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3749040"/>
            <a:ext cx="274320" cy="182880"/>
          </a:xfrm>
          <a:prstGeom prst="rect">
            <a:avLst/>
          </a:prstGeom>
          <a:solidFill>
            <a:srgbClr val="D9C84A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Tool-schema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Superficial Alignment Hypothesis (Zhou et al., 2023)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F4: Hard Core of Resistant Tasks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7, 9 resist all fixes across all students. Unfixable set shrinks with stronger models but persists.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200400" cy="1371600"/>
          </a:xfrm>
          <a:prstGeom prst="rect">
            <a:avLst/>
          </a:prstGeom>
          <a:solidFill>
            <a:srgbClr val="4AD97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Fixable cluster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AD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(greens progressively)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1371600"/>
            <a:ext cx="3200400" cy="1371600"/>
          </a:xfrm>
          <a:prstGeom prst="rect">
            <a:avLst/>
          </a:prstGeom>
          <a:solidFill>
            <a:srgbClr val="D94A4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371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Resistant cluster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(stays red — Tasks 7, 9)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3716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</a:rPr>
              <a:t>→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Flash fixes Tasks 11, 12 that Qwen3 30B cannot — capability-limited, not structurally hard</a:t>
            </a:r>
            <a:endParaRPr lang="en-US" sz="1100" dirty="0"/>
          </a:p>
        </p:txBody>
      </p:sp>
      <p:pic>
        <p:nvPicPr>
          <p:cNvPr id="11" name="Image 0" descr="/sessions/wonderful-vigilant-goodall/mnt/tau-evo/figures/slide_fig_09_reward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83280"/>
            <a:ext cx="7315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F5: Patch Interference Causes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Accumulated patches create conflicts → regression paralleling catastrophic forgetting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GLM 4.7 Flash @ 5 tasks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4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Sweep 2: 80%  →  Sweep 3: 40%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decline at all scales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Regression severity by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30B: </a:t>
            </a:r>
            <a:r>
              <a:rPr lang="en-US" sz="1100" dirty="0">
                <a:solidFill>
                  <a:srgbClr val="4AD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mildest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Flash: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at 10 (-17pp trial), stabilises at 20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GLM: </a:t>
            </a:r>
            <a:r>
              <a:rPr lang="en-US" sz="1100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decline everywhere</a:t>
            </a:r>
            <a:endParaRPr lang="en-US" sz="1100" dirty="0"/>
          </a:p>
        </p:txBody>
      </p:sp>
      <p:pic>
        <p:nvPicPr>
          <p:cNvPr id="12" name="Image 0" descr="/sessions/wonderful-vigilant-goodall/mnt/tau-evo/figures/slide_fig_12_patch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8229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Hypothesis Summary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Sub-question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RQ1: Which failure modes respond?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Policy failures most responsive (70–92% instruction-tier). Multi-step reasoning resists all intervention.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D97A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RQ2: Does fix rate scale?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Stable at 5–10 tasks (+20pp). Halves at 20 (+11pp). Capacity ceiling: 5–8 fixable tasks.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D97A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RQ3: Can patches close gap?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 for capable students (Qwen3.5→65%). No for weak (GLM→0%). Contingent on student.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C84A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Teacher-driven prompt evolution framework — 3 patch surfaces, validate-before-merge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empirical eval of auto prompt optimization on multi-turn tool-calling benchmark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evidence: stable gain, declining fix rate, hard core, student capability role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support for Superficial Alignment Hypothesis in agentic settings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4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domain (airline) — retail, telecom untested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teacher — sensitivity unknown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trials/task — limited statistical power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fine-tuning baseline (RLHF/DPO)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patch retirement → cumulative interference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result 65% — far from enterprise 99.9%+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Self-Evolving LLM Agents via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Reflective Prompt and Tool-Schema Patching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Gleb Dementev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1218</Words>
  <Application>Microsoft Office PowerPoint</Application>
  <PresentationFormat>On-screen Show (16:9)</PresentationFormat>
  <Paragraphs>209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Self-Evolving LLM Agents via Reflective Prompt and Tool-Schema Patching</dc:title>
  <dc:subject>PptxGenJS Presentation</dc:subject>
  <dc:creator>Gleb Dementev</dc:creator>
  <cp:lastModifiedBy>Gleb</cp:lastModifiedBy>
  <cp:revision>1</cp:revision>
  <dcterms:created xsi:type="dcterms:W3CDTF">2026-03-19T09:23:50Z</dcterms:created>
  <dcterms:modified xsi:type="dcterms:W3CDTF">2026-03-19T10:21:22Z</dcterms:modified>
</cp:coreProperties>
</file>