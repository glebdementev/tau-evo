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e_gs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74320"/>
            <a:ext cx="640080" cy="32004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3300984" y="466344"/>
            <a:ext cx="0" cy="585216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9048" y="466344"/>
            <a:ext cx="0" cy="585216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277856" y="466344"/>
            <a:ext cx="0" cy="585216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640312" y="466344"/>
            <a:ext cx="0" cy="585216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64992" y="466344"/>
            <a:ext cx="36576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HSE Sans"/>
              </a:rPr>
              <a:t>Results: Research Question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466344"/>
            <a:ext cx="36576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HSE Sans"/>
              </a:rPr>
              <a:t>Chapter 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" y="1097280"/>
            <a:ext cx="11494008" cy="0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3776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D69"/>
                </a:solidFill>
                <a:latin typeface="HSE Sans"/>
              </a:rPr>
              <a:t>Q1: We can fix only some tasks; others prove resistant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69164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2D69"/>
                </a:solidFill>
                <a:latin typeface="HSE Sans"/>
              </a:rPr>
              <a:t>20 tasks — sweep 3 vs baseline (pass/3 trials). Q30B &amp; Q3.5F: 20-task exp. GLM: 10-task exp (dropped at 20t).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93776" y="1920240"/>
          <a:ext cx="3236976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/>
                <a:gridCol w="347472"/>
                <a:gridCol w="365760"/>
                <a:gridCol w="347472"/>
                <a:gridCol w="365760"/>
                <a:gridCol w="347472"/>
                <a:gridCol w="365760"/>
                <a:gridCol w="749808"/>
              </a:tblGrid>
              <a:tr h="173735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HSE Sans"/>
                        </a:rPr>
                        <a:t/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F2D69"/>
                          </a:solidFill>
                          <a:latin typeface="HSE Sans"/>
                        </a:rPr>
                        <a:t>Qwen3 30B-A3B</a:t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HSE Sans"/>
                        </a:rPr>
                        <a:t/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F2D69"/>
                          </a:solidFill>
                          <a:latin typeface="HSE Sans"/>
                        </a:rPr>
                        <a:t>Qwen3.5 Flash</a:t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HSE Sans"/>
                        </a:rPr>
                        <a:t/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F2D69"/>
                          </a:solidFill>
                          <a:latin typeface="HSE Sans"/>
                        </a:rPr>
                        <a:t>GLM 4.7 Flash</a:t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HSE Sans"/>
                        </a:rPr>
                        <a:t/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HSE Sans"/>
                        </a:rPr>
                        <a:t/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</a:tr>
              <a:tr h="173735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F2D69"/>
                          </a:solidFill>
                          <a:latin typeface="HSE Sans"/>
                        </a:rPr>
                        <a:t>Task</a:t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F2D69"/>
                          </a:solidFill>
                          <a:latin typeface="HSE Sans"/>
                        </a:rPr>
                        <a:t>Base</a:t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F2D69"/>
                          </a:solidFill>
                          <a:latin typeface="HSE Sans"/>
                        </a:rPr>
                        <a:t>Sw 3</a:t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F2D69"/>
                          </a:solidFill>
                          <a:latin typeface="HSE Sans"/>
                        </a:rPr>
                        <a:t>Base</a:t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F2D69"/>
                          </a:solidFill>
                          <a:latin typeface="HSE Sans"/>
                        </a:rPr>
                        <a:t>Sw 3</a:t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F2D69"/>
                          </a:solidFill>
                          <a:latin typeface="HSE Sans"/>
                        </a:rPr>
                        <a:t>Base</a:t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F2D69"/>
                          </a:solidFill>
                          <a:latin typeface="HSE Sans"/>
                        </a:rPr>
                        <a:t>Sw 3</a:t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F2D69"/>
                          </a:solidFill>
                          <a:latin typeface="HSE Sans"/>
                        </a:rPr>
                        <a:t>Verdict</a:t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</a:tr>
              <a:tr h="173735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0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34B9B"/>
                          </a:solidFill>
                          <a:latin typeface="HSE Sans"/>
                        </a:rPr>
                        <a:t>Fixed</a:t>
                      </a:r>
                    </a:p>
                  </a:txBody>
                  <a:tcPr marL="27432" marR="27432" marT="9144" marB="9144"/>
                </a:tc>
              </a:tr>
              <a:tr h="173735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1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E7D32"/>
                          </a:solidFill>
                          <a:latin typeface="HSE Sans"/>
                        </a:rPr>
                        <a:t>Stable</a:t>
                      </a:r>
                    </a:p>
                  </a:txBody>
                  <a:tcPr marL="27432" marR="27432" marT="9144" marB="9144"/>
                </a:tc>
              </a:tr>
              <a:tr h="173735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3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57F17"/>
                          </a:solidFill>
                          <a:latin typeface="HSE Sans"/>
                        </a:rPr>
                        <a:t>Model-dep</a:t>
                      </a:r>
                    </a:p>
                  </a:txBody>
                  <a:tcPr marL="27432" marR="27432" marT="9144" marB="9144"/>
                </a:tc>
              </a:tr>
              <a:tr h="173735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4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57F17"/>
                          </a:solidFill>
                          <a:latin typeface="HSE Sans"/>
                        </a:rPr>
                        <a:t>Regressed</a:t>
                      </a:r>
                    </a:p>
                  </a:txBody>
                  <a:tcPr marL="27432" marR="27432" marT="9144" marB="9144"/>
                </a:tc>
              </a:tr>
              <a:tr h="173735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5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57F17"/>
                          </a:solidFill>
                          <a:latin typeface="HSE Sans"/>
                        </a:rPr>
                        <a:t>Mixed</a:t>
                      </a:r>
                    </a:p>
                  </a:txBody>
                  <a:tcPr marL="27432" marR="27432" marT="9144" marB="9144"/>
                </a:tc>
              </a:tr>
              <a:tr h="173735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7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C62828"/>
                          </a:solidFill>
                          <a:latin typeface="HSE Sans"/>
                        </a:rPr>
                        <a:t>Resistant</a:t>
                      </a:r>
                    </a:p>
                  </a:txBody>
                  <a:tcPr marL="27432" marR="27432" marT="9144" marB="9144"/>
                </a:tc>
              </a:tr>
              <a:tr h="173735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9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C62828"/>
                          </a:solidFill>
                          <a:latin typeface="HSE Sans"/>
                        </a:rPr>
                        <a:t>Resistant</a:t>
                      </a:r>
                    </a:p>
                  </a:txBody>
                  <a:tcPr marL="27432" marR="27432" marT="9144" marB="9144"/>
                </a:tc>
              </a:tr>
              <a:tr h="173735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10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57F17"/>
                          </a:solidFill>
                          <a:latin typeface="HSE Sans"/>
                        </a:rPr>
                        <a:t>Regressed</a:t>
                      </a:r>
                    </a:p>
                  </a:txBody>
                  <a:tcPr marL="27432" marR="27432" marT="9144" marB="9144"/>
                </a:tc>
              </a:tr>
              <a:tr h="173735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11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57F17"/>
                          </a:solidFill>
                          <a:latin typeface="HSE Sans"/>
                        </a:rPr>
                        <a:t>Model-dep</a:t>
                      </a:r>
                    </a:p>
                  </a:txBody>
                  <a:tcPr marL="27432" marR="27432" marT="9144" marB="9144"/>
                </a:tc>
              </a:tr>
              <a:tr h="173735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12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57F17"/>
                          </a:solidFill>
                          <a:latin typeface="HSE Sans"/>
                        </a:rPr>
                        <a:t>Model-dep</a:t>
                      </a:r>
                    </a:p>
                  </a:txBody>
                  <a:tcPr marL="27432" marR="27432" marT="9144" marB="9144"/>
                </a:tc>
              </a:tr>
              <a:tr h="173735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14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C62828"/>
                          </a:solidFill>
                          <a:latin typeface="HSE Sans"/>
                        </a:rPr>
                        <a:t>Resistant</a:t>
                      </a:r>
                    </a:p>
                  </a:txBody>
                  <a:tcPr marL="27432" marR="27432" marT="9144" marB="9144"/>
                </a:tc>
              </a:tr>
              <a:tr h="173735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15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57F17"/>
                          </a:solidFill>
                          <a:latin typeface="HSE Sans"/>
                        </a:rPr>
                        <a:t>Fragile</a:t>
                      </a:r>
                    </a:p>
                  </a:txBody>
                  <a:tcPr marL="27432" marR="27432" marT="9144" marB="9144"/>
                </a:tc>
              </a:tr>
              <a:tr h="173735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17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57F17"/>
                          </a:solidFill>
                          <a:latin typeface="HSE Sans"/>
                        </a:rPr>
                        <a:t>Model-dep</a:t>
                      </a:r>
                    </a:p>
                  </a:txBody>
                  <a:tcPr marL="27432" marR="27432" marT="9144" marB="9144"/>
                </a:tc>
              </a:tr>
              <a:tr h="173735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20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57F17"/>
                          </a:solidFill>
                          <a:latin typeface="HSE Sans"/>
                        </a:rPr>
                        <a:t>Model-dep</a:t>
                      </a:r>
                    </a:p>
                  </a:txBody>
                  <a:tcPr marL="27432" marR="27432" marT="9144" marB="9144"/>
                </a:tc>
              </a:tr>
              <a:tr h="173735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21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57F17"/>
                          </a:solidFill>
                          <a:latin typeface="HSE Sans"/>
                        </a:rPr>
                        <a:t>Model-dep</a:t>
                      </a:r>
                    </a:p>
                  </a:txBody>
                  <a:tcPr marL="27432" marR="27432" marT="9144" marB="9144"/>
                </a:tc>
              </a:tr>
              <a:tr h="173735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23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C62828"/>
                          </a:solidFill>
                          <a:latin typeface="HSE Sans"/>
                        </a:rPr>
                        <a:t>Resistant</a:t>
                      </a:r>
                    </a:p>
                  </a:txBody>
                  <a:tcPr marL="27432" marR="27432" marT="9144" marB="9144"/>
                </a:tc>
              </a:tr>
              <a:tr h="173735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27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57F17"/>
                          </a:solidFill>
                          <a:latin typeface="HSE Sans"/>
                        </a:rPr>
                        <a:t>Model-dep</a:t>
                      </a:r>
                    </a:p>
                  </a:txBody>
                  <a:tcPr marL="27432" marR="27432" marT="9144" marB="9144"/>
                </a:tc>
              </a:tr>
              <a:tr h="173735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28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234B9B"/>
                          </a:solidFill>
                          <a:latin typeface="HSE Sans"/>
                        </a:rPr>
                        <a:t>Fixed</a:t>
                      </a:r>
                    </a:p>
                  </a:txBody>
                  <a:tcPr marL="27432" marR="27432" marT="9144" marB="9144"/>
                </a:tc>
              </a:tr>
              <a:tr h="173735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33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57F17"/>
                          </a:solidFill>
                          <a:latin typeface="HSE Sans"/>
                        </a:rPr>
                        <a:t>Fragile</a:t>
                      </a:r>
                    </a:p>
                  </a:txBody>
                  <a:tcPr marL="27432" marR="27432" marT="9144" marB="9144"/>
                </a:tc>
              </a:tr>
              <a:tr h="17375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34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57F17"/>
                          </a:solidFill>
                          <a:latin typeface="HSE Sans"/>
                        </a:rPr>
                        <a:t>Fragile</a:t>
                      </a:r>
                    </a:p>
                  </a:txBody>
                  <a:tcPr marL="27432" marR="27432" marT="9144" marB="9144"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663440" y="16916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2D69"/>
                </a:solidFill>
                <a:latin typeface="HSE Sans"/>
              </a:rPr>
              <a:t>Fix tier breakdown (all experiments)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965960"/>
            <a:ext cx="7772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HSE Sans"/>
              </a:rPr>
              <a:t>Q30B 5t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13831" y="1965960"/>
            <a:ext cx="1028700" cy="210312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HSE Sans"/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42531" y="1965960"/>
            <a:ext cx="411480" cy="210312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0588" y="1965960"/>
            <a:ext cx="3200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=7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03704"/>
            <a:ext cx="7772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HSE Sans"/>
              </a:rPr>
              <a:t>Q30B 10t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13831" y="2203704"/>
            <a:ext cx="1028700" cy="210312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HSE Sans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42531" y="2203704"/>
            <a:ext cx="411480" cy="210312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0588" y="2203704"/>
            <a:ext cx="3200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=7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441448"/>
            <a:ext cx="7772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HSE Sans"/>
              </a:rPr>
              <a:t>Q30B 20t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13831" y="2441448"/>
            <a:ext cx="1440180" cy="210312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HSE Sans"/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54012" y="2441448"/>
            <a:ext cx="411480" cy="210312"/>
          </a:xfrm>
          <a:prstGeom prst="rect">
            <a:avLst/>
          </a:prstGeom>
          <a:solidFill>
            <a:srgbClr val="23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5492" y="2441448"/>
            <a:ext cx="205740" cy="210312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7807" y="2441448"/>
            <a:ext cx="3200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=10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679191"/>
            <a:ext cx="7772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HSE Sans"/>
              </a:rPr>
              <a:t>Q3.5F 10t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13831" y="2679191"/>
            <a:ext cx="822960" cy="210312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HSE Sans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36792" y="2679191"/>
            <a:ext cx="205740" cy="210312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79107" y="2679191"/>
            <a:ext cx="3200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=5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916936"/>
            <a:ext cx="7772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HSE Sans"/>
              </a:rPr>
              <a:t>Q3.5F 20t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13831" y="2916936"/>
            <a:ext cx="2263140" cy="210312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HSE Sans"/>
              </a:rPr>
              <a:t>11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6971" y="2916936"/>
            <a:ext cx="205740" cy="210312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19287" y="2916936"/>
            <a:ext cx="3200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=12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154680"/>
            <a:ext cx="7772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HSE Sans"/>
              </a:rPr>
              <a:t>GLM 5t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13831" y="3154680"/>
            <a:ext cx="617220" cy="210312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HSE Sans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1051" y="3154680"/>
            <a:ext cx="205740" cy="210312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7" y="3154680"/>
            <a:ext cx="3200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=4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3392424"/>
            <a:ext cx="7772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HSE Sans"/>
              </a:rPr>
              <a:t>GLM 10t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13831" y="3392424"/>
            <a:ext cx="617220" cy="210312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HSE Sans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31051" y="3392424"/>
            <a:ext cx="205740" cy="210312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7" y="3392424"/>
            <a:ext cx="3200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=4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13831" y="3666744"/>
            <a:ext cx="118872" cy="118872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0136" y="3657600"/>
            <a:ext cx="1188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Instruction (70–92%)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3992" y="3666744"/>
            <a:ext cx="118872" cy="118872"/>
          </a:xfrm>
          <a:prstGeom prst="rect">
            <a:avLst/>
          </a:prstGeom>
          <a:solidFill>
            <a:srgbClr val="23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0296" y="3657600"/>
            <a:ext cx="1188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Tool schema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74152" y="3666744"/>
            <a:ext cx="118872" cy="118872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0456" y="3657600"/>
            <a:ext cx="1188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Guardrail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169164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2D69"/>
                </a:solidFill>
                <a:latin typeface="HSE Sans"/>
              </a:rPr>
              <a:t>Unfixable set shrinks with model strength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1938528"/>
            <a:ext cx="1508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HSE Sans"/>
              </a:rPr>
              <a:t>Qwen3 30B (10t)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57232" y="1947672"/>
            <a:ext cx="256032" cy="1828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HSE Sans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68128" y="1938528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7, 9, 11, 12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2176272"/>
            <a:ext cx="1508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HSE Sans"/>
              </a:rPr>
              <a:t>GLM 4.7 (10t)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57232" y="2185415"/>
            <a:ext cx="256032" cy="1828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HSE Sans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68128" y="217627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7, 9, 11, 12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2414016"/>
            <a:ext cx="1508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HSE Sans"/>
              </a:rPr>
              <a:t>Q3.5 Flash (10t)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57232" y="2423160"/>
            <a:ext cx="256032" cy="1828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HSE Sans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68128" y="2414016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7 only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2651760"/>
            <a:ext cx="1508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HSE Sans"/>
              </a:rPr>
              <a:t>Q3.5 Flash (20t)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857232" y="2660904"/>
            <a:ext cx="256032" cy="182880"/>
          </a:xfrm>
          <a:prstGeom prst="round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HSE Sans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68128" y="2651760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7, 9, 14, 23, 33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2889504"/>
            <a:ext cx="1508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HSE Sans"/>
              </a:rPr>
              <a:t>Cross-model core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857232" y="2898648"/>
            <a:ext cx="256032" cy="18288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HSE Sans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68128" y="2889504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Tasks 7 &amp; 9</a:t>
            </a:r>
          </a:p>
        </p:txBody>
      </p:sp>
      <p:pic>
        <p:nvPicPr>
          <p:cNvPr id="65" name="Picture 64" descr="slide_fig_06_patch_surf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246120"/>
            <a:ext cx="3520440" cy="201168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321040" y="5257800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F7F7F"/>
                </a:solidFill>
                <a:latin typeface="HSE Sans"/>
              </a:rPr>
              <a:t>Fig 3.6: Failure types → Patch surfaces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7472" y="5943600"/>
            <a:ext cx="11494008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F2D69"/>
                </a:solidFill>
                <a:latin typeface="HSE Sans"/>
              </a:rPr>
              <a:t>Answer:  Policy-comprehension failures respond to instruction patches (70–92% of fixes). Multi-step reasoning failures (Tasks 7, 9) resist all 3 models. "Unfixable" is often model-dependent — a stronger student fixes what a weaker one cannot.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3776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HSE Sans"/>
              </a:rPr>
              <a:t>Source: τ²-bench airline domain, 3 trials/task. Sw 3 = final sweep after all patches accumulated. Regression visible where Sw 3 &lt; Base.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