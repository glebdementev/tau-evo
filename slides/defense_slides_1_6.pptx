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71" r:id="rId3"/>
    <p:sldId id="272" r:id="rId21"/>
    <p:sldId id="267" r:id="rId5"/>
    <p:sldId id="264" r:id="rId13"/>
    <p:sldId id="257" r:id="rId6"/>
    <p:sldId id="273" r:id="rId2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1E3C"/>
    <a:srgbClr val="0F2D69"/>
    <a:srgbClr val="234B9B"/>
    <a:srgbClr val="F5C3C3"/>
    <a:srgbClr val="CD5A5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209" autoAdjust="0"/>
  </p:normalViewPr>
  <p:slideViewPr>
    <p:cSldViewPr snapToGrid="0">
      <p:cViewPr varScale="1">
        <p:scale>
          <a:sx n="83" d="100"/>
          <a:sy n="83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9" Type="http://schemas.openxmlformats.org/officeDocument/2006/relationships/theme" Target="theme/theme1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C4D81D-654F-48DB-A33D-3E6F325A1010}" type="datetimeFigureOut">
              <a:rPr lang="ru-RU" smtClean="0"/>
              <a:t>11.02.2022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093330-6B9A-4C0D-8499-7E41F07687E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5750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8562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4887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093330-6B9A-4C0D-8499-7E41F07687E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38131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Рисунок 3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90" y="417310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635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Рисунок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6944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Прямоугольник 1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рямоугольник 1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Прямоугольник 1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ик 2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ик 2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ик 2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ик 2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ик 2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27" name="Рисунок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21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07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ик 16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9" name="Рисунок 1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435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5" name="Рисунок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152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428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817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ик 14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7" name="Рисунок 1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7553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934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 userDrawn="1"/>
        </p:nvSpPr>
        <p:spPr>
          <a:xfrm>
            <a:off x="-1" y="0"/>
            <a:ext cx="886691" cy="6858000"/>
          </a:xfrm>
          <a:prstGeom prst="rect">
            <a:avLst/>
          </a:prstGeom>
          <a:solidFill>
            <a:srgbClr val="0F2D69"/>
          </a:solidFill>
          <a:ln>
            <a:solidFill>
              <a:srgbClr val="0F2D6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891407" y="6055360"/>
            <a:ext cx="4753632" cy="80264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893129" y="0"/>
            <a:ext cx="4741260" cy="78232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5642879" y="0"/>
            <a:ext cx="2506980" cy="78232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5636260" y="6055360"/>
            <a:ext cx="2506980" cy="802640"/>
          </a:xfrm>
          <a:prstGeom prst="rect">
            <a:avLst/>
          </a:prstGeom>
          <a:solidFill>
            <a:srgbClr val="F5C3C3"/>
          </a:solidFill>
          <a:ln>
            <a:solidFill>
              <a:srgbClr val="F5C3C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8160152" y="0"/>
            <a:ext cx="4031848" cy="78232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11305311" y="1227"/>
            <a:ext cx="886690" cy="685800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 userDrawn="1"/>
        </p:nvSpPr>
        <p:spPr>
          <a:xfrm>
            <a:off x="8139832" y="6055360"/>
            <a:ext cx="4049138" cy="802640"/>
          </a:xfrm>
          <a:prstGeom prst="rect">
            <a:avLst/>
          </a:prstGeom>
          <a:solidFill>
            <a:srgbClr val="CD5A5A"/>
          </a:solidFill>
          <a:ln>
            <a:solidFill>
              <a:srgbClr val="CD5A5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Rectangle 24">
            <a:extLst>
              <a:ext uri="{FF2B5EF4-FFF2-40B4-BE49-F238E27FC236}">
                <a16:creationId xmlns:a16="http://schemas.microsoft.com/office/drawing/2014/main" id="{99DFB68F-000E-7144-9607-BCE3C40ABFE9}"/>
              </a:ext>
            </a:extLst>
          </p:cNvPr>
          <p:cNvSpPr/>
          <p:nvPr userDrawn="1"/>
        </p:nvSpPr>
        <p:spPr>
          <a:xfrm>
            <a:off x="132681" y="134899"/>
            <a:ext cx="11926638" cy="6602379"/>
          </a:xfrm>
          <a:prstGeom prst="rect">
            <a:avLst/>
          </a:prstGeom>
          <a:solidFill>
            <a:schemeClr val="bg1"/>
          </a:solidFill>
          <a:ln w="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rtlCol="0" anchor="ctr"/>
          <a:lstStyle/>
          <a:p>
            <a:pPr algn="ctr"/>
            <a:endParaRPr lang="en-RU"/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151" y="255132"/>
            <a:ext cx="2017378" cy="1006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858469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139BA1-5047-414E-8A3F-E19F7F2DED6E}" type="datetimeFigureOut">
              <a:rPr lang="ru-RU" smtClean="0"/>
              <a:t>11.02.2022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3F6F1-63BF-4504-A93A-2FA8850D49A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8408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?>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55B76545-6C8B-F946-9634-A413147AEE89}"/>
              </a:ext>
            </a:extLst>
          </p:cNvPr>
          <p:cNvSpPr txBox="1"/>
          <p:nvPr/>
        </p:nvSpPr>
        <p:spPr>
          <a:xfrm>
            <a:off x="5708404" y="614270"/>
            <a:ext cx="23467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SE Sans" panose="02000000000000000000" pitchFamily="2" charset="0"/>
              </a:rPr>
              <a:t>Master's Programme Business Analytics and Big Data Systems</a:t>
            </a:r>
            <a:endParaRPr lang="ru-RU" sz="1200" dirty="0">
              <a:latin typeface="HSE Sans" panose="02000000000000000000" pitchFamily="2" charset="0"/>
            </a:endParaRPr>
          </a:p>
        </p:txBody>
      </p:sp>
      <p:cxnSp>
        <p:nvCxnSpPr>
          <p:cNvPr id="18" name="Straight Connector 48">
            <a:extLst>
              <a:ext uri="{FF2B5EF4-FFF2-40B4-BE49-F238E27FC236}">
                <a16:creationId xmlns:a16="http://schemas.microsoft.com/office/drawing/2014/main" id="{46457941-DFD6-9241-8BB6-CA0A3EDA88BB}"/>
              </a:ext>
            </a:extLst>
          </p:cNvPr>
          <p:cNvCxnSpPr>
            <a:cxnSpLocks/>
          </p:cNvCxnSpPr>
          <p:nvPr/>
        </p:nvCxnSpPr>
        <p:spPr>
          <a:xfrm>
            <a:off x="5649835" y="463409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50">
            <a:extLst>
              <a:ext uri="{FF2B5EF4-FFF2-40B4-BE49-F238E27FC236}">
                <a16:creationId xmlns:a16="http://schemas.microsoft.com/office/drawing/2014/main" id="{AB235920-EBA7-1044-AF40-A268EBD25FF0}"/>
              </a:ext>
            </a:extLst>
          </p:cNvPr>
          <p:cNvCxnSpPr>
            <a:cxnSpLocks/>
          </p:cNvCxnSpPr>
          <p:nvPr/>
        </p:nvCxnSpPr>
        <p:spPr>
          <a:xfrm>
            <a:off x="8202204" y="463409"/>
            <a:ext cx="0" cy="840173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13541BE7-2DE2-6447-9069-9E74408E6EED}"/>
              </a:ext>
            </a:extLst>
          </p:cNvPr>
          <p:cNvSpPr txBox="1"/>
          <p:nvPr/>
        </p:nvSpPr>
        <p:spPr>
          <a:xfrm>
            <a:off x="8357009" y="614270"/>
            <a:ext cx="207980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HSE Sans" panose="02000000000000000000" pitchFamily="2" charset="0"/>
              </a:rPr>
              <a:t>Moscow 2025</a:t>
            </a:r>
            <a:endParaRPr lang="ru-RU" sz="1200" dirty="0">
              <a:latin typeface="HSE Sans" panose="02000000000000000000" pitchFamily="2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1C8D9CC-A3BB-C448-9CE9-6C4EC5E63B4E}"/>
              </a:ext>
            </a:extLst>
          </p:cNvPr>
          <p:cNvSpPr txBox="1"/>
          <p:nvPr/>
        </p:nvSpPr>
        <p:spPr>
          <a:xfrm>
            <a:off x="1273569" y="5210854"/>
            <a:ext cx="4434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HSE Sans" panose="02000000000000000000" pitchFamily="2" charset="0"/>
              </a:rPr>
              <a:t>Author: Gleb Dementev Supervisor: Arseny Lukyanov, PhD</a:t>
            </a:r>
            <a:endParaRPr lang="ru-RU" sz="1600" dirty="0">
              <a:latin typeface="HSE Sans" panose="02000000000000000000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0795D0-177E-C14A-8687-B5C8733160E7}"/>
              </a:ext>
            </a:extLst>
          </p:cNvPr>
          <p:cNvSpPr txBox="1"/>
          <p:nvPr/>
        </p:nvSpPr>
        <p:spPr>
          <a:xfrm>
            <a:off x="1273569" y="2747178"/>
            <a:ext cx="10132991" cy="207749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4300" dirty="0">
                <a:solidFill>
                  <a:srgbClr val="102D69"/>
                </a:solidFill>
                <a:latin typeface="HSE Sans" panose="02000000000000000000" pitchFamily="2" charset="0"/>
              </a:rPr>
              <a:t>Self-Evolving LLM Agents via Reflective Prompt and Tool-Schema Patching</a:t>
            </a:r>
            <a:endParaRPr lang="en-US" sz="43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0" y="3676073"/>
            <a:ext cx="674255" cy="91440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рямоугольник 2"/>
          <p:cNvSpPr/>
          <p:nvPr/>
        </p:nvSpPr>
        <p:spPr>
          <a:xfrm>
            <a:off x="10243127" y="3676073"/>
            <a:ext cx="1948874" cy="914400"/>
          </a:xfrm>
          <a:prstGeom prst="rect">
            <a:avLst/>
          </a:prstGeom>
          <a:solidFill>
            <a:srgbClr val="E61E3C"/>
          </a:solidFill>
          <a:ln>
            <a:solidFill>
              <a:srgbClr val="E61E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1571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3</a:t>
            </a:fld>
            <a:endParaRPr lang="ru-RU" sz="200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36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DEAA738D-FA51-A34E-B5B7-025EC2B33E8F}"/>
              </a:ext>
            </a:extLst>
          </p:cNvPr>
          <p:cNvSpPr txBox="1"/>
          <p:nvPr/>
        </p:nvSpPr>
        <p:spPr>
          <a:xfrm>
            <a:off x="517200" y="2362799"/>
            <a:ext cx="11123938" cy="3247043"/>
          </a:xfrm>
          <a:prstGeom prst="rect">
            <a:avLst/>
          </a:prstGeom>
          <a:noFill/>
        </p:spPr>
        <p:txBody>
          <a:bodyPr wrap="square" numCol="3" spcCol="252000" rtlCol="0" anchor="t" anchorCtr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300" dirty="0">
                <a:latin typeface="HSE Sans" panose="02000000000000000000" pitchFamily="2" charset="0"/>
              </a:rPr>
              <a:t>Problems of current agent deployment: Agents fail 15–50% of tasks on enterprise benchmarks (τ-bench, CRMArena). Static prompts cannot adapt post-deployment. Fine-tuning is expensive, irreversible, and causes alignment tax.</a:t>
            </a:r>
          </a:p>
          <a:p>
            <a:pPr>
              <a:spcBef>
                <a:spcPts val="1200"/>
              </a:spcBef>
            </a:pPr>
            <a:r>
              <a:rPr lang="en-US" sz="1300" dirty="0">
                <a:latin typeface="HSE Sans" panose="02000000000000000000" pitchFamily="2" charset="0"/>
              </a:rPr>
              <a:t>Value of automated prompt optimization: DSPy, TextGrad, GEPA improve performance without weight access. Teacher–student distillation works at weight and output level but not yet at prompt level.</a:t>
            </a:r>
          </a:p>
          <a:p>
            <a:pPr>
              <a:spcBef>
                <a:spcPts val="1200"/>
              </a:spcBef>
            </a:pPr>
            <a:r>
              <a:rPr lang="en-US" sz="1300" dirty="0">
                <a:latin typeface="HSE Sans" panose="02000000000000000000" pitchFamily="2" charset="0"/>
              </a:rPr>
              <a:t>Research gap: No method combines teacher-driven prompt optimization with validation on tool-calling benchmarks. This thesis: prompt-level evolution on agentic benchmarks — untested territory.</a:t>
            </a:r>
          </a:p>
          <a:p>
            <a:pPr>
              <a:spcBef>
                <a:spcPts val="1200"/>
              </a:spcBef>
            </a:pPr>
            <a:endParaRPr lang="en-US" sz="1300" dirty="0">
              <a:latin typeface="HSE Sans" panose="02000000000000000000" pitchFamily="2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0BCB294-B9B2-1D44-8ADB-EB69E32BE26E}"/>
              </a:ext>
            </a:extLst>
          </p:cNvPr>
          <p:cNvSpPr txBox="1"/>
          <p:nvPr/>
        </p:nvSpPr>
        <p:spPr>
          <a:xfrm>
            <a:off x="489975" y="1396903"/>
            <a:ext cx="10132991" cy="83099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Research Relevance</a:t>
            </a:r>
            <a:endParaRPr lang="en-US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8781039-E3E5-D747-83D6-445FBCD6D93C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12AFCB3-E2EC-E04D-ACAC-511D1BCF8F2A}"/>
              </a:ext>
            </a:extLst>
          </p:cNvPr>
          <p:cNvSpPr txBox="1"/>
          <p:nvPr/>
        </p:nvSpPr>
        <p:spPr>
          <a:xfrm>
            <a:off x="6158118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Introduction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8785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1AB4B37-4624-D54D-82F3-87960AF8C485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9BFE50-CF33-3E43-9912-F54B97C36005}"/>
              </a:ext>
            </a:extLst>
          </p:cNvPr>
          <p:cNvSpPr txBox="1"/>
          <p:nvPr/>
        </p:nvSpPr>
        <p:spPr>
          <a:xfrm>
            <a:off x="6158118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Theoretical Framework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5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2BC31-0947-AC42-BAAD-C5721A7173CC}"/>
              </a:ext>
            </a:extLst>
          </p:cNvPr>
          <p:cNvSpPr txBox="1"/>
          <p:nvPr/>
        </p:nvSpPr>
        <p:spPr>
          <a:xfrm>
            <a:off x="517199" y="2362799"/>
            <a:ext cx="4628149" cy="260071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>
              <a:spcBef>
                <a:spcPts val="1200"/>
              </a:spcBef>
            </a:pPr>
            <a:r>
              <a:rPr lang="en-US" sz="1300" dirty="0">
                <a:latin typeface="HSE Sans" panose="02000000000000000000" pitchFamily="2" charset="0"/>
              </a:rPr>
              <a:t>Agentic benchmarks (τ-bench, AgentBench, GAIA) quantify the reliability gap. Static prompting and tool engineering improve capability but not adaptability.</a:t>
            </a:r>
          </a:p>
          <a:p>
            <a:pPr>
              <a:spcBef>
                <a:spcPts val="1200"/>
              </a:spcBef>
            </a:pPr>
            <a:r>
              <a:rPr lang="en-US" sz="1300" dirty="0">
                <a:latin typeface="HSE Sans" panose="02000000000000000000" pitchFamily="2" charset="0"/>
              </a:rPr>
              <a:t>Automated prompt optimisation methods (DSPy, TextGrad, GEPA) produce gains on reasoning and classification tasks. Teacher–student distillation has evolved from weights (Hinton 2015) through outputs (Alpaca, Vicuna) toward prompt-level transfer (SPoT).</a:t>
            </a:r>
          </a:p>
          <a:p>
            <a:pPr>
              <a:spcBef>
                <a:spcPts val="1200"/>
              </a:spcBef>
            </a:pPr>
            <a:r>
              <a:rPr lang="en-US" sz="1300" i="1" dirty="0">
                <a:latin typeface="HSE Sans" panose="02000000000000000000" pitchFamily="2" charset="0"/>
              </a:rPr>
              <a:t>None of these methods has been validated on tool-calling benchmarks. This thesis fills the gap.</a:t>
            </a:r>
          </a:p>
        </p:txBody>
      </p:sp>
      <p:cxnSp>
        <p:nvCxnSpPr>
          <p:cNvPr id="11" name="Straight Connector 59">
            <a:extLst>
              <a:ext uri="{FF2B5EF4-FFF2-40B4-BE49-F238E27FC236}">
                <a16:creationId xmlns:a16="http://schemas.microsoft.com/office/drawing/2014/main" id="{5F7521A6-CAC7-9C4E-8FCC-A03622DBCBB4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16E0315-8012-CE49-A4A6-D0B28DC176AE}"/>
              </a:ext>
            </a:extLst>
          </p:cNvPr>
          <p:cNvSpPr txBox="1"/>
          <p:nvPr/>
        </p:nvSpPr>
        <p:spPr>
          <a:xfrm>
            <a:off x="489975" y="1396903"/>
            <a:ext cx="10132991" cy="83099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Theoretical Framework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13" name="Oval 1">
            <a:extLst>
              <a:ext uri="{FF2B5EF4-FFF2-40B4-BE49-F238E27FC236}">
                <a16:creationId xmlns:a16="http://schemas.microsoft.com/office/drawing/2014/main" id="{EA6508AF-7D72-E845-B0DC-1133C050C2BA}"/>
              </a:ext>
            </a:extLst>
          </p:cNvPr>
          <p:cNvSpPr/>
          <p:nvPr/>
        </p:nvSpPr>
        <p:spPr>
          <a:xfrm>
            <a:off x="6542049" y="1641416"/>
            <a:ext cx="4325166" cy="4325166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 smtClean="0">
                <a:solidFill>
                  <a:schemeClr val="tx1"/>
                </a:solidFill>
                <a:latin typeface="HSE Sans" panose="02000000000000000000" pitchFamily="2" charset="0"/>
              </a:rPr>
              <a:t>Six-step argument chain: §2.1–§2.6 (see Figure 2.1)</a:t>
            </a:r>
            <a:endParaRPr lang="en-RU" sz="1300" dirty="0">
              <a:solidFill>
                <a:schemeClr val="tx1"/>
              </a:solidFill>
              <a:latin typeface="HSE Sans" panose="02000000000000000000" pitchFamily="2" charset="0"/>
            </a:endParaRPr>
          </a:p>
        </p:txBody>
      </p:sp>
      <p:cxnSp>
        <p:nvCxnSpPr>
          <p:cNvPr id="23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0877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4</a:t>
            </a:fld>
            <a:endParaRPr lang="ru-RU" sz="200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36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7" name="Table 2">
            <a:extLst>
              <a:ext uri="{FF2B5EF4-FFF2-40B4-BE49-F238E27FC236}">
                <a16:creationId xmlns:a16="http://schemas.microsoft.com/office/drawing/2014/main" id="{61813214-E161-834E-818C-3D55C47AC6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676138"/>
              </p:ext>
            </p:extLst>
          </p:nvPr>
        </p:nvGraphicFramePr>
        <p:xfrm>
          <a:off x="517199" y="2274857"/>
          <a:ext cx="11126668" cy="2993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79048">
                  <a:extLst>
                    <a:ext uri="{9D8B030D-6E8A-4147-A177-3AD203B41FA5}">
                      <a16:colId xmlns:a16="http://schemas.microsoft.com/office/drawing/2014/main" val="3757515663"/>
                    </a:ext>
                  </a:extLst>
                </a:gridCol>
                <a:gridCol w="1589524">
                  <a:extLst>
                    <a:ext uri="{9D8B030D-6E8A-4147-A177-3AD203B41FA5}">
                      <a16:colId xmlns:a16="http://schemas.microsoft.com/office/drawing/2014/main" val="1046102616"/>
                    </a:ext>
                  </a:extLst>
                </a:gridCol>
                <a:gridCol w="1589524">
                  <a:extLst>
                    <a:ext uri="{9D8B030D-6E8A-4147-A177-3AD203B41FA5}">
                      <a16:colId xmlns:a16="http://schemas.microsoft.com/office/drawing/2014/main" val="3784908466"/>
                    </a:ext>
                  </a:extLst>
                </a:gridCol>
                <a:gridCol w="1589524">
                  <a:extLst>
                    <a:ext uri="{9D8B030D-6E8A-4147-A177-3AD203B41FA5}">
                      <a16:colId xmlns:a16="http://schemas.microsoft.com/office/drawing/2014/main" val="4180931641"/>
                    </a:ext>
                  </a:extLst>
                </a:gridCol>
                <a:gridCol w="1589524">
                  <a:extLst>
                    <a:ext uri="{9D8B030D-6E8A-4147-A177-3AD203B41FA5}">
                      <a16:colId xmlns:a16="http://schemas.microsoft.com/office/drawing/2014/main" val="1144053917"/>
                    </a:ext>
                  </a:extLst>
                </a:gridCol>
                <a:gridCol w="1589524">
                  <a:extLst>
                    <a:ext uri="{9D8B030D-6E8A-4147-A177-3AD203B41FA5}">
                      <a16:colId xmlns:a16="http://schemas.microsoft.com/office/drawing/2014/main" val="1079961596"/>
                    </a:ext>
                  </a:extLst>
                </a:gridCol>
              </a:tblGrid>
              <a:tr h="598670">
                <a:tc>
                  <a:txBody>
                    <a:bodyPr/>
                    <a:lstStyle/>
                    <a:p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No.</a:t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C3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Objective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C3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Deliverable</a:t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C3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RU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C3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C3C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RU" sz="1300" b="0" dirty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5C3C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9016697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1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Baseline evaluation of student models on τ²-bench airline domain</a:t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Failure mode catalogue across three student models</a:t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2</a:t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998088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Design diagnose-patch-validate loop with three patch surfaces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Evolution framework (software artefact)</a:t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6854252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3</a:t>
                      </a:r>
                      <a:endParaRPr lang="en-US" sz="1300" b="0">
                        <a:ln>
                          <a:noFill/>
                        </a:ln>
                        <a:solidFill>
                          <a:srgbClr val="102D69"/>
                        </a:solidFill>
                        <a:latin typeface="HSE Sans" panose="02000000000000000000" pitchFamily="2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Evaluate across increasing task-pool sizes (5, 10, 20) and three student models</a:t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Scaling data and cross-model comparison</a:t>
                      </a:r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Primary outcome metric</a:t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4</a:t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Measure gap closure (baseline → evolved → frontier)</a:t>
                      </a:r>
                      <a:endParaRPr lang="en-US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8144885"/>
                  </a:ext>
                </a:extLst>
              </a:tr>
              <a:tr h="5986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5</a:t>
                      </a:r>
                    </a:p>
                  </a:txBody>
                  <a:tcPr>
                    <a:lnL w="12700" cmpd="sng"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Analyse distribution of successful and unsuccessful patches</a:t>
                      </a:r>
                      <a:endParaRPr lang="en-US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>Boundaries of prompt-level intervention</a:t>
                      </a:r>
                      <a:endParaRPr lang="en-US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300" b="1" dirty="0">
                          <a:ln>
                            <a:noFill/>
                          </a:ln>
                          <a:solidFill>
                            <a:srgbClr val="102D69"/>
                          </a:solidFill>
                          <a:latin typeface="HSE Sans" panose="02000000000000000000" pitchFamily="2" charset="0"/>
                        </a:rPr>
                        <a:t/>
                      </a:r>
                      <a:endParaRPr lang="en-RU" sz="1300" b="1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  <a:p>
                      <a:pPr algn="r"/>
                      <a:endParaRPr lang="en-RU" sz="1300" b="1" dirty="0">
                        <a:ln>
                          <a:solidFill>
                            <a:schemeClr val="bg1">
                              <a:lumMod val="75000"/>
                            </a:schemeClr>
                          </a:solidFill>
                        </a:ln>
                        <a:latin typeface="HSE Sans" panose="02000000000000000000" pitchFamily="2" charset="0"/>
                      </a:endParaRPr>
                    </a:p>
                  </a:txBody>
                  <a:tcPr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2909998"/>
                  </a:ext>
                </a:extLst>
              </a:tr>
            </a:tbl>
          </a:graphicData>
        </a:graphic>
      </p:graphicFrame>
      <p:sp>
        <p:nvSpPr>
          <p:cNvPr id="38" name="TextBox 37">
            <a:extLst>
              <a:ext uri="{FF2B5EF4-FFF2-40B4-BE49-F238E27FC236}">
                <a16:creationId xmlns:a16="http://schemas.microsoft.com/office/drawing/2014/main" id="{AEB36E07-88B0-7648-8454-790E1124FC2A}"/>
              </a:ext>
            </a:extLst>
          </p:cNvPr>
          <p:cNvSpPr txBox="1"/>
          <p:nvPr/>
        </p:nvSpPr>
        <p:spPr>
          <a:xfrm>
            <a:off x="489975" y="1396903"/>
            <a:ext cx="7855127" cy="584775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1600" dirty="0">
                <a:solidFill>
                  <a:srgbClr val="102D69"/>
                </a:solidFill>
                <a:latin typeface="HSE Sans" panose="02000000000000000000" pitchFamily="2" charset="0"/>
              </a:rPr>
              <a:t>Problem: No existing method combines teacher-driven prompt optimization with validation on structured tool-agent-user benchmarks. Goal: Determine the extent to which automated prompt and tool-schema evolution can improve agent performance on τ²-bench.</a:t>
            </a:r>
            <a:endParaRPr lang="en-US" sz="16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4EFC98-B9ED-DC4E-BFE4-D8F815EDAA83}"/>
              </a:ext>
            </a:extLst>
          </p:cNvPr>
          <p:cNvSpPr txBox="1"/>
          <p:nvPr/>
        </p:nvSpPr>
        <p:spPr>
          <a:xfrm>
            <a:off x="489975" y="5461097"/>
            <a:ext cx="6097604" cy="969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300" b="0" dirty="0">
                <a:ln>
                  <a:noFill/>
                </a:ln>
                <a:latin typeface="HSE Sans" panose="02000000000000000000" pitchFamily="2" charset="0"/>
              </a:rPr>
              <a:t>Gap Closure = (K − B) / (F − B) × 100%</a:t>
            </a:r>
            <a:endParaRPr lang="en-US" sz="1300" b="0" dirty="0">
              <a:ln>
                <a:noFill/>
              </a:ln>
              <a:latin typeface="HSE Sans" panose="02000000000000000000" pitchFamily="2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53F8676-5333-DA45-BBE7-3F6663CD7B0D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  <a:endParaRPr lang="en-US" sz="1000" dirty="0">
              <a:latin typeface="HSE Sans" panose="02000000000000000000" pitchFamily="2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D8E5601-B999-0E47-BD75-16C270B7D2F0}"/>
              </a:ext>
            </a:extLst>
          </p:cNvPr>
          <p:cNvSpPr txBox="1"/>
          <p:nvPr/>
        </p:nvSpPr>
        <p:spPr>
          <a:xfrm>
            <a:off x="6158118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Problem Statement</a:t>
            </a:r>
            <a:endParaRPr lang="en-US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1830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2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83099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Key Concepts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10507C9-497B-F844-8B5B-E5D0DC533F4C}"/>
              </a:ext>
            </a:extLst>
          </p:cNvPr>
          <p:cNvSpPr txBox="1"/>
          <p:nvPr/>
        </p:nvSpPr>
        <p:spPr>
          <a:xfrm>
            <a:off x="489975" y="2284860"/>
            <a:ext cx="4201088" cy="265970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>
              <a:spcBef>
                <a:spcPts val="1300"/>
              </a:spcBef>
            </a:pPr>
            <a:r>
              <a:rPr lang="en-US" sz="1300" dirty="0">
                <a:latin typeface="HSE Sans" panose="02000000000000000000" pitchFamily="2" charset="0"/>
              </a:rPr>
              <a:t>Tool-calling agent: receives a prompt and tool schemas, holds multi-turn conversations, invokes tools against a database. Examples: customer-service bots, CRM agents.</a:t>
            </a:r>
          </a:p>
          <a:p>
            <a:pPr>
              <a:spcBef>
                <a:spcPts val="1300"/>
              </a:spcBef>
            </a:pPr>
            <a:r>
              <a:rPr lang="en-US" sz="1300" dirty="0">
                <a:latin typeface="HSE Sans" panose="02000000000000000000" pitchFamily="2" charset="0"/>
              </a:rPr>
              <a:t>Prompt evolution: a teacher model diagnoses failures, generates patches (prompt text, tool schemas, preprocessor code), student is re-evaluated. No weight modification.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ACBE9A-6A9C-B848-974E-6A4C1C02747F}"/>
              </a:ext>
            </a:extLst>
          </p:cNvPr>
          <p:cNvSpPr txBox="1"/>
          <p:nvPr/>
        </p:nvSpPr>
        <p:spPr>
          <a:xfrm>
            <a:off x="6062338" y="2284860"/>
            <a:ext cx="5578800" cy="304698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3200" dirty="0">
                <a:solidFill>
                  <a:srgbClr val="102D69"/>
                </a:solidFill>
                <a:latin typeface="HSE Sans" panose="02000000000000000000" pitchFamily="2" charset="0"/>
              </a:rPr>
              <a:t>Teacher: Kimi K2.5 Student: Qwen3 30B-A3B Benchmark: τ²-bench (airline, retail, telecom)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01B2A7-42DA-B64E-A4E1-43A9AD687417}"/>
              </a:ext>
            </a:extLst>
          </p:cNvPr>
          <p:cNvSpPr txBox="1"/>
          <p:nvPr/>
        </p:nvSpPr>
        <p:spPr>
          <a:xfrm>
            <a:off x="489975" y="5079461"/>
            <a:ext cx="3571885" cy="5539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Evaluation surface: τ²-bench — structured tasks, simulated users, binary pass/fail metric.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  <a:endParaRPr lang="ru-RU" sz="1000" dirty="0">
              <a:latin typeface="HSE Sans" panose="020000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Introduction</a:t>
            </a:r>
            <a:endParaRPr lang="ru-RU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79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Connector 19">
            <a:extLst>
              <a:ext uri="{FF2B5EF4-FFF2-40B4-BE49-F238E27FC236}">
                <a16:creationId xmlns:a16="http://schemas.microsoft.com/office/drawing/2014/main" id="{F208E74D-9D70-3B41-9778-E6E8B05CDF2D}"/>
              </a:ext>
            </a:extLst>
          </p:cNvPr>
          <p:cNvCxnSpPr>
            <a:cxnSpLocks/>
          </p:cNvCxnSpPr>
          <p:nvPr/>
        </p:nvCxnSpPr>
        <p:spPr>
          <a:xfrm>
            <a:off x="329868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1">
            <a:extLst>
              <a:ext uri="{FF2B5EF4-FFF2-40B4-BE49-F238E27FC236}">
                <a16:creationId xmlns:a16="http://schemas.microsoft.com/office/drawing/2014/main" id="{89B3484F-8C76-694C-8CD1-F1F8262BD87E}"/>
              </a:ext>
            </a:extLst>
          </p:cNvPr>
          <p:cNvCxnSpPr>
            <a:cxnSpLocks/>
          </p:cNvCxnSpPr>
          <p:nvPr/>
        </p:nvCxnSpPr>
        <p:spPr>
          <a:xfrm>
            <a:off x="6099416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5">
            <a:extLst>
              <a:ext uri="{FF2B5EF4-FFF2-40B4-BE49-F238E27FC236}">
                <a16:creationId xmlns:a16="http://schemas.microsoft.com/office/drawing/2014/main" id="{B571D10A-0DDC-9847-BD1B-712A3C9F3055}"/>
              </a:ext>
            </a:extLst>
          </p:cNvPr>
          <p:cNvCxnSpPr>
            <a:cxnSpLocks/>
          </p:cNvCxnSpPr>
          <p:nvPr/>
        </p:nvCxnSpPr>
        <p:spPr>
          <a:xfrm>
            <a:off x="10277081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E64125C-F6DE-1F4A-A554-9F1C35EAFB8C}"/>
              </a:ext>
            </a:extLst>
          </p:cNvPr>
          <p:cNvSpPr txBox="1"/>
          <p:nvPr/>
        </p:nvSpPr>
        <p:spPr>
          <a:xfrm>
            <a:off x="10337843" y="497315"/>
            <a:ext cx="6719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32AF94B5-93D7-5247-B727-C7089232F508}" type="slidenum">
              <a:rPr lang="ru-RU" sz="2000" smtClean="0">
                <a:solidFill>
                  <a:srgbClr val="102D69"/>
                </a:solidFill>
                <a:latin typeface="HSE Sans" panose="02000000000000000000" pitchFamily="2" charset="0"/>
              </a:rPr>
              <a:t>6</a:t>
            </a:fld>
            <a:endParaRPr lang="ru-RU" sz="20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44D712D-40F7-624C-A601-9C19E270CD4C}"/>
              </a:ext>
            </a:extLst>
          </p:cNvPr>
          <p:cNvSpPr txBox="1"/>
          <p:nvPr/>
        </p:nvSpPr>
        <p:spPr>
          <a:xfrm>
            <a:off x="489975" y="1396903"/>
            <a:ext cx="10132991" cy="830997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2400" dirty="0">
                <a:solidFill>
                  <a:srgbClr val="102D69"/>
                </a:solidFill>
                <a:latin typeface="HSE Sans" panose="02000000000000000000" pitchFamily="2" charset="0"/>
              </a:rPr>
              <a:t>Benchmark and Dataset: τ²-bench</a:t>
            </a:r>
            <a:endParaRPr lang="ru-RU" sz="2400" dirty="0">
              <a:solidFill>
                <a:srgbClr val="102D69"/>
              </a:solidFill>
              <a:latin typeface="HSE Sans" panose="02000000000000000000" pitchFamily="2" charset="0"/>
            </a:endParaRPr>
          </a:p>
        </p:txBody>
      </p:sp>
      <p:cxnSp>
        <p:nvCxnSpPr>
          <p:cNvPr id="28" name="Straight Connector 13">
            <a:extLst>
              <a:ext uri="{FF2B5EF4-FFF2-40B4-BE49-F238E27FC236}">
                <a16:creationId xmlns:a16="http://schemas.microsoft.com/office/drawing/2014/main" id="{62E2D9CC-0CF4-324B-BFF1-AC830802DEEB}"/>
              </a:ext>
            </a:extLst>
          </p:cNvPr>
          <p:cNvCxnSpPr>
            <a:cxnSpLocks/>
          </p:cNvCxnSpPr>
          <p:nvPr/>
        </p:nvCxnSpPr>
        <p:spPr>
          <a:xfrm>
            <a:off x="11643868" y="464363"/>
            <a:ext cx="0" cy="586260"/>
          </a:xfrm>
          <a:prstGeom prst="line">
            <a:avLst/>
          </a:prstGeom>
          <a:ln w="12700">
            <a:solidFill>
              <a:srgbClr val="102D6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F10507C9-497B-F844-8B5B-E5D0DC533F4C}"/>
              </a:ext>
            </a:extLst>
          </p:cNvPr>
          <p:cNvSpPr txBox="1"/>
          <p:nvPr/>
        </p:nvSpPr>
        <p:spPr>
          <a:xfrm>
            <a:off x="489975" y="2284860"/>
            <a:ext cx="4201088" cy="2659702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pPr>
              <a:spcBef>
                <a:spcPts val="1300"/>
              </a:spcBef>
            </a:pPr>
            <a:r>
              <a:rPr lang="en-US" sz="1300" dirty="0">
                <a:latin typeface="HSE Sans" panose="02000000000000000000" pitchFamily="2" charset="0"/>
              </a:rPr>
              <a:t>τ²-bench (Barres et al., 2025): multi-turn conversations with simulated user, tool calls against simulated database, domain-specific policies, strict binary pass¹ evaluation.</a:t>
            </a:r>
          </a:p>
          <a:p>
            <a:pPr>
              <a:spcBef>
                <a:spcPts val="1300"/>
              </a:spcBef>
            </a:pPr>
            <a:r>
              <a:rPr lang="en-US" sz="1300" dirty="0">
                <a:latin typeface="HSE Sans" panose="02000000000000000000" pitchFamily="2" charset="0"/>
              </a:rPr>
              <a:t>Airline domain: 50 tasks total. Experimental subsets: 5, 10, and 20 tasks selected for scaling analysis.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ACBE9A-6A9C-B848-974E-6A4C1C02747F}"/>
              </a:ext>
            </a:extLst>
          </p:cNvPr>
          <p:cNvSpPr txBox="1"/>
          <p:nvPr/>
        </p:nvSpPr>
        <p:spPr>
          <a:xfrm>
            <a:off x="6062338" y="2284860"/>
            <a:ext cx="5578800" cy="304698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3200" dirty="0">
                <a:solidFill>
                  <a:srgbClr val="102D69"/>
                </a:solidFill>
                <a:latin typeface="HSE Sans" panose="02000000000000000000" pitchFamily="2" charset="0"/>
              </a:rPr>
              <a:t>Condition B: Student + default prompt → floor</a:t>
            </a:r>
            <a:br>
              <a:rPr lang="en-US" sz="32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en-US" sz="3200" dirty="0">
                <a:solidFill>
                  <a:srgbClr val="102D69"/>
                </a:solidFill>
                <a:latin typeface="HSE Sans" panose="02000000000000000000" pitchFamily="2" charset="0"/>
              </a:rPr>
              <a:t>Condition K: Student + evolved prompt → intervention</a:t>
            </a:r>
            <a:br>
              <a:rPr lang="en-US" sz="3200" dirty="0">
                <a:solidFill>
                  <a:srgbClr val="102D69"/>
                </a:solidFill>
                <a:latin typeface="HSE Sans" panose="02000000000000000000" pitchFamily="2" charset="0"/>
              </a:rPr>
            </a:br>
            <a:r>
              <a:rPr lang="en-US" sz="3200" dirty="0">
                <a:solidFill>
                  <a:srgbClr val="102D69"/>
                </a:solidFill>
                <a:latin typeface="HSE Sans" panose="02000000000000000000" pitchFamily="2" charset="0"/>
              </a:rPr>
              <a:t>Condition F: Teacher + default prompt → ceiling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01B2A7-42DA-B64E-A4E1-43A9AD687417}"/>
              </a:ext>
            </a:extLst>
          </p:cNvPr>
          <p:cNvSpPr txBox="1"/>
          <p:nvPr/>
        </p:nvSpPr>
        <p:spPr>
          <a:xfrm>
            <a:off x="489975" y="5079461"/>
            <a:ext cx="3571885" cy="5539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Gap Closure = (K − B) / (F − B) × 100%</a:t>
            </a:r>
            <a:endParaRPr lang="en-US" sz="1000" dirty="0">
              <a:latin typeface="HSE Sans" panose="02000000000000000000" pitchFamily="2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3B50D95-E8C8-FD48-AEBE-39A9FC1A091E}"/>
              </a:ext>
            </a:extLst>
          </p:cNvPr>
          <p:cNvSpPr txBox="1"/>
          <p:nvPr/>
        </p:nvSpPr>
        <p:spPr>
          <a:xfrm>
            <a:off x="3365627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Self-Evolving LLM Agents via Reflective Prompt and Tool-Schema Patching</a:t>
            </a:r>
            <a:endParaRPr lang="en-US" sz="1000" dirty="0">
              <a:latin typeface="HSE Sans" panose="02000000000000000000" pitchFamily="2" charset="0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F2EE3B1-6486-FC4E-869B-3E2E08E09E21}"/>
              </a:ext>
            </a:extLst>
          </p:cNvPr>
          <p:cNvSpPr txBox="1"/>
          <p:nvPr/>
        </p:nvSpPr>
        <p:spPr>
          <a:xfrm>
            <a:off x="6158118" y="497315"/>
            <a:ext cx="2346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HSE Sans" panose="02000000000000000000" pitchFamily="2" charset="0"/>
              </a:rPr>
              <a:t>Methodology</a:t>
            </a:r>
            <a:endParaRPr lang="en-US" sz="1000" dirty="0">
              <a:latin typeface="HSE Sans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794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15034</TotalTime>
  <Words>1967</Words>
  <Application>Microsoft Office PowerPoint</Application>
  <PresentationFormat>Широкоэкранный</PresentationFormat>
  <Paragraphs>196</Paragraphs>
  <Slides>14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HSE Sans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Барабанова Мария Сергеевна</dc:creator>
  <cp:lastModifiedBy>Барабанова Мария Сергеевна</cp:lastModifiedBy>
  <cp:revision>25</cp:revision>
  <dcterms:created xsi:type="dcterms:W3CDTF">2021-12-23T09:05:15Z</dcterms:created>
  <dcterms:modified xsi:type="dcterms:W3CDTF">2022-02-11T15:37:31Z</dcterms:modified>
</cp:coreProperties>
</file>