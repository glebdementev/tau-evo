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e_gs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74320"/>
            <a:ext cx="640080" cy="32004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3300984" y="466344"/>
            <a:ext cx="0" cy="585216"/>
          </a:xfrm>
          <a:prstGeom prst="line">
            <a:avLst/>
          </a:prstGeom>
          <a:ln w="12700">
            <a:solidFill>
              <a:srgbClr val="0F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9048" y="466344"/>
            <a:ext cx="0" cy="585216"/>
          </a:xfrm>
          <a:prstGeom prst="line">
            <a:avLst/>
          </a:prstGeom>
          <a:ln w="12700">
            <a:solidFill>
              <a:srgbClr val="0F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277856" y="466344"/>
            <a:ext cx="0" cy="585216"/>
          </a:xfrm>
          <a:prstGeom prst="line">
            <a:avLst/>
          </a:prstGeom>
          <a:ln w="12700">
            <a:solidFill>
              <a:srgbClr val="0F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640312" y="466344"/>
            <a:ext cx="0" cy="585216"/>
          </a:xfrm>
          <a:prstGeom prst="line">
            <a:avLst/>
          </a:prstGeom>
          <a:ln w="12700">
            <a:solidFill>
              <a:srgbClr val="0F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364992" y="466344"/>
            <a:ext cx="36576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HSE Sans"/>
              </a:rPr>
              <a:t>Results: Research Question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3912" y="466344"/>
            <a:ext cx="36576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HSE Sans"/>
              </a:rPr>
              <a:t>Chapter 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472" y="1097280"/>
            <a:ext cx="11494008" cy="0"/>
          </a:xfrm>
          <a:prstGeom prst="line">
            <a:avLst/>
          </a:prstGeom>
          <a:ln w="12700">
            <a:solidFill>
              <a:srgbClr val="0F2D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93776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2D69"/>
                </a:solidFill>
                <a:latin typeface="HSE Sans"/>
              </a:rPr>
              <a:t>Q3: Prompt evolution can narrow the frontier gap — but regression often erases gains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2D69"/>
                </a:solidFill>
                <a:latin typeface="HSE Sans"/>
              </a:rPr>
              <a:t>Gap closure by model × scale  (trial pass rate, last sweep, F = 82%)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93776" y="1920240"/>
          <a:ext cx="3456432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47472"/>
                <a:gridCol w="457200"/>
                <a:gridCol w="457200"/>
                <a:gridCol w="457200"/>
                <a:gridCol w="548640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F2D69"/>
                          </a:solidFill>
                          <a:latin typeface="HSE Sans"/>
                        </a:rPr>
                        <a:t>Model</a:t>
                      </a:r>
                    </a:p>
                  </a:txBody>
                  <a:tcPr marL="27432" marR="27432" marT="9144" marB="9144">
                    <a:solidFill>
                      <a:srgbClr val="F5C3C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F2D69"/>
                          </a:solidFill>
                          <a:latin typeface="HSE Sans"/>
                        </a:rPr>
                        <a:t>Scale</a:t>
                      </a:r>
                    </a:p>
                  </a:txBody>
                  <a:tcPr marL="27432" marR="27432" marT="9144" marB="9144">
                    <a:solidFill>
                      <a:srgbClr val="F5C3C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F2D69"/>
                          </a:solidFill>
                          <a:latin typeface="HSE Sans"/>
                        </a:rPr>
                        <a:t>B (%)</a:t>
                      </a:r>
                    </a:p>
                  </a:txBody>
                  <a:tcPr marL="27432" marR="27432" marT="9144" marB="9144">
                    <a:solidFill>
                      <a:srgbClr val="F5C3C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F2D69"/>
                          </a:solidFill>
                          <a:latin typeface="HSE Sans"/>
                        </a:rPr>
                        <a:t>K (%)</a:t>
                      </a:r>
                    </a:p>
                  </a:txBody>
                  <a:tcPr marL="27432" marR="27432" marT="9144" marB="9144">
                    <a:solidFill>
                      <a:srgbClr val="F5C3C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F2D69"/>
                          </a:solidFill>
                          <a:latin typeface="HSE Sans"/>
                        </a:rPr>
                        <a:t>Δ (pp)</a:t>
                      </a:r>
                    </a:p>
                  </a:txBody>
                  <a:tcPr marL="27432" marR="27432" marT="9144" marB="9144">
                    <a:solidFill>
                      <a:srgbClr val="F5C3C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0F2D69"/>
                          </a:solidFill>
                          <a:latin typeface="HSE Sans"/>
                        </a:rPr>
                        <a:t>GC (%)</a:t>
                      </a:r>
                    </a:p>
                  </a:txBody>
                  <a:tcPr marL="27432" marR="27432" marT="9144" marB="9144">
                    <a:solidFill>
                      <a:srgbClr val="F5C3C3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Qwen3 30B-A3B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5t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53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73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2E7D32"/>
                          </a:solidFill>
                          <a:latin typeface="HSE Sans"/>
                        </a:rPr>
                        <a:t>+20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69%</a:t>
                      </a:r>
                    </a:p>
                  </a:txBody>
                  <a:tcPr marL="27432" marR="27432" marT="9144" marB="9144">
                    <a:solidFill>
                      <a:srgbClr val="FFF9C4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Qwen3 30B-A3B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10t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27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50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2E7D32"/>
                          </a:solidFill>
                          <a:latin typeface="HSE Sans"/>
                        </a:rPr>
                        <a:t>+23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42%</a:t>
                      </a:r>
                    </a:p>
                  </a:txBody>
                  <a:tcPr marL="27432" marR="27432" marT="9144" marB="9144">
                    <a:solidFill>
                      <a:srgbClr val="FFF9C4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Qwen3 30B-A3B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20t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22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30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2E7D32"/>
                          </a:solidFill>
                          <a:latin typeface="HSE Sans"/>
                        </a:rPr>
                        <a:t>+8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13%</a:t>
                      </a:r>
                    </a:p>
                  </a:txBody>
                  <a:tcPr marL="27432" marR="27432" marT="9144" marB="9144">
                    <a:solidFill>
                      <a:srgbClr val="FFE0B2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Qwen3.5 Flash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5t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100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100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7F7F7F"/>
                          </a:solidFill>
                          <a:latin typeface="HSE Sans"/>
                        </a:rPr>
                        <a:t>0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N/A</a:t>
                      </a:r>
                    </a:p>
                  </a:txBody>
                  <a:tcPr marL="27432" marR="27432" marT="9144" marB="9144">
                    <a:solidFill>
                      <a:srgbClr val="E0E0E0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Qwen3.5 Flash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10t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60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63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2E7D32"/>
                          </a:solidFill>
                          <a:latin typeface="HSE Sans"/>
                        </a:rPr>
                        <a:t>+3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14%</a:t>
                      </a:r>
                    </a:p>
                  </a:txBody>
                  <a:tcPr marL="27432" marR="27432" marT="9144" marB="9144">
                    <a:solidFill>
                      <a:srgbClr val="FFE0B2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Qwen3.5 Flash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20t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47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58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2E7D32"/>
                          </a:solidFill>
                          <a:latin typeface="HSE Sans"/>
                        </a:rPr>
                        <a:t>+11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31%</a:t>
                      </a:r>
                    </a:p>
                  </a:txBody>
                  <a:tcPr marL="27432" marR="27432" marT="9144" marB="9144">
                    <a:solidFill>
                      <a:srgbClr val="FFF9C4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GLM 4.7 Flash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5t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47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47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7F7F7F"/>
                          </a:solidFill>
                          <a:latin typeface="HSE Sans"/>
                        </a:rPr>
                        <a:t>0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0%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00" b="1">
                          <a:solidFill>
                            <a:srgbClr val="000000"/>
                          </a:solidFill>
                          <a:latin typeface="HSE Sans"/>
                        </a:rPr>
                        <a:t>GLM 4.7 Flash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10t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50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000000"/>
                          </a:solidFill>
                          <a:latin typeface="HSE Sans"/>
                        </a:rPr>
                        <a:t>40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C62828"/>
                          </a:solidFill>
                          <a:latin typeface="HSE Sans"/>
                        </a:rPr>
                        <a:t>-10</a:t>
                      </a:r>
                    </a:p>
                  </a:txBody>
                  <a:tcPr marL="27432" marR="27432" marT="9144" marB="9144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C62828"/>
                          </a:solidFill>
                          <a:latin typeface="HSE Sans"/>
                        </a:rPr>
                        <a:t>-31%</a:t>
                      </a:r>
                    </a:p>
                  </a:txBody>
                  <a:tcPr marL="27432" marR="27432" marT="9144" marB="9144"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93776" y="4197096"/>
            <a:ext cx="274320" cy="219456"/>
          </a:xfrm>
          <a:prstGeom prst="round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HSE San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19709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HSE Sans"/>
              </a:rPr>
              <a:t>Baseline: </a:t>
            </a:r>
            <a:r>
              <a:rPr sz="700" b="0">
                <a:solidFill>
                  <a:srgbClr val="7F7F7F"/>
                </a:solidFill>
                <a:latin typeface="HSE Sans"/>
              </a:rPr>
              <a:t>Student model pass rate before any evolution (unmodified prompt)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" y="4489704"/>
            <a:ext cx="274320" cy="219456"/>
          </a:xfrm>
          <a:prstGeom prst="roundRect">
            <a:avLst/>
          </a:prstGeom>
          <a:solidFill>
            <a:srgbClr val="23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HSE Sans"/>
              </a:rPr>
              <a:t>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4897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HSE Sans"/>
              </a:rPr>
              <a:t>Knowledge-patched: </a:t>
            </a:r>
            <a:r>
              <a:rPr sz="700" b="0">
                <a:solidFill>
                  <a:srgbClr val="7F7F7F"/>
                </a:solidFill>
                <a:latin typeface="HSE Sans"/>
              </a:rPr>
              <a:t>Student pass rate after all evolution sweeps (last sweep = sweep 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" y="4782312"/>
            <a:ext cx="274320" cy="219456"/>
          </a:xfrm>
          <a:prstGeom prst="roundRect">
            <a:avLst/>
          </a:prstGeom>
          <a:solidFill>
            <a:srgbClr val="C0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HSE Sans"/>
              </a:rPr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78231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00000"/>
                </a:solidFill>
                <a:latin typeface="HSE Sans"/>
              </a:rPr>
              <a:t>Frontier: </a:t>
            </a:r>
            <a:r>
              <a:rPr sz="700" b="0">
                <a:solidFill>
                  <a:srgbClr val="7F7F7F"/>
                </a:solidFill>
                <a:latin typeface="HSE Sans"/>
              </a:rPr>
              <a:t>Frontier model pass rate on same tasks (e.g. Claude 3.5 Sonnet = 82%)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5166359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2D69"/>
                </a:solidFill>
                <a:latin typeface="HSE Sans"/>
              </a:rPr>
              <a:t>Gap Closure = (K − B) / (F − B) × 100%</a:t>
            </a:r>
          </a:p>
        </p:txBody>
      </p:sp>
      <p:pic>
        <p:nvPicPr>
          <p:cNvPr id="20" name="Picture 19" descr="fig_13_gap_clos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737360"/>
            <a:ext cx="4114800" cy="23774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06240" y="411480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7F7F7F"/>
                </a:solidFill>
                <a:latin typeface="HSE Sans"/>
              </a:rPr>
              <a:t>Fig 3.13: Gap Closure Metric (illustrative example)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169164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2D69"/>
                </a:solidFill>
                <a:latin typeface="HSE Sans"/>
              </a:rPr>
              <a:t>Key findings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1965960"/>
            <a:ext cx="54864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31936" y="1947672"/>
            <a:ext cx="32095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E7D32"/>
                </a:solidFill>
                <a:latin typeface="HSE Sans"/>
              </a:rPr>
              <a:t>69% GC for Q30B@5t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1936" y="2112264"/>
            <a:ext cx="3209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Qwen3 30B closes 2/3 of the frontier gap at small scale; holds through sweep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2441448"/>
            <a:ext cx="54864" cy="365760"/>
          </a:xfrm>
          <a:prstGeom prst="rect">
            <a:avLst/>
          </a:prstGeom>
          <a:solidFill>
            <a:srgbClr val="23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31936" y="2423160"/>
            <a:ext cx="32095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34B9B"/>
                </a:solidFill>
                <a:latin typeface="HSE Sans"/>
              </a:rPr>
              <a:t>42% GC for Q30B@10t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31936" y="2587752"/>
            <a:ext cx="3209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Durable gain (+23pp) survives all 3 sweeps — no regression at this scale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2916936"/>
            <a:ext cx="54864" cy="36576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31936" y="2898648"/>
            <a:ext cx="32095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57F17"/>
                </a:solidFill>
                <a:latin typeface="HSE Sans"/>
              </a:rPr>
              <a:t>Regression erases gains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1936" y="3063240"/>
            <a:ext cx="3209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Q3.5F@10t peaks at 80% (GC=91%) but sweep 3 regresses to 63% (GC=14%)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03920" y="3392424"/>
            <a:ext cx="54864" cy="365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31936" y="3374136"/>
            <a:ext cx="32095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62828"/>
                </a:solidFill>
                <a:latin typeface="HSE Sans"/>
              </a:rPr>
              <a:t>−31% for GLM@10t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31936" y="3538728"/>
            <a:ext cx="3209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Prompt evolution makes GLM worse than baseline — patches cause net harm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3867912"/>
            <a:ext cx="54864" cy="365760"/>
          </a:xfrm>
          <a:prstGeom prst="rect">
            <a:avLst/>
          </a:prstGeom>
          <a:solidFill>
            <a:srgbClr val="0F2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31936" y="3849624"/>
            <a:ext cx="320954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F2D69"/>
                </a:solidFill>
                <a:latin typeface="HSE Sans"/>
              </a:rPr>
              <a:t>Durable gains are rare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31936" y="4014216"/>
            <a:ext cx="3209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Only Q30B retains most improvement through sweep 3; GLM &amp; Q3.5F regress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438912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2D69"/>
                </a:solidFill>
                <a:latin typeface="HSE Sans"/>
              </a:rPr>
              <a:t>Gap closure visualised (B → K vs F = 82%)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46451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HSE Sans"/>
              </a:rPr>
              <a:t>Q30B 5t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199" y="4645152"/>
            <a:ext cx="2624328" cy="18288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199" y="4645152"/>
            <a:ext cx="1696212" cy="18288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725412" y="4645152"/>
            <a:ext cx="640080" cy="182880"/>
          </a:xfrm>
          <a:prstGeom prst="rect">
            <a:avLst/>
          </a:prstGeom>
          <a:solidFill>
            <a:srgbClr val="23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08392" y="464515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2E7D32"/>
                </a:solidFill>
                <a:latin typeface="HSE Sans"/>
              </a:rPr>
              <a:t>GC=69%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486460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HSE Sans"/>
              </a:rPr>
              <a:t>Q30B 10t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199" y="4864608"/>
            <a:ext cx="2624328" cy="18288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199" y="4864608"/>
            <a:ext cx="864108" cy="18288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893307" y="4864608"/>
            <a:ext cx="736092" cy="182880"/>
          </a:xfrm>
          <a:prstGeom prst="rect">
            <a:avLst/>
          </a:prstGeom>
          <a:solidFill>
            <a:srgbClr val="23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08392" y="486460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F57F17"/>
                </a:solidFill>
                <a:latin typeface="HSE Sans"/>
              </a:rPr>
              <a:t>GC=42%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06240" y="50840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HSE Sans"/>
              </a:rPr>
              <a:t>Q30B 20t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199" y="5084064"/>
            <a:ext cx="2624328" cy="18288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199" y="5084064"/>
            <a:ext cx="704088" cy="18288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33288" y="5084064"/>
            <a:ext cx="256032" cy="182880"/>
          </a:xfrm>
          <a:prstGeom prst="rect">
            <a:avLst/>
          </a:prstGeom>
          <a:solidFill>
            <a:srgbClr val="23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08392" y="508406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F57F17"/>
                </a:solidFill>
                <a:latin typeface="HSE Sans"/>
              </a:rPr>
              <a:t>GC=13%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06240" y="530352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HSE Sans"/>
              </a:rPr>
              <a:t>Q3.5F 10t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199" y="5303520"/>
            <a:ext cx="2624328" cy="18288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29199" y="5303520"/>
            <a:ext cx="1920240" cy="18288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949440" y="5303520"/>
            <a:ext cx="96012" cy="182880"/>
          </a:xfrm>
          <a:prstGeom prst="rect">
            <a:avLst/>
          </a:prstGeom>
          <a:solidFill>
            <a:srgbClr val="23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08392" y="5303520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F57F17"/>
                </a:solidFill>
                <a:latin typeface="HSE Sans"/>
              </a:rPr>
              <a:t>GC=14%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06240" y="552297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HSE Sans"/>
              </a:rPr>
              <a:t>Q3.5F 20t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199" y="5522976"/>
            <a:ext cx="2624328" cy="18288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29199" y="5522976"/>
            <a:ext cx="1504188" cy="18288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533388" y="5522976"/>
            <a:ext cx="352044" cy="182880"/>
          </a:xfrm>
          <a:prstGeom prst="rect">
            <a:avLst/>
          </a:prstGeom>
          <a:solidFill>
            <a:srgbClr val="234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08392" y="5522976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F57F17"/>
                </a:solidFill>
                <a:latin typeface="HSE Sans"/>
              </a:rPr>
              <a:t>GC=31%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06240" y="57424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HSE Sans"/>
              </a:rPr>
              <a:t>GLM 5t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199" y="5742432"/>
            <a:ext cx="2624328" cy="18288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029199" y="5742432"/>
            <a:ext cx="1504188" cy="18288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08392" y="5742432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C62828"/>
                </a:solidFill>
                <a:latin typeface="HSE Sans"/>
              </a:rPr>
              <a:t>GC=0%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06240" y="596188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HSE Sans"/>
              </a:rPr>
              <a:t>GLM 10t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199" y="5961888"/>
            <a:ext cx="2624328" cy="182880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029199" y="5961888"/>
            <a:ext cx="1280160" cy="18288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09359" y="5961888"/>
            <a:ext cx="320040" cy="182880"/>
          </a:xfrm>
          <a:prstGeom prst="rect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708392" y="596188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C62828"/>
                </a:solidFill>
                <a:latin typeface="HSE Sans"/>
              </a:rPr>
              <a:t>GC=-31%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199" y="6236207"/>
            <a:ext cx="118872" cy="118872"/>
          </a:xfrm>
          <a:prstGeom prst="rect">
            <a:avLst/>
          </a:prstGeom>
          <a:solidFill>
            <a:srgbClr val="7F7F7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175503" y="6227064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B (baseline)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35040" y="6236207"/>
            <a:ext cx="118872" cy="118872"/>
          </a:xfrm>
          <a:prstGeom prst="rect">
            <a:avLst/>
          </a:prstGeom>
          <a:solidFill>
            <a:srgbClr val="234B9B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81344" y="6227064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K−B (gain)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040879" y="6236207"/>
            <a:ext cx="118872" cy="118872"/>
          </a:xfrm>
          <a:prstGeom prst="rect">
            <a:avLst/>
          </a:prstGeom>
          <a:solidFill>
            <a:srgbClr val="E61E3C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187183" y="6227064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Regression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046719" y="6236207"/>
            <a:ext cx="118872" cy="118872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193023" y="6227064"/>
            <a:ext cx="1280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HSE Sans"/>
              </a:rPr>
              <a:t>Gap to F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47472" y="5943600"/>
            <a:ext cx="11494008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F2D69"/>
                </a:solidFill>
                <a:latin typeface="HSE Sans"/>
              </a:rPr>
              <a:t>Answer:  At last sweep, only Qwen3 30B retains durable gains (GC = 13–69%). Q3.5F peaks high but regresses (91% → 14% at 10t). GLM degrades below baseline (−31%). Prompt evolution narrows the frontier gap for compatible models, but patch interference is a binding constraint.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93776" y="6355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HSE Sans"/>
              </a:rPr>
              <a:t>B = baseline trial pass rate (sweep 1). K = last-sweep trial pass rate (sweep 3). F = frontier model (Claude 3.5 Sonnet, pass¹ = 82% on τ²-bench airline). GC = gap closure = (K−B)/(F−B)×100%. Negative GC = regression below baseline.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