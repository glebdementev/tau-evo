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_gs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4320"/>
            <a:ext cx="640080" cy="32004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300984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8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77856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40312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4992" y="466344"/>
            <a:ext cx="2651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Literature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466344"/>
            <a:ext cx="2651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Chapter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" y="1097280"/>
            <a:ext cx="11494008" cy="0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D69"/>
                </a:solidFill>
                <a:latin typeface="HSE Sans"/>
              </a:rPr>
              <a:t>Literature Review: Why Prompt-Level Evolution?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1. Agents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LLM agents are far below
enterprise reliability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tau-bench </a:t>
            </a:r>
            <a:r>
              <a:rPr sz="800" b="0">
                <a:solidFill>
                  <a:srgbClr val="7F7F7F"/>
                </a:solidFill>
                <a:latin typeface="HSE Sans"/>
              </a:rPr>
              <a:t>(Yao et al.,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GPT-4o fails &gt;50% of tasks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GAIA </a:t>
            </a:r>
            <a:r>
              <a:rPr sz="800" b="0">
                <a:solidFill>
                  <a:srgbClr val="7F7F7F"/>
                </a:solidFill>
                <a:latin typeface="HSE Sans"/>
              </a:rPr>
              <a:t>(Mialon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humans 92% vs GPT-4 15%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SWE-bench </a:t>
            </a:r>
            <a:r>
              <a:rPr sz="800" b="0">
                <a:solidFill>
                  <a:srgbClr val="7F7F7F"/>
                </a:solidFill>
                <a:latin typeface="HSE Sans"/>
              </a:rPr>
              <a:t>(Jimenez et al.,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best model solves &lt;2%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ToolBench </a:t>
            </a:r>
            <a:r>
              <a:rPr sz="800" b="0">
                <a:solidFill>
                  <a:srgbClr val="7F7F7F"/>
                </a:solidFill>
                <a:latin typeface="HSE Sans"/>
              </a:rPr>
              <a:t>(Qin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OSS models score 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Agents need to get better.
Can we just prompt-engineer?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0896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269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2. Prompting is brittle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Static prompts help but are
fragile and hit a hard ceiling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Sensitivity </a:t>
            </a:r>
            <a:r>
              <a:rPr sz="800" b="0">
                <a:solidFill>
                  <a:srgbClr val="7F7F7F"/>
                </a:solidFill>
                <a:latin typeface="HSE Sans"/>
              </a:rPr>
              <a:t>(Sclar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format → 76 pts variation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CoT </a:t>
            </a:r>
            <a:r>
              <a:rPr sz="800" b="0">
                <a:solidFill>
                  <a:srgbClr val="7F7F7F"/>
                </a:solidFill>
                <a:latin typeface="HSE Sans"/>
              </a:rPr>
              <a:t>(Wei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only works at ≥100B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ReAct </a:t>
            </a:r>
            <a:r>
              <a:rPr sz="800" b="0">
                <a:solidFill>
                  <a:srgbClr val="7F7F7F"/>
                </a:solidFill>
                <a:latin typeface="HSE Sans"/>
              </a:rPr>
              <a:t>(Yao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gains, but no self-repair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APE </a:t>
            </a:r>
            <a:r>
              <a:rPr sz="800" b="0">
                <a:solidFill>
                  <a:srgbClr val="7F7F7F"/>
                </a:solidFill>
                <a:latin typeface="HSE Sans"/>
              </a:rPr>
              <a:t>(Zhou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optimal prompts are fragile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841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Manual prompts can't adapt.
Can we fine-tune instead?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9788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7161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3. Fine-tuning is costly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Weight modification works but
is expensive and destructive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Alignment tax </a:t>
            </a:r>
            <a:r>
              <a:rPr sz="800" b="0">
                <a:solidFill>
                  <a:srgbClr val="7F7F7F"/>
                </a:solidFill>
                <a:latin typeface="HSE Sans"/>
              </a:rPr>
              <a:t>(Young,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proven irreducible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SFT harm </a:t>
            </a:r>
            <a:r>
              <a:rPr sz="800" b="0">
                <a:solidFill>
                  <a:srgbClr val="7F7F7F"/>
                </a:solidFill>
                <a:latin typeface="HSE Sans"/>
              </a:rPr>
              <a:t>(Shenfeld, 2026)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collapses reasoning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LIMA </a:t>
            </a:r>
            <a:r>
              <a:rPr sz="800" b="0">
                <a:solidFill>
                  <a:srgbClr val="7F7F7F"/>
                </a:solidFill>
                <a:latin typeface="HSE Sans"/>
              </a:rPr>
              <a:t>(Zhou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alignment = style, not knowledge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InstructGPT </a:t>
            </a:r>
            <a:r>
              <a:rPr sz="800" b="0">
                <a:solidFill>
                  <a:srgbClr val="7F7F7F"/>
                </a:solidFill>
                <a:latin typeface="HSE Sans"/>
              </a:rPr>
              <a:t>(Ouyang et al., 2022)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1.3B&gt;175B, but regresses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733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Weights are the wrong level.
Can we optimize prompts auto­matically?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86800" y="3291839"/>
            <a:ext cx="164592" cy="182880"/>
          </a:xfrm>
          <a:prstGeom prst="rightArrow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0536" y="1737360"/>
            <a:ext cx="2606040" cy="27432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HSE Sans"/>
              </a:rPr>
              <a:t>4. Auto-optimization exists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084831"/>
            <a:ext cx="2459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Prompt optimizers show strong
gains — but not on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2633472"/>
            <a:ext cx="24597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DSPy </a:t>
            </a:r>
            <a:r>
              <a:rPr sz="800" b="0">
                <a:solidFill>
                  <a:srgbClr val="7F7F7F"/>
                </a:solidFill>
                <a:latin typeface="HSE Sans"/>
              </a:rPr>
              <a:t>(Khattab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+5–46% on HotPotQA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TextGrad </a:t>
            </a:r>
            <a:r>
              <a:rPr sz="800" b="0">
                <a:solidFill>
                  <a:srgbClr val="7F7F7F"/>
                </a:solidFill>
                <a:latin typeface="HSE Sans"/>
              </a:rPr>
              <a:t>(Yuksekgonul, 2024)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+20% LeetCode; Nature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EvoPrompt </a:t>
            </a:r>
            <a:r>
              <a:rPr sz="800" b="0">
                <a:solidFill>
                  <a:srgbClr val="7F7F7F"/>
                </a:solidFill>
                <a:latin typeface="HSE Sans"/>
              </a:rPr>
              <a:t>(Guo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+25% Big-Bench Hard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HSE Sans"/>
              </a:rPr>
              <a:t>OPRO </a:t>
            </a:r>
            <a:r>
              <a:rPr sz="800" b="0">
                <a:solidFill>
                  <a:srgbClr val="7F7F7F"/>
                </a:solidFill>
                <a:latin typeface="HSE Sans"/>
              </a:rPr>
              <a:t>(Yang et al., 2023)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HSE Sans"/>
              </a:rPr>
              <a:t>  +50% Big-Bench Hard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4599431"/>
            <a:ext cx="2514600" cy="502920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Tools exist, benchmarks exist,
but the two have not met.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5715000"/>
            <a:ext cx="11201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HSE Sans"/>
              </a:rPr>
              <a:t>Distillation trajectory confirms the direction:  Hinton (2015) → DistilBERT (2019) → Alpaca (Taori et al., 2023) → Lion (Jiang et al., 2023) → DeepSeek-R1 (2025) → Kimi K1.5 (2025)  —  each generation lighter, but all still modify weights. Prompt-level transfer (SPoT, Vu et al., 2022) is feasible but untested on tool-calling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