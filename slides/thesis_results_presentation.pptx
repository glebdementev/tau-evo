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7A829E"/>
            </a:solidFill>
          </c:spPr>
          <c:cat>
            <c:strRef>
              <c:f>Sheet1!$A$2:$A$4</c:f>
              <c:strCache>
                <c:ptCount val="3"/>
                <c:pt idx="0">
                  <c:v>Qwen3
30B-A3B</c:v>
                </c:pt>
                <c:pt idx="1">
                  <c:v>Qwen3.5
Flash</c:v>
                </c:pt>
                <c:pt idx="2">
                  <c:v>GLM 4.7
Flash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60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post-evo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Sheet1!$A$2:$A$4</c:f>
              <c:strCache>
                <c:ptCount val="3"/>
                <c:pt idx="0">
                  <c:v>Qwen3
30B-A3B</c:v>
                </c:pt>
                <c:pt idx="1">
                  <c:v>Qwen3.5
Flash</c:v>
                </c:pt>
                <c:pt idx="2">
                  <c:v>GLM 4.7
Flash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80</c:v>
                </c:pt>
                <c:pt idx="2">
                  <c:v>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/>
                </a:pPr>
                <a:r>
                  <a:t>Trial Pass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Qwen3 30B-A3B Across Scales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trial rate</c:v>
                </c:pt>
              </c:strCache>
            </c:strRef>
          </c:tx>
          <c:spPr>
            <a:solidFill>
              <a:srgbClr val="7A829E"/>
            </a:solidFill>
          </c:spPr>
          <c:cat>
            <c:strRef>
              <c:f>Sheet1!$A$2:$A$4</c:f>
              <c:strCache>
                <c:ptCount val="3"/>
                <c:pt idx="0">
                  <c:v>5 tasks</c:v>
                </c:pt>
                <c:pt idx="1">
                  <c:v>10 tasks</c:v>
                </c:pt>
                <c:pt idx="2">
                  <c:v>20 tasks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27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trial rate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Sheet1!$A$2:$A$4</c:f>
              <c:strCache>
                <c:ptCount val="3"/>
                <c:pt idx="0">
                  <c:v>5 tasks</c:v>
                </c:pt>
                <c:pt idx="1">
                  <c:v>10 tasks</c:v>
                </c:pt>
                <c:pt idx="2">
                  <c:v>20 tasks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</c:v>
                </c:pt>
                <c:pt idx="1">
                  <c:v>50</c:v>
                </c:pt>
                <c:pt idx="2">
                  <c:v>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Fix rate (%)</c:v>
                </c:pt>
              </c:strCache>
            </c:strRef>
          </c:tx>
          <c:spPr>
            <a:solidFill>
              <a:srgbClr val="1CC98A"/>
            </a:solidFill>
          </c:spPr>
          <c:cat>
            <c:strRef>
              <c:f>Sheet1!$A$2:$A$4</c:f>
              <c:strCache>
                <c:ptCount val="3"/>
                <c:pt idx="0">
                  <c:v>5 tasks</c:v>
                </c:pt>
                <c:pt idx="1">
                  <c:v>10 tasks</c:v>
                </c:pt>
                <c:pt idx="2">
                  <c:v>20 tasks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56</c:v>
                </c:pt>
                <c:pt idx="2">
                  <c:v>53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Fix Tier Breakdown Across All Experiments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Instruction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Sheet1!$A$2:$A$8</c:f>
              <c:strCache>
                <c:ptCount val="7"/>
                <c:pt idx="0">
                  <c:v>Q3-30B
5 tasks</c:v>
                </c:pt>
                <c:pt idx="1">
                  <c:v>Q3-30B
10 tasks</c:v>
                </c:pt>
                <c:pt idx="2">
                  <c:v>Q3-30B
20 tasks</c:v>
                </c:pt>
                <c:pt idx="3">
                  <c:v>Q3.5 Flash
10 tasks</c:v>
                </c:pt>
                <c:pt idx="4">
                  <c:v>Q3.5 Flash
20 tasks</c:v>
                </c:pt>
                <c:pt idx="5">
                  <c:v>GLM 4.7
5 tasks</c:v>
                </c:pt>
                <c:pt idx="6">
                  <c:v>GLM 4.7
10 tasks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11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 Schema</c:v>
                </c:pt>
              </c:strCache>
            </c:strRef>
          </c:tx>
          <c:spPr>
            <a:solidFill>
              <a:srgbClr val="1CC98A"/>
            </a:solidFill>
          </c:spPr>
          <c:cat>
            <c:strRef>
              <c:f>Sheet1!$A$2:$A$8</c:f>
              <c:strCache>
                <c:ptCount val="7"/>
                <c:pt idx="0">
                  <c:v>Q3-30B
5 tasks</c:v>
                </c:pt>
                <c:pt idx="1">
                  <c:v>Q3-30B
10 tasks</c:v>
                </c:pt>
                <c:pt idx="2">
                  <c:v>Q3-30B
20 tasks</c:v>
                </c:pt>
                <c:pt idx="3">
                  <c:v>Q3.5 Flash
10 tasks</c:v>
                </c:pt>
                <c:pt idx="4">
                  <c:v>Q3.5 Flash
20 tasks</c:v>
                </c:pt>
                <c:pt idx="5">
                  <c:v>GLM 4.7
5 tasks</c:v>
                </c:pt>
                <c:pt idx="6">
                  <c:v>GLM 4.7
10 tasks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Guardrail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Sheet1!$A$2:$A$8</c:f>
              <c:strCache>
                <c:ptCount val="7"/>
                <c:pt idx="0">
                  <c:v>Q3-30B
5 tasks</c:v>
                </c:pt>
                <c:pt idx="1">
                  <c:v>Q3-30B
10 tasks</c:v>
                </c:pt>
                <c:pt idx="2">
                  <c:v>Q3-30B
20 tasks</c:v>
                </c:pt>
                <c:pt idx="3">
                  <c:v>Q3.5 Flash
10 tasks</c:v>
                </c:pt>
                <c:pt idx="4">
                  <c:v>Q3.5 Flash
20 tasks</c:v>
                </c:pt>
                <c:pt idx="5">
                  <c:v>GLM 4.7
5 tasks</c:v>
                </c:pt>
                <c:pt idx="6">
                  <c:v>GLM 4.7
10 tasks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10-Task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Qwen3 30B-A3B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Sheet1!$A$2:$A$5</c:f>
              <c:strCache>
                <c:ptCount val="4"/>
                <c:pt idx="0">
                  <c:v>Baseline
majority</c:v>
                </c:pt>
                <c:pt idx="1">
                  <c:v>Best
majority</c:v>
                </c:pt>
                <c:pt idx="2">
                  <c:v>Fix rate
(failing)</c:v>
                </c:pt>
                <c:pt idx="3">
                  <c:v>Unfixable
tasks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71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Qwen3.5 Flash</c:v>
                </c:pt>
              </c:strCache>
            </c:strRef>
          </c:tx>
          <c:spPr>
            <a:solidFill>
              <a:srgbClr val="1CC98A"/>
            </a:solidFill>
          </c:spPr>
          <c:cat>
            <c:strRef>
              <c:f>Sheet1!$A$2:$A$5</c:f>
              <c:strCache>
                <c:ptCount val="4"/>
                <c:pt idx="0">
                  <c:v>Baseline
majority</c:v>
                </c:pt>
                <c:pt idx="1">
                  <c:v>Best
majority</c:v>
                </c:pt>
                <c:pt idx="2">
                  <c:v>Fix rate
(failing)</c:v>
                </c:pt>
                <c:pt idx="3">
                  <c:v>Unfixable
tasks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80</c:v>
                </c:pt>
                <c:pt idx="3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GLM 4.7 Flash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Sheet1!$A$2:$A$5</c:f>
              <c:strCache>
                <c:ptCount val="4"/>
                <c:pt idx="0">
                  <c:v>Baseline
majority</c:v>
                </c:pt>
                <c:pt idx="1">
                  <c:v>Best
majority</c:v>
                </c:pt>
                <c:pt idx="2">
                  <c:v>Fix rate
(failing)</c:v>
                </c:pt>
                <c:pt idx="3">
                  <c:v>Unfixable
tasks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60</c:v>
                </c:pt>
                <c:pt idx="2">
                  <c:v>0</c:v>
                </c:pt>
                <c:pt idx="3">
                  <c:v>40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Georgia"/>
              </a:defRPr>
            </a:pPr>
            <a:r>
              <a:t>Experimental Results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ADCFC"/>
                </a:solidFill>
                <a:latin typeface="Calibri"/>
              </a:defRPr>
            </a:pPr>
            <a:r>
              <a:t>Diagnose-Patch-Validate: Teacher-Driven Prompt Evolution for LLM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829E"/>
                </a:solidFill>
                <a:latin typeface="Calibri"/>
              </a:defRPr>
            </a:pPr>
            <a:r>
              <a:t>Gleb Dementyev  |  Business Informatics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Research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84632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D303E"/>
                </a:solidFill>
                <a:latin typeface="Calibri"/>
              </a:rPr>
              <a:t>LLM agents in customer service fail ~2% of the time on structured benchmarks. At enterprise scale, that means thousands of mishandled interactions daily.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Deployed agents are static</a:t>
            </a:r>
            <a:r>
              <a:rPr sz="1500" b="0">
                <a:solidFill>
                  <a:srgbClr val="2D303E"/>
                </a:solidFill>
                <a:latin typeface="Calibri"/>
              </a:rPr>
              <a:t> — once configured, they don't learn from failures. Fine-tuning is expensive and inaccessible for API consumers.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3D8BFD"/>
                </a:solidFill>
                <a:latin typeface="Calibri"/>
              </a:rPr>
              <a:t>Research question: </a:t>
            </a:r>
            <a:r>
              <a:rPr sz="1500" b="1">
                <a:solidFill>
                  <a:srgbClr val="1E2761"/>
                </a:solidFill>
                <a:latin typeface="Calibri"/>
              </a:rPr>
              <a:t>How can agent performance be improved through automated, teacher-model-driven prompt and tool evolution?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484632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The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Diagnose-Patch-Validate Framework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D303E"/>
                </a:solidFill>
                <a:latin typeface="Calibri"/>
              </a:rPr>
              <a:t>A teacher model (Kimi K2.5) analyzes a student's failed conversation traces, proposes structured patches, and validates before merging.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Three student models tested: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• Qwen3 30B-A3B (weak, MoE)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• Qwen3.5 Flash (strong)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• GLM 4.7 Flash (moderate, different family)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D303E"/>
                </a:solidFill>
                <a:latin typeface="Calibri"/>
              </a:rPr>
              <a:t>Evaluated on τ²-bench airline domain at 5, 10, and 20 tasks across 8 experimental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Failure Diagnosis → Patch Surfaces</a:t>
            </a:r>
          </a:p>
        </p:txBody>
      </p:sp>
      <p:pic>
        <p:nvPicPr>
          <p:cNvPr id="4" name="Picture 3" descr="slide_fig_06_patch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029200" cy="3365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73152" cy="484632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Three Patch Tiers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3D8BFD"/>
                </a:solidFill>
                <a:latin typeface="Calibri"/>
              </a:rPr>
              <a:t>1. Instruction Patches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Behavioral rules added to the system prompt. Dominant lever across all experiments (70–92% of fixes).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1CC98A"/>
                </a:solidFill>
                <a:latin typeface="Calibri"/>
              </a:rPr>
              <a:t>2. Tool Schema Patches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Parameter descriptions, constraint notes, usage hints in tool definitions. Emerge only at 20-task scale.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F5A623"/>
                </a:solidFill>
                <a:latin typeface="Calibri"/>
              </a:rPr>
              <a:t>3. Guardrail Preprocessors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Input coercion, format normalization. Most expensive fixes (3 attempts, 30+ messages on average).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The escalation order (instruction → tools → guardrail) ensures the cheapest fix is tried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1: Prompt Evolution Produces Measurable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Qwen3 30B-A3B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Weak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3D8BFD"/>
                </a:solidFill>
                <a:latin typeface="Georgia"/>
              </a:defRPr>
            </a:pPr>
            <a:r>
              <a:t>+20pp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trial pass rate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Baseline: </a:t>
            </a:r>
            <a:r>
              <a:rPr sz="1400" b="1">
                <a:solidFill>
                  <a:srgbClr val="2D303E"/>
                </a:solidFill>
                <a:latin typeface="Calibri"/>
              </a:rPr>
              <a:t>53%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Best post-evo: </a:t>
            </a:r>
            <a:r>
              <a:rPr sz="1400" b="1">
                <a:solidFill>
                  <a:srgbClr val="2D303E"/>
                </a:solidFill>
                <a:latin typeface="Calibri"/>
              </a:rPr>
              <a:t>73%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Fix rate: </a:t>
            </a:r>
            <a:r>
              <a:rPr sz="1400" b="1">
                <a:solidFill>
                  <a:srgbClr val="2D303E"/>
                </a:solidFill>
                <a:latin typeface="Calibri"/>
              </a:rPr>
              <a:t>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291840" cy="73152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Qwen3.5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Strong student (ceiling)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8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1CC98A"/>
                </a:solidFill>
                <a:latin typeface="Georgia"/>
              </a:defRPr>
            </a:pPr>
            <a:r>
              <a:t>+0pp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383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trial pass rate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Baseline: </a:t>
            </a:r>
            <a:r>
              <a:rPr sz="1400" b="1">
                <a:solidFill>
                  <a:srgbClr val="2D303E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Best post-evo: </a:t>
            </a:r>
            <a:r>
              <a:rPr sz="1400" b="1">
                <a:solidFill>
                  <a:srgbClr val="2D303E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Fix rate: </a:t>
            </a:r>
            <a:r>
              <a:rPr sz="1400" b="1">
                <a:solidFill>
                  <a:srgbClr val="2D303E"/>
                </a:solidFill>
                <a:latin typeface="Calibri"/>
              </a:rPr>
              <a:t>N/A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29184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GLM 4.7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Different model family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5A623"/>
                </a:solidFill>
                <a:latin typeface="Georgia"/>
              </a:defRPr>
            </a:pPr>
            <a:r>
              <a:t>+26pp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83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trial pass rate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Baseline: </a:t>
            </a:r>
            <a:r>
              <a:rPr sz="1400" b="1">
                <a:solidFill>
                  <a:srgbClr val="2D303E"/>
                </a:solidFill>
                <a:latin typeface="Calibri"/>
              </a:rPr>
              <a:t>47%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Best post-evo: </a:t>
            </a:r>
            <a:r>
              <a:rPr sz="1400" b="1">
                <a:solidFill>
                  <a:srgbClr val="2D303E"/>
                </a:solidFill>
                <a:latin typeface="Calibri"/>
              </a:rPr>
              <a:t>73%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Fix rate: </a:t>
            </a:r>
            <a:r>
              <a:rPr sz="1400" b="1">
                <a:solidFill>
                  <a:srgbClr val="2D303E"/>
                </a:solidFill>
                <a:latin typeface="Calibri"/>
              </a:rPr>
              <a:t>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5-task evaluation on τ²-bench airline domain  |  3 trials per task  |  Teacher: Kimi K2.5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2: Scaling to 10 Tasks — Framework Is Not Universal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73152" cy="4572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Key Findings at 10 Tasks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GLM 4.7 Flash: 0% improvement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All four fixes targeted already-passing tasks. Zero genuinely failing tasks were repaired. Performance monotonically declined.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Qwen3.5 Flash: Best overall ceiling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80% majority pass rate. Fixed tasks that Qwen3 30B-A3B could not (11, 12). Only Task 7 resisted all three models.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Hard core of resistant tasks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Tasks 7, 9, 11, 12 resist repair for weaker models. The framework has a minimum student capability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3: At 20 Tasks — Diminishing Returns Confirmed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Qwen3 30B-A3B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4400" b="1">
                <a:solidFill>
                  <a:srgbClr val="7A829E"/>
                </a:solidFill>
                <a:latin typeface="Georgia"/>
              </a:rPr>
              <a:t>22%</a:t>
            </a:r>
            <a:r>
              <a:rPr sz="2800" b="0">
                <a:solidFill>
                  <a:srgbClr val="7A829E"/>
                </a:solidFill>
                <a:latin typeface="Calibri"/>
              </a:rPr>
              <a:t>  →  </a:t>
            </a:r>
            <a:r>
              <a:rPr sz="4400" b="1">
                <a:solidFill>
                  <a:srgbClr val="3D8BFD"/>
                </a:solidFill>
                <a:latin typeface="Georgia"/>
              </a:rPr>
              <a:t>33%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7A829E"/>
                </a:solidFill>
                <a:latin typeface="Calibri"/>
              </a:rPr>
              <a:t>trial pass rate (baseline → best)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+11pp improvement  |  53% fix rate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11 of 15 failing tasks unfixable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800+ messages, 300+ tool calls, 7+ hours spent on failed attempts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3D8BFD"/>
                </a:solidFill>
                <a:latin typeface="Calibri"/>
              </a:rPr>
              <a:t>New: tool-schema fixes emerge (20% of fixes)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73152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Qwen3.5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4400" b="1">
                <a:solidFill>
                  <a:srgbClr val="7A829E"/>
                </a:solidFill>
                <a:latin typeface="Georgia"/>
              </a:rPr>
              <a:t>47%</a:t>
            </a:r>
            <a:r>
              <a:rPr sz="2800" b="0">
                <a:solidFill>
                  <a:srgbClr val="7A829E"/>
                </a:solidFill>
                <a:latin typeface="Calibri"/>
              </a:rPr>
              <a:t>  →  </a:t>
            </a:r>
            <a:r>
              <a:rPr sz="4400" b="1">
                <a:solidFill>
                  <a:srgbClr val="1CC98A"/>
                </a:solidFill>
                <a:latin typeface="Georgia"/>
              </a:rPr>
              <a:t>58%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7A829E"/>
                </a:solidFill>
                <a:latin typeface="Calibri"/>
              </a:rPr>
              <a:t>trial pass rate (baseline → best)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+20pp majority improvement (45% → 65%)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92% instruction-tier fixes (no tool patches needed)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Stronger model renders tool-schema patches unnecessary.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CC98A"/>
                </a:solidFill>
                <a:latin typeface="Calibri"/>
              </a:rPr>
              <a:t>Stable between sweeps 2 &amp; 3 — no regression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4: Scaling Behavior — Capacity Ceiling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0" y="1371600"/>
            <a:ext cx="47548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73152" cy="475488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Two Regimes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3D8BFD"/>
                </a:solidFill>
                <a:latin typeface="Calibri"/>
              </a:rPr>
              <a:t>5 → 10 tasks: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Stable absolute gain (+20–23pp). Fix rate drops sharply (100% → 56%) as harder tasks enter the pool.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3D8BFD"/>
                </a:solidFill>
                <a:latin typeface="Calibri"/>
              </a:rPr>
              <a:t>10 → 20 tasks: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Absolute gain halves (+23pp → +11pp). Fix rate stabilises (56% → 53%). Framework hits capacity ceiling.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Capacity ceiling: ~5–8 fixable tasks per run regardless of pool size.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Successful fixes: 7 → 7 → 10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Doubling from 10→20 tasks yields only 3 extra fixes. The framework encounters more of the same resistant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5: Instruction Patches Dominate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371600"/>
            <a:ext cx="3931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73152" cy="475488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4000" b="1">
                <a:solidFill>
                  <a:srgbClr val="3D8BFD"/>
                </a:solidFill>
                <a:latin typeface="Georgia"/>
              </a:rPr>
              <a:t>70–92%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of all fixes are instruction-tier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Supports the Superficial Alignment Hypothesis: models already have capability; they lack explicit knowledge that they should follow a particular policy.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Stronger student → higher instruction share (80% → 92%) and fewer guardrail escalations.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Tool-schema patches appear only for the weakest model at the largest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Result 6: Patch Interference Across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Qwen3 30B-A3B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D8BFD"/>
                </a:solidFill>
                <a:latin typeface="Georgia"/>
              </a:defRPr>
            </a:pPr>
            <a:r>
              <a:t>Mild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Task 5 regresses between sweeps 2→3 (3/3 → 1/3). Otherwise stable. Most tolerant of accumulated patches.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3832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Qwen3.5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0312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A623"/>
                </a:solidFill>
                <a:latin typeface="Georgia"/>
              </a:defRPr>
            </a:pPr>
            <a:r>
              <a:t>Severe at 10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Scale-dependent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Trial rate drops -17pp in sweep 3. Task 11 collapses (3/3 → 0/3). But stable at 20 tasks — larger pool dilutes interference.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371600"/>
            <a:ext cx="3383280" cy="73152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8" y="1645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GLM 4.7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210312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4D60"/>
                </a:solidFill>
                <a:latin typeface="Georgia"/>
              </a:defRPr>
            </a:pPr>
            <a:r>
              <a:t>Catastrophic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9260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Disqualifying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Sweep 3 at 5 tasks: -40pp majority collapse to baseline. At 10 tasks: continuous decline, never recovers. Framework causes net harm.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7: Stronger Student → Amplified (Not Equalised) Gains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371600"/>
            <a:ext cx="3931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73152" cy="475488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1E2761"/>
                </a:solidFill>
                <a:latin typeface="Calibri"/>
              </a:rPr>
              <a:t>Framework amplifies capability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The ceiling tracks the student's intrinsic capability, not the teacher's diagnostic power.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303E"/>
                </a:solidFill>
                <a:latin typeface="Calibri"/>
              </a:rPr>
              <a:t>Same patches, different outcomes: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Task 11: fails with Qwen3 30B, fixed in 42s with Qwen3.5 Flash. The knowledge in the patch is identical; what differs is the student's capacity.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1CC98A"/>
                </a:solidFill>
                <a:latin typeface="Calibri"/>
              </a:rPr>
              <a:t>Only Task 7 is truly model-agnostic resistant — all others are student-dependent.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7A829E"/>
                </a:solidFill>
                <a:latin typeface="Calibri"/>
              </a:rPr>
              <a:t>Note: 'Unfixable tasks' shown as % of 10 for chart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Contribution: Prompt-Level Knowledge Distillation</a:t>
            </a:r>
          </a:p>
        </p:txBody>
      </p:sp>
      <p:pic>
        <p:nvPicPr>
          <p:cNvPr id="4" name="Picture 3" descr="fig_14_knowledge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2424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3920" y="1371600"/>
            <a:ext cx="3200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0" y="1371600"/>
            <a:ext cx="73152" cy="484632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1E2761"/>
                </a:solidFill>
                <a:latin typeface="Calibri"/>
              </a:rPr>
              <a:t>Novel modality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Classical distillation transfers knowledge into weights.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This work distills into operating instructions — compatible with API-only model access.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1CC98A"/>
                </a:solidFill>
                <a:latin typeface="Calibri"/>
              </a:rPr>
              <a:t>Preserves the student's original capabilities while augmenting behavior.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CC98A"/>
                </a:solidFill>
                <a:latin typeface="Calibri"/>
              </a:defRPr>
            </a:pPr>
            <a:r>
              <a:t>What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1. </a:t>
            </a:r>
            <a:r>
              <a:rPr sz="1500" b="0">
                <a:solidFill>
                  <a:srgbClr val="CADCFC"/>
                </a:solidFill>
                <a:latin typeface="Calibri"/>
              </a:rPr>
              <a:t>Input-space-only evolution produces +11 to +23pp improvement without weight updates, GPU infra, or preference data.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2. </a:t>
            </a:r>
            <a:r>
              <a:rPr sz="1500" b="0">
                <a:solidFill>
                  <a:srgbClr val="CADCFC"/>
                </a:solidFill>
                <a:latin typeface="Calibri"/>
              </a:rPr>
              <a:t>Plain-text instruction patches dominate (70–92%), supporting the Superficial Alignment Hypothesis in agentic settings.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3. </a:t>
            </a:r>
            <a:r>
              <a:rPr sz="1500" b="0">
                <a:solidFill>
                  <a:srgbClr val="CADCFC"/>
                </a:solidFill>
                <a:latin typeface="Calibri"/>
              </a:rPr>
              <a:t>The framework is efficient: value is concentrated in the first 1–2 sweeps. Practical for deployment.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4. </a:t>
            </a:r>
            <a:r>
              <a:rPr sz="1500" b="0">
                <a:solidFill>
                  <a:srgbClr val="CADCFC"/>
                </a:solidFill>
                <a:latin typeface="Calibri"/>
              </a:rPr>
              <a:t>Patches are human-readable, versionable, and compatible with existing change-management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What Doesn't (Yet)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1. </a:t>
            </a:r>
            <a:r>
              <a:rPr sz="1500" b="0">
                <a:solidFill>
                  <a:srgbClr val="CADCFC"/>
                </a:solidFill>
                <a:latin typeface="Calibri"/>
              </a:rPr>
              <a:t>Capacity ceiling of ~5–8 fixable tasks per run. Improvement halves from 10 to 20 tasks.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2. </a:t>
            </a:r>
            <a:r>
              <a:rPr sz="1500" b="0">
                <a:solidFill>
                  <a:srgbClr val="CADCFC"/>
                </a:solidFill>
                <a:latin typeface="Calibri"/>
              </a:rPr>
              <a:t>Patch interference causes 'prompt-space forgetting.' Unbounded accumulation degrades performance.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3. </a:t>
            </a:r>
            <a:r>
              <a:rPr sz="1500" b="0">
                <a:solidFill>
                  <a:srgbClr val="CADCFC"/>
                </a:solidFill>
                <a:latin typeface="Calibri"/>
              </a:rPr>
              <a:t>Not all models benefit. GLM 4.7 Flash experienced net harm from evolution at 10 tasks.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4. </a:t>
            </a:r>
            <a:r>
              <a:rPr sz="1500" b="0">
                <a:solidFill>
                  <a:srgbClr val="CADCFC"/>
                </a:solidFill>
                <a:latin typeface="Calibri"/>
              </a:rPr>
              <a:t>Best achieved: 73% (5 tasks), 80% (10 tasks), 65% (20 tasks). Far from the 99.99% enterprise target.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Practical Implications for Enterprise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Invest in the Base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The framework amplifies capability differences. Qwen3.5 Flash reaches 65% vs 30% at 20 tasks. Choose the strongest feasible model before applying evolution.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228600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Pilot Before Deploying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Model compatibility testing is essential. GLM 4.7 Flash results show evolution can be actively harmful. A brief 5-task pilot reveals whether patches will destabilise.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73152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Manage Patches Actively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Version, regression-test, and potentially retire patches. Different models need different sweep limits: 2 sweeps for Qwen3.5 Flash, avoid evolution for incompatible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73152" cy="2286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06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Layer with Other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Prompt evolution handles policy-encodable failures efficiently but cannot reach four-nines alone. Combine with stronger models, fine-tuning, architectural improvements, and human escalation.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Limitations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8463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Single domain (airline) — retail &amp; telecom untested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Single teacher model (Kimi K2.5) — sensitivity to teacher choice unknown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Only 3 trials per task — limited statistical power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LLM user simulator may share biases with student models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No comparison with RLHF, DPO, or LoRA fine-tuning baselines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No patch retirement or consolidation 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484632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Cross-domain &amp; cross-benchmark validation (CRMArena, τ-bench)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Teacher-student ablations — mapping the design space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Hybrid prompt + weight evolution (prompt for easy wins, LoRA for resistant tasks)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Patch management: consolidation, regression-aware selection, retirement policies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Comparison with GEPA self-reflective evolution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Real-world deployment study with production customer service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ADCFC"/>
                </a:solidFill>
                <a:latin typeface="Georgia"/>
              </a:defRPr>
            </a:pPr>
            <a:r>
              <a:t>"A lightweight mechanism for continuous improvement</a:t>
            </a:r>
            <a:br/>
            <a:r>
              <a:t>in the input space that works within the constraints</a:t>
            </a:r>
            <a:br/>
            <a:r>
              <a:t>most enterprises actually face."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A829E"/>
                </a:solidFill>
                <a:latin typeface="Calibri"/>
              </a:defRPr>
            </a:pPr>
            <a:r>
              <a:t>No weight access  ·  No training infra  ·  Human-readable patches  ·  API-compatible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30352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