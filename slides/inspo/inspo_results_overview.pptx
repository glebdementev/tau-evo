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3B3B3"/>
                </a:solidFill>
                <a:latin typeface="HSE Sans"/>
              </a:rPr>
              <a:t>EXPERIMENTAL RESULTS: CROSS-MODEL, CROSS-SCALE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HSE Sans"/>
              </a:rPr>
              <a:t>Chapter 3  /  Sections 3.1–3.4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1188720"/>
            <a:ext cx="2880360" cy="36576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2344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SE Sans"/>
              </a:rPr>
              <a:t>5 tasks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188720"/>
            <a:ext cx="2880360" cy="36576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2344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SE Sans"/>
              </a:rPr>
              <a:t>10 tasks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188720"/>
            <a:ext cx="2880360" cy="36576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2344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SE Sans"/>
              </a:rPr>
              <a:t>20 tasks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00200"/>
            <a:ext cx="1965960" cy="1371600"/>
          </a:xfrm>
          <a:prstGeom prst="rect">
            <a:avLst/>
          </a:prstGeom>
          <a:solidFill>
            <a:srgbClr val="08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691640"/>
            <a:ext cx="173736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SE Sans"/>
              </a:rPr>
              <a:t>Qwen3 30B-A3B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1600200"/>
            <a:ext cx="2880360" cy="13716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1737360"/>
            <a:ext cx="2697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D4D4D"/>
                </a:solidFill>
                <a:latin typeface="HSE Sans"/>
              </a:rPr>
              <a:t>53%  →  73%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103120"/>
            <a:ext cx="2697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E7D32"/>
                </a:solidFill>
                <a:latin typeface="HSE Sans"/>
              </a:rPr>
              <a:t>+20pp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1600200"/>
            <a:ext cx="2880360" cy="13716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1737360"/>
            <a:ext cx="2697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D4D4D"/>
                </a:solidFill>
                <a:latin typeface="HSE Sans"/>
              </a:rPr>
              <a:t>27%  →  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103120"/>
            <a:ext cx="2697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E7D32"/>
                </a:solidFill>
                <a:latin typeface="HSE Sans"/>
              </a:rPr>
              <a:t>+23pp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1600200"/>
            <a:ext cx="2880360" cy="13716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737360"/>
            <a:ext cx="2697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D4D4D"/>
                </a:solidFill>
                <a:latin typeface="HSE Sans"/>
              </a:rPr>
              <a:t>22%  →  33%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103120"/>
            <a:ext cx="2697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E7D32"/>
                </a:solidFill>
                <a:latin typeface="HSE Sans"/>
              </a:rPr>
              <a:t>+11pp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17520"/>
            <a:ext cx="1965960" cy="1371600"/>
          </a:xfrm>
          <a:prstGeom prst="rect">
            <a:avLst/>
          </a:prstGeom>
          <a:solidFill>
            <a:srgbClr val="08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108960"/>
            <a:ext cx="173736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SE Sans"/>
              </a:rPr>
              <a:t>Qwen3.5 Flash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60320" y="3017520"/>
            <a:ext cx="2880360" cy="1371600"/>
          </a:xfrm>
          <a:prstGeom prst="roundRect">
            <a:avLst/>
          </a:prstGeom>
          <a:solidFill>
            <a:srgbClr val="E6E6E6"/>
          </a:solidFill>
          <a:ln w="19050">
            <a:solidFill>
              <a:srgbClr val="B3B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3154680"/>
            <a:ext cx="2697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D4D4D"/>
                </a:solidFill>
                <a:latin typeface="HSE Sans"/>
              </a:rPr>
              <a:t>100%  →  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3520440"/>
            <a:ext cx="2697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3B3B3"/>
                </a:solidFill>
                <a:latin typeface="HSE Sans"/>
              </a:rPr>
              <a:t>N/A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4023360"/>
            <a:ext cx="2697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HSE Sans"/>
              </a:rPr>
              <a:t>Already at ceiling — no evolution needed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3017520"/>
            <a:ext cx="2880360" cy="13716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3154680"/>
            <a:ext cx="2697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D4D4D"/>
                </a:solidFill>
                <a:latin typeface="HSE Sans"/>
              </a:rPr>
              <a:t>60%  →  80%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520440"/>
            <a:ext cx="2697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E7D32"/>
                </a:solidFill>
                <a:latin typeface="HSE Sans"/>
              </a:rPr>
              <a:t>+20pp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3017520"/>
            <a:ext cx="2880360" cy="13716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3154680"/>
            <a:ext cx="2697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D4D4D"/>
                </a:solidFill>
                <a:latin typeface="HSE Sans"/>
              </a:rPr>
              <a:t>47%  →  58%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520440"/>
            <a:ext cx="2697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E7D32"/>
                </a:solidFill>
                <a:latin typeface="HSE Sans"/>
              </a:rPr>
              <a:t>+11pp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434840"/>
            <a:ext cx="1965960" cy="1371600"/>
          </a:xfrm>
          <a:prstGeom prst="rect">
            <a:avLst/>
          </a:prstGeom>
          <a:solidFill>
            <a:srgbClr val="08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526280"/>
            <a:ext cx="173736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SE Sans"/>
              </a:rPr>
              <a:t>GLM 4.7 Flash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60320" y="4434840"/>
            <a:ext cx="2880360" cy="13716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572000"/>
            <a:ext cx="2697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D4D4D"/>
                </a:solidFill>
                <a:latin typeface="HSE Sans"/>
              </a:rPr>
              <a:t>47%  →  73%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1760" y="4937760"/>
            <a:ext cx="2697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E7D32"/>
                </a:solidFill>
                <a:latin typeface="HSE Sans"/>
              </a:rPr>
              <a:t>+26pp*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5440680"/>
            <a:ext cx="2697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B0152E"/>
                </a:solidFill>
                <a:latin typeface="HSE Sans"/>
              </a:rPr>
              <a:t>*peak, then collapse to baseline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0" y="4434840"/>
            <a:ext cx="2880360" cy="137160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E6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77840" y="4572000"/>
            <a:ext cx="2697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D4D4D"/>
                </a:solidFill>
                <a:latin typeface="HSE Sans"/>
              </a:rPr>
              <a:t>50%  →  50%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4937760"/>
            <a:ext cx="2697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1E3C"/>
                </a:solidFill>
                <a:latin typeface="HSE Sans"/>
              </a:rPr>
              <a:t>0pp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5440680"/>
            <a:ext cx="2697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B0152E"/>
                </a:solidFill>
                <a:latin typeface="HSE Sans"/>
              </a:rPr>
              <a:t>Net regression under evolution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12480" y="4434840"/>
            <a:ext cx="2880360" cy="1371600"/>
          </a:xfrm>
          <a:prstGeom prst="roundRect">
            <a:avLst/>
          </a:prstGeom>
          <a:solidFill>
            <a:srgbClr val="E6E6E6"/>
          </a:solidFill>
          <a:ln w="19050">
            <a:solidFill>
              <a:srgbClr val="B3B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3920" y="4709160"/>
            <a:ext cx="2697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F7F7F"/>
                </a:solidFill>
                <a:latin typeface="HSE Sans"/>
              </a:rPr>
              <a:t>Dropped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5166360"/>
            <a:ext cx="2697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HSE Sans"/>
              </a:rPr>
              <a:t>Due to regression at 10t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5486400"/>
            <a:ext cx="12188952" cy="4572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" y="5577840"/>
            <a:ext cx="54864" cy="502920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6656" y="557784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HSE Sans"/>
              </a:rPr>
              <a:t>Fix rate decline: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" y="5742431"/>
            <a:ext cx="25603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1E3C"/>
                </a:solidFill>
                <a:latin typeface="HSE Sans"/>
              </a:rPr>
              <a:t>100% → 43% → 20%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" y="5925312"/>
            <a:ext cx="25603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HSE Sans"/>
              </a:rPr>
              <a:t>Diminishing returns with scale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83280" y="5577840"/>
            <a:ext cx="54864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11296" y="557784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HSE Sans"/>
              </a:rPr>
              <a:t>Instruction-tier fixes: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11296" y="5742431"/>
            <a:ext cx="25603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E7D32"/>
                </a:solidFill>
                <a:latin typeface="HSE Sans"/>
              </a:rPr>
              <a:t>70–92%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11296" y="5925312"/>
            <a:ext cx="25603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HSE Sans"/>
              </a:rPr>
              <a:t>Superficial Alignment Hypothesis confirmed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5577840"/>
            <a:ext cx="54864" cy="50292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45936" y="557784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HSE Sans"/>
              </a:rPr>
              <a:t>Hard core: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45936" y="5742431"/>
            <a:ext cx="25603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D69"/>
                </a:solidFill>
                <a:latin typeface="HSE Sans"/>
              </a:rPr>
              <a:t>Task 7 unfixable across ALL models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45936" y="5925312"/>
            <a:ext cx="25603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HSE Sans"/>
              </a:rPr>
              <a:t>Defines the prompt-level ceiling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52560" y="5577840"/>
            <a:ext cx="54864" cy="5029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80576" y="557784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HSE Sans"/>
              </a:rPr>
              <a:t>Saturation: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5742431"/>
            <a:ext cx="25603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57F17"/>
                </a:solidFill>
                <a:latin typeface="HSE Sans"/>
              </a:rPr>
              <a:t>Zero new fixes after sweep 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80576" y="5925312"/>
            <a:ext cx="25603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HSE Sans"/>
              </a:rPr>
              <a:t>Framework value in first 1–2 passes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6519672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3B3B3"/>
                </a:solidFill>
                <a:latin typeface="HSE Sans"/>
              </a:rPr>
              <a:t>8 experimental conditions  |  245 task-sweep evaluations  |  700+ individual trials  |  Paired t-test: p &lt; 0.001 (pooled, excl. GLM 10t)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