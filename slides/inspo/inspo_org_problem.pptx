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3B3B3"/>
                </a:solidFill>
                <a:latin typeface="HSE Sans"/>
              </a:rPr>
              <a:t>THE ORGANIZATIONAL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Chapter 1  /  Section 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D69"/>
                </a:solidFill>
                <a:latin typeface="HSE Sans"/>
              </a:rPr>
              <a:t>target ai headcount: 75 people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767839" cy="16459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6763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HSE Sans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167639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SE Sans"/>
              </a:rPr>
              <a:t>SYSTEMS
ANALYSTS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6480" y="1600200"/>
            <a:ext cx="1343558" cy="1645920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2199" y="1691640"/>
            <a:ext cx="125211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HSE Sans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2199" y="2103120"/>
            <a:ext cx="125211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HSE Sans"/>
              </a:rPr>
              <a:t>Developers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0038" y="1600200"/>
            <a:ext cx="1555699" cy="16459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5758" y="1691640"/>
            <a:ext cx="146425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HSE Sans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5758" y="2103120"/>
            <a:ext cx="146425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HSE Sans"/>
              </a:rPr>
              <a:t>Sales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5737" y="1600200"/>
            <a:ext cx="636422" cy="1645920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1457" y="1691640"/>
            <a:ext cx="54498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HSE Sans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1457" y="2103120"/>
            <a:ext cx="54498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HSE Sans"/>
              </a:rPr>
              <a:t>Other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29000"/>
            <a:ext cx="5303520" cy="59436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E6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02152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152E"/>
                </a:solidFill>
                <a:latin typeface="HSE Sans"/>
              </a:rPr>
              <a:t>Analysts &gt; Developers: the implementation team is the
largest function and the only one that scales linearly with deployments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926079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HSE Sans"/>
              </a:rPr>
              <a:t>BOTTLENECK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D69"/>
                </a:solidFill>
                <a:latin typeface="HSE Sans"/>
              </a:rPr>
              <a:t>The implementation tax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45920"/>
            <a:ext cx="53035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tos1 annual revenue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74519"/>
            <a:ext cx="4572000" cy="45720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901952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SE Sans"/>
              </a:rPr>
              <a:t>200M RUB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0320"/>
            <a:ext cx="53035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Analyst team direct labor cost (25 people)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788920"/>
            <a:ext cx="1714500" cy="45720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816352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SE Sans"/>
              </a:rPr>
              <a:t>75M RUB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2460" y="2834639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1E3C"/>
                </a:solidFill>
                <a:latin typeface="HSE Sans"/>
              </a:rPr>
              <a:t>= 37% of revenue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520439"/>
            <a:ext cx="1645920" cy="10058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611879"/>
            <a:ext cx="1463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D69"/>
                </a:solidFill>
                <a:latin typeface="HSE Sans"/>
              </a:rPr>
              <a:t>$45K–$55K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23359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per deployment/year
maintenance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3520439"/>
            <a:ext cx="1645920" cy="10058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3611879"/>
            <a:ext cx="1463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D69"/>
                </a:solidFill>
                <a:latin typeface="HSE Sans"/>
              </a:rPr>
              <a:t>0.5–3 FTE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023359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per deployment for
ongoing alignment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3520439"/>
            <a:ext cx="1645920" cy="10058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3611879"/>
            <a:ext cx="1463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61E3C"/>
                </a:solidFill>
                <a:latin typeface="HSE Sans"/>
              </a:rPr>
              <a:t>95%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023359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HSE Sans"/>
              </a:rPr>
              <a:t>of GenAI pilots fail
to deliver P&amp;L impact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577840"/>
            <a:ext cx="12188952" cy="54864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5577840"/>
            <a:ext cx="73152" cy="54864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5623560"/>
            <a:ext cx="11430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F2D69"/>
                </a:solidFill>
                <a:latin typeface="HSE Sans"/>
              </a:rPr>
              <a:t>Every new deployment adds load to the same 25-person team. The cost structure is linear in deployments — unsustainable at scale.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3B3B3"/>
                </a:solidFill>
                <a:latin typeface="HSE Sans"/>
              </a:rPr>
              <a:t>Target Voice migration: 210M → 60M RUB (2024–2025) — each migrating customer is additional load on the same analyst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