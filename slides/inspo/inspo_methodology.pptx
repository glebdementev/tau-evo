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3B3B3"/>
                </a:solidFill>
                <a:latin typeface="HSE Sans"/>
              </a:rPr>
              <a:t>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HSE Sans"/>
              </a:rPr>
              <a:t>Chapter 2  /  Section 2.1 — Methodology Choice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D69"/>
                </a:solidFill>
                <a:latin typeface="HSE Sans"/>
              </a:rPr>
              <a:t>Engineering Design Process: 7 Phases</a:t>
            </a:r>
          </a:p>
        </p:txBody>
      </p:sp>
      <p:pic>
        <p:nvPicPr>
          <p:cNvPr id="8" name="Picture 7" descr="fig_edp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772400" cy="2335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3291840"/>
            <a:ext cx="7772400" cy="36576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38328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D69"/>
                </a:solidFill>
                <a:latin typeface="HSE Sans"/>
              </a:rPr>
              <a:t>Why EDP over alternatives?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675888"/>
            <a:ext cx="2514600" cy="8686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F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320040" cy="86868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858768"/>
            <a:ext cx="2834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SE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4904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2D69"/>
                </a:solidFill>
                <a:latin typeface="HSE Sans"/>
              </a:rPr>
              <a:t>Deliverable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68496"/>
            <a:ext cx="2011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D4D4D"/>
                </a:solidFill>
                <a:latin typeface="HSE Sans"/>
              </a:rPr>
              <a:t>DPV is a framework — not architecture (TOGAF),
not production software (SDLC), not a model (CRISP-DM)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79" y="3675888"/>
            <a:ext cx="2514600" cy="8686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F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79" y="3675888"/>
            <a:ext cx="320040" cy="86868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4368" y="3858768"/>
            <a:ext cx="2834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SE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74904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2D69"/>
                </a:solidFill>
                <a:latin typeface="HSE Sans"/>
              </a:rPr>
              <a:t>Structural mirror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968496"/>
            <a:ext cx="2011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D4D4D"/>
                </a:solidFill>
                <a:latin typeface="HSE Sans"/>
              </a:rPr>
              <a:t>EDP’s test-redesign cycle mirrors the DPV’s own
iterate → evaluate → patch loop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3675888"/>
            <a:ext cx="2514600" cy="8686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F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77840" y="3675888"/>
            <a:ext cx="320040" cy="86868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6127" y="3858768"/>
            <a:ext cx="2834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SE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74904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2D69"/>
                </a:solidFill>
                <a:latin typeface="HSE Sans"/>
              </a:rPr>
              <a:t>Scope 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968496"/>
            <a:ext cx="2011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D4D4D"/>
                </a:solidFill>
                <a:latin typeface="HSE Sans"/>
              </a:rPr>
              <a:t>Sufficient rigor for project thesis without DSR’s
excessive theoretical apparatus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00584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D69"/>
                </a:solidFill>
                <a:latin typeface="HSE Sans"/>
              </a:rPr>
              <a:t>Methodology Selection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1353312"/>
            <a:ext cx="1005840" cy="2743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18319" y="1353312"/>
            <a:ext cx="1463040" cy="2743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881359" y="1353312"/>
            <a:ext cx="365760" cy="2743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1389888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HSE Sans"/>
              </a:rPr>
              <a:t>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1389888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HSE Sans"/>
              </a:rPr>
              <a:t>Focus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99648" y="1389888"/>
            <a:ext cx="3291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HSE Sans"/>
              </a:rPr>
              <a:t>Fit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1645920"/>
            <a:ext cx="283464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67344" y="1682496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D4D4D"/>
                </a:solidFill>
                <a:latin typeface="HSE Sans"/>
              </a:rPr>
              <a:t>TOGAF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3184" y="1682496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D4D4D"/>
                </a:solidFill>
                <a:latin typeface="HSE Sans"/>
              </a:rPr>
              <a:t>Enterprise arch.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99648" y="1682496"/>
            <a:ext cx="3291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1E3C"/>
                </a:solidFill>
                <a:latin typeface="HSE Sans"/>
              </a:rPr>
              <a:t>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1938528"/>
            <a:ext cx="28346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67344" y="1975104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D4D4D"/>
                </a:solidFill>
                <a:latin typeface="HSE Sans"/>
              </a:rPr>
              <a:t>SDLC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73184" y="1975104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D4D4D"/>
                </a:solidFill>
                <a:latin typeface="HSE Sans"/>
              </a:rPr>
              <a:t>Production SW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99648" y="1975104"/>
            <a:ext cx="3291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1E3C"/>
                </a:solidFill>
                <a:latin typeface="HSE Sans"/>
              </a:rPr>
              <a:t>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2231136"/>
            <a:ext cx="283464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67344" y="2267712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D4D4D"/>
                </a:solidFill>
                <a:latin typeface="HSE Sans"/>
              </a:rPr>
              <a:t>CRISP-DM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3184" y="2267712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D4D4D"/>
                </a:solidFill>
                <a:latin typeface="HSE Sans"/>
              </a:rPr>
              <a:t>ML model lifecycle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99648" y="2267712"/>
            <a:ext cx="3291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1E3C"/>
                </a:solidFill>
                <a:latin typeface="HSE Sans"/>
              </a:rPr>
              <a:t>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2523744"/>
            <a:ext cx="28346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67344" y="2560320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D4D4D"/>
                </a:solidFill>
                <a:latin typeface="HSE Sans"/>
              </a:rPr>
              <a:t>DSR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73184" y="256032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D4D4D"/>
                </a:solidFill>
                <a:latin typeface="HSE Sans"/>
              </a:rPr>
              <a:t>Design theory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99648" y="2560320"/>
            <a:ext cx="3291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57F17"/>
                </a:solidFill>
                <a:latin typeface="HSE Sans"/>
              </a:rPr>
              <a:t>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2816352"/>
            <a:ext cx="2834640" cy="274320"/>
          </a:xfrm>
          <a:prstGeom prst="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67344" y="2852928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2D69"/>
                </a:solidFill>
                <a:latin typeface="HSE Sans"/>
              </a:rPr>
              <a:t>EDP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73184" y="2852928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D4D4D"/>
                </a:solidFill>
                <a:latin typeface="HSE Sans"/>
              </a:rPr>
              <a:t>Eng. artifacts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99648" y="2852928"/>
            <a:ext cx="3291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2"/>
                </a:solidFill>
                <a:latin typeface="HSE Sans"/>
              </a:rPr>
              <a:t>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3383280"/>
            <a:ext cx="3474720" cy="36576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0" y="3474720"/>
            <a:ext cx="3474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D69"/>
                </a:solidFill>
                <a:latin typeface="HSE Sans"/>
              </a:rPr>
              <a:t>Diagnostic Tools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12480" y="3749040"/>
            <a:ext cx="1078992" cy="82296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0F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67344" y="3803904"/>
            <a:ext cx="96926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F2D69"/>
                </a:solidFill>
                <a:latin typeface="HSE Sans"/>
              </a:rPr>
              <a:t>Porter’s
5 Forces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67344" y="4187952"/>
            <a:ext cx="96926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HSE Sans"/>
              </a:rPr>
              <a:t>Market
structure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01200" y="3749040"/>
            <a:ext cx="1078992" cy="82296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23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56064" y="3803904"/>
            <a:ext cx="96926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34B9B"/>
                </a:solidFill>
                <a:latin typeface="HSE Sans"/>
              </a:rPr>
              <a:t>Value
Chain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56064" y="4187952"/>
            <a:ext cx="96926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HSE Sans"/>
              </a:rPr>
              <a:t>Bottleneck
identification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789919" y="3749040"/>
            <a:ext cx="1078992" cy="82296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E6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44784" y="3803904"/>
            <a:ext cx="96926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61E3C"/>
                </a:solidFill>
                <a:latin typeface="HSE Sans"/>
              </a:rPr>
              <a:t>Cost
Analysis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44784" y="4187952"/>
            <a:ext cx="96926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HSE Sans"/>
              </a:rPr>
              <a:t>Implementation
tax quantified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5074920"/>
            <a:ext cx="11640312" cy="3657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5166359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D69"/>
                </a:solidFill>
                <a:latin typeface="HSE Sans"/>
              </a:rPr>
              <a:t>Mapping EDP Phases to Thesis Chapters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5422392"/>
            <a:ext cx="21945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74320" y="5422392"/>
            <a:ext cx="365760" cy="64008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2608" y="5513831"/>
            <a:ext cx="32918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SE Sans"/>
              </a:rPr>
              <a:t>1–2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3232" y="5477255"/>
            <a:ext cx="16916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F2D69"/>
                </a:solidFill>
                <a:latin typeface="HSE Sans"/>
              </a:rPr>
              <a:t>Define + Research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232" y="5696712"/>
            <a:ext cx="1691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HSE Sans"/>
              </a:rPr>
              <a:t>Ch. 1: Diagnostic
study + Lit review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606039" y="5422392"/>
            <a:ext cx="21945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606039" y="5422392"/>
            <a:ext cx="365760" cy="640080"/>
          </a:xfrm>
          <a:prstGeom prst="rect">
            <a:avLst/>
          </a:prstGeom>
          <a:solidFill>
            <a:srgbClr val="23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24327" y="5513831"/>
            <a:ext cx="32918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SE Sans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44951" y="5477255"/>
            <a:ext cx="16916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34B9B"/>
                </a:solidFill>
                <a:latin typeface="HSE Sans"/>
              </a:rPr>
              <a:t>Requirements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44951" y="5696712"/>
            <a:ext cx="1691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HSE Sans"/>
              </a:rPr>
              <a:t>Ch. 1.3: Five
constraints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937759" y="5422392"/>
            <a:ext cx="21945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937759" y="5422392"/>
            <a:ext cx="365760" cy="6400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956047" y="5513831"/>
            <a:ext cx="32918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SE Sans"/>
              </a:rPr>
              <a:t>4–5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76671" y="5477255"/>
            <a:ext cx="16916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897B"/>
                </a:solidFill>
                <a:latin typeface="HSE Sans"/>
              </a:rPr>
              <a:t>Choose + Prototype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76671" y="5696712"/>
            <a:ext cx="1691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HSE Sans"/>
              </a:rPr>
              <a:t>Ch. 2: DPV
framework design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269479" y="5422392"/>
            <a:ext cx="21945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269479" y="5422392"/>
            <a:ext cx="36576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87767" y="5513831"/>
            <a:ext cx="32918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SE Sans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08392" y="5477255"/>
            <a:ext cx="16916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E7D32"/>
                </a:solidFill>
                <a:latin typeface="HSE Sans"/>
              </a:rPr>
              <a:t>Test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08392" y="5696712"/>
            <a:ext cx="1691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HSE Sans"/>
              </a:rPr>
              <a:t>Ch. 3: Experiments
8 conditions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601200" y="5422392"/>
            <a:ext cx="21945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601200" y="5422392"/>
            <a:ext cx="365760" cy="64008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19488" y="5513831"/>
            <a:ext cx="32918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SE Sans"/>
              </a:rPr>
              <a:t>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40112" y="5477255"/>
            <a:ext cx="16916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F7F7F"/>
                </a:solidFill>
                <a:latin typeface="HSE Sans"/>
              </a:rPr>
              <a:t>Communicate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40112" y="5696712"/>
            <a:ext cx="1691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HSE Sans"/>
              </a:rPr>
              <a:t>This thesis
+ defense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6519672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3B3B3"/>
                </a:solidFill>
                <a:latin typeface="HSE Sans"/>
              </a:rPr>
              <a:t>EDP selected over TOGAF, SDLC, DSR, CRISP-DM  |  Diagnostic: Porter’s 5 Forces + Value Chain + Cost Analysis  |  Iteration between phases 3–6 mirrors the DPV 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