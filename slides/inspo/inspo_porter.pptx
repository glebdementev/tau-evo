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B3B3"/>
                </a:solidFill>
                <a:latin typeface="HSE Sans"/>
              </a:rPr>
              <a:t>WHY AUTOMATED ALIGNMENT IS NECESSARY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Chapter 1  /  Section 1.3 — Diagnostic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5943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D69"/>
                </a:solidFill>
                <a:latin typeface="HSE Sans"/>
              </a:rPr>
              <a:t>Porter’s Five Forces: CX Automation Market</a:t>
            </a:r>
          </a:p>
        </p:txBody>
      </p:sp>
      <p:pic>
        <p:nvPicPr>
          <p:cNvPr id="8" name="Picture 7" descr="fig_ds_01_five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8448"/>
            <a:ext cx="5760720" cy="388040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" y="4663440"/>
            <a:ext cx="5760720" cy="457200"/>
          </a:xfrm>
          <a:prstGeom prst="roundRect">
            <a:avLst/>
          </a:prstGeom>
          <a:solidFill>
            <a:srgbClr val="0F2D69"/>
          </a:solidFill>
          <a:ln w="25400">
            <a:solidFill>
              <a:srgbClr val="081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681728"/>
            <a:ext cx="55321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SE Sans"/>
              </a:rPr>
              <a:t>→  All 5 forces converge: market structurally demands automated agent alignment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212080"/>
            <a:ext cx="45720" cy="5029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212080"/>
            <a:ext cx="1051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61E3C"/>
                </a:solidFill>
                <a:latin typeface="HSE Sans"/>
              </a:rPr>
              <a:t>Buyers: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76672"/>
            <a:ext cx="1051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D4D4D"/>
                </a:solidFill>
                <a:latin typeface="HSE Sans"/>
              </a:rPr>
              <a:t>Switching costs ↓
Outcome-based pricing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5608" y="5212080"/>
            <a:ext cx="45720" cy="5029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5212080"/>
            <a:ext cx="1051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61E3C"/>
                </a:solidFill>
                <a:latin typeface="HSE Sans"/>
              </a:rPr>
              <a:t>Suppliers: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5376672"/>
            <a:ext cx="1051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D4D4D"/>
                </a:solidFill>
                <a:latin typeface="HSE Sans"/>
              </a:rPr>
              <a:t>Few LLM providers
Sanctions limit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5212080"/>
            <a:ext cx="45720" cy="5029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5212080"/>
            <a:ext cx="1051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61E3C"/>
                </a:solidFill>
                <a:latin typeface="HSE Sans"/>
              </a:rPr>
              <a:t>Rivalry: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5376672"/>
            <a:ext cx="1051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D4D4D"/>
                </a:solidFill>
                <a:latin typeface="HSE Sans"/>
              </a:rPr>
              <a:t>Intercom, Sierra, Zendesk
Margins 50–65%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8184" y="5212080"/>
            <a:ext cx="4572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9624" y="5212080"/>
            <a:ext cx="1051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7F17"/>
                </a:solidFill>
                <a:latin typeface="HSE Sans"/>
              </a:rPr>
              <a:t>Entrants: MOD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5376672"/>
            <a:ext cx="1051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D4D4D"/>
                </a:solidFill>
                <a:latin typeface="HSE Sans"/>
              </a:rPr>
              <a:t>APIs commodity
Domain knowledge = moat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5212080"/>
            <a:ext cx="4572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5212080"/>
            <a:ext cx="1051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7F17"/>
                </a:solidFill>
                <a:latin typeface="HSE Sans"/>
              </a:rPr>
              <a:t>Substitutes: MOD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5376672"/>
            <a:ext cx="1051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D4D4D"/>
                </a:solidFill>
                <a:latin typeface="HSE Sans"/>
              </a:rPr>
              <a:t>AI $0.50–$2 vs
human $5–$15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987552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D69"/>
                </a:solidFill>
                <a:latin typeface="HSE Sans"/>
              </a:rPr>
              <a:t>Value Chain: The Bottleneck</a:t>
            </a:r>
          </a:p>
        </p:txBody>
      </p:sp>
      <p:pic>
        <p:nvPicPr>
          <p:cNvPr id="27" name="Picture 26" descr="fig_ds_02_value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98448"/>
            <a:ext cx="5577840" cy="206553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309360" y="3291840"/>
            <a:ext cx="17830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3649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D69"/>
                </a:solidFill>
                <a:latin typeface="HSE Sans"/>
              </a:rPr>
              <a:t>25 people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6576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HSE Sans"/>
              </a:rPr>
              <a:t>Same analyst pool for
activities 2 &amp;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291840"/>
            <a:ext cx="17830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3649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1E3C"/>
                </a:solidFill>
                <a:latin typeface="HSE Sans"/>
              </a:rPr>
              <a:t>75M RUB/yr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36576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HSE Sans"/>
              </a:rPr>
              <a:t>= 37% of tos1
annual revenue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13264" y="3291840"/>
            <a:ext cx="178308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6416" y="33649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D69"/>
                </a:solidFill>
                <a:latin typeface="HSE Sans"/>
              </a:rPr>
              <a:t>$45–$55K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6416" y="36576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HSE Sans"/>
              </a:rPr>
              <a:t>Per deployment/yr
maintenance cost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160520"/>
            <a:ext cx="5577840" cy="4572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206240"/>
            <a:ext cx="5349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DPV shifts cost structure: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2E7D32"/>
                </a:solidFill>
                <a:latin typeface="HSE Sans"/>
              </a:rPr>
              <a:t>Linear (per-FTE, per-deployment)  →  Near-fixed (teacher model compute)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754880"/>
            <a:ext cx="5577840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4846320"/>
            <a:ext cx="5577840" cy="822960"/>
          </a:xfrm>
          <a:prstGeom prst="roundRect">
            <a:avLst/>
          </a:prstGeom>
          <a:solidFill>
            <a:srgbClr val="FDF5E6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873752"/>
            <a:ext cx="2743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7F17"/>
                </a:solidFill>
                <a:latin typeface="HSE Sans"/>
              </a:rPr>
              <a:t>The Klarna Warning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5074920"/>
            <a:ext cx="5349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2.3M conversations/month, $40M projected savings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0152E"/>
                </a:solidFill>
                <a:latin typeface="HSE Sans"/>
              </a:rPr>
              <a:t>→ customer satisfaction declined within a year, human agents rehired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7F7F7F"/>
                </a:solidFill>
                <a:latin typeface="HSE Sans"/>
              </a:rPr>
              <a:t>Gartner: 50% of orgs will abandon CX AI workforce reduction by 2027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51967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Source: thesis Section 1.3  |  All five forces converge: automated agent alignment is a structural market requirement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