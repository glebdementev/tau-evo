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3B3B3"/>
                </a:solidFill>
                <a:latin typeface="HSE Sans"/>
              </a:rPr>
              <a:t>RECOMMENDATIONS FOR TARGET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Chapter 3  /  Section 3.5 — Recommendations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D69"/>
                </a:solidFill>
                <a:latin typeface="HSE Sans"/>
              </a:rPr>
              <a:t>Phased Integration Roadmap</a:t>
            </a:r>
          </a:p>
        </p:txBody>
      </p:sp>
      <p:pic>
        <p:nvPicPr>
          <p:cNvPr id="8" name="Picture 7" descr="fi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54490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4297680"/>
            <a:ext cx="11640312" cy="36576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38912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D69"/>
                </a:solidFill>
                <a:latin typeface="HSE Sans"/>
              </a:rPr>
              <a:t>Key Operational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663440"/>
            <a:ext cx="2788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4663440"/>
            <a:ext cx="54864" cy="128016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4736592"/>
            <a:ext cx="2514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D69"/>
                </a:solidFill>
                <a:latin typeface="HSE Sans"/>
              </a:rPr>
              <a:t>Patch consolidation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983480"/>
            <a:ext cx="2514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Every 3–5 sweeps to mitigate
prompt-space interference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5413248"/>
            <a:ext cx="2450592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5468112"/>
            <a:ext cx="7315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7F7F7F"/>
                </a:solidFill>
                <a:latin typeface="HSE Sans"/>
              </a:rPr>
              <a:t>Evidence: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559612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F7F7F"/>
                </a:solidFill>
                <a:latin typeface="HSE Sans"/>
              </a:rPr>
              <a:t>Thesis finding: patches degrade
previously passing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4663440"/>
            <a:ext cx="2788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4663440"/>
            <a:ext cx="54864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2" y="4736592"/>
            <a:ext cx="2514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2"/>
                </a:solidFill>
                <a:latin typeface="HSE Sans"/>
              </a:rPr>
              <a:t>Stronger teachers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4983480"/>
            <a:ext cx="2514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Highest-leverage single
improvement available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4992" y="5413248"/>
            <a:ext cx="2450592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5468112"/>
            <a:ext cx="7315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7F7F7F"/>
                </a:solidFill>
                <a:latin typeface="HSE Sans"/>
              </a:rPr>
              <a:t>Evidence: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559612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F7F7F"/>
                </a:solidFill>
                <a:latin typeface="HSE Sans"/>
              </a:rPr>
              <a:t>Qwen3.5 Flash at ceiling →
teacher quality is binding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663440"/>
            <a:ext cx="2788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663440"/>
            <a:ext cx="54864" cy="128016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4736592"/>
            <a:ext cx="2514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1E3C"/>
                </a:solidFill>
                <a:latin typeface="HSE Sans"/>
              </a:rPr>
              <a:t>Model screening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4983480"/>
            <a:ext cx="2514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Mandatory before deploying
with new student 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1072" y="5413248"/>
            <a:ext cx="2450592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5468112"/>
            <a:ext cx="7315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7F7F7F"/>
                </a:solidFill>
                <a:latin typeface="HSE Sans"/>
              </a:rPr>
              <a:t>Evidence: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559612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F7F7F"/>
                </a:solidFill>
                <a:latin typeface="HSE Sans"/>
              </a:rPr>
              <a:t>GLM 4.7 Flash regressed —
not all models benefit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4663440"/>
            <a:ext cx="2788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4663440"/>
            <a:ext cx="54864" cy="128016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7152" y="4736592"/>
            <a:ext cx="2514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7F17"/>
                </a:solidFill>
                <a:latin typeface="HSE Sans"/>
              </a:rPr>
              <a:t>Early termination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4983480"/>
            <a:ext cx="2514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D4D4D"/>
                </a:solidFill>
                <a:latin typeface="HSE Sans"/>
              </a:rPr>
              <a:t>Stop after 2 sweeps if
no new fixes found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17152" y="5413248"/>
            <a:ext cx="2450592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17152" y="5468112"/>
            <a:ext cx="7315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7F7F7F"/>
                </a:solidFill>
                <a:latin typeface="HSE Sans"/>
              </a:rPr>
              <a:t>Evidence: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2" y="559612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F7F7F"/>
                </a:solidFill>
                <a:latin typeface="HSE Sans"/>
              </a:rPr>
              <a:t>Reduces wasted compute
by 40–50%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5760720"/>
            <a:ext cx="12188952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760720"/>
            <a:ext cx="73152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788152"/>
            <a:ext cx="1143000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2D69"/>
                </a:solidFill>
                <a:latin typeface="HSE Sans"/>
              </a:rPr>
              <a:t>Integration effort: 2–4 engineering weeks to adapt research prototype to production-grade service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Domain-agnostic by design — prioritize domains by: (a) failure rate × (b) analyst cost per deployment = expected ROI per fix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Regression guard: rollback if pass rate drops &gt;2pp; rolling validation set of ≥50 tasks per domain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519672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3B3"/>
                </a:solidFill>
                <a:latin typeface="HSE Sans"/>
              </a:rPr>
              <a:t>Objective 5: Produce actionable recommendations for target ai  |  Phased rollout: validation → shadow mode → automated closed-loop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