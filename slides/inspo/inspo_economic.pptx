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81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7315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3B3B3"/>
                </a:solidFill>
                <a:latin typeface="HSE Sans"/>
              </a:rPr>
              <a:t>ECONOMIC EFFECTIVENESS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4572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F7F7F"/>
                </a:solidFill>
                <a:latin typeface="HSE Sans"/>
              </a:rPr>
              <a:t>Chapter 3  /  Section 3.5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E6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097280"/>
            <a:ext cx="27432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800" b="1">
                <a:solidFill>
                  <a:srgbClr val="2E7D32"/>
                </a:solidFill>
                <a:latin typeface="HSE Sans"/>
              </a:rPr>
              <a:t>$0.05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83080"/>
            <a:ext cx="2743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F7F7F"/>
                </a:solidFill>
                <a:latin typeface="HSE Sans"/>
              </a:rPr>
              <a:t>per fix (automated)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1280160"/>
            <a:ext cx="7315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B3B3B3"/>
                </a:solidFill>
                <a:latin typeface="HSE Sans"/>
              </a:rPr>
              <a:t>vs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1097280"/>
            <a:ext cx="32004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800" b="1">
                <a:solidFill>
                  <a:srgbClr val="E61E3C"/>
                </a:solidFill>
                <a:latin typeface="HSE Sans"/>
              </a:rPr>
              <a:t>$22–$86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1783080"/>
            <a:ext cx="3200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F7F7F"/>
                </a:solidFill>
                <a:latin typeface="HSE Sans"/>
              </a:rPr>
              <a:t>per fix (human analyst)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0" y="1188720"/>
            <a:ext cx="2103120" cy="640080"/>
          </a:xfrm>
          <a:prstGeom prst="roundRect">
            <a:avLst/>
          </a:prstGeom>
          <a:solidFill>
            <a:srgbClr val="0F2D69"/>
          </a:solidFill>
          <a:ln w="25400">
            <a:solidFill>
              <a:srgbClr val="081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60920" y="1188720"/>
            <a:ext cx="20116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HSE Sans"/>
              </a:rPr>
              <a:t>440–1,720x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60920" y="1508760"/>
            <a:ext cx="201168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B3B3B3"/>
                </a:solidFill>
                <a:latin typeface="HSE Sans"/>
              </a:rPr>
              <a:t>cheaper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92640" y="1188720"/>
            <a:ext cx="2011680" cy="64008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38360" y="1188720"/>
            <a:ext cx="19202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2E7D32"/>
                </a:solidFill>
                <a:latin typeface="HSE Sans"/>
              </a:rPr>
              <a:t>~2 months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38360" y="1508760"/>
            <a:ext cx="192024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7F7F7F"/>
                </a:solidFill>
                <a:latin typeface="HSE Sans"/>
              </a:rPr>
              <a:t>break-even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2194560"/>
            <a:ext cx="12188952" cy="36576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2423160"/>
            <a:ext cx="5029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F2D69"/>
                </a:solidFill>
                <a:latin typeface="HSE Sans"/>
              </a:rPr>
              <a:t>Annual per-deployment cost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2834640"/>
            <a:ext cx="3200400" cy="310896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749039" y="2834640"/>
            <a:ext cx="1280160" cy="310896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" y="2871216"/>
            <a:ext cx="301752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F2D69"/>
                </a:solidFill>
                <a:latin typeface="HSE Sans"/>
              </a:rPr>
              <a:t>Component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94759" y="2871216"/>
            <a:ext cx="118872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F2D69"/>
                </a:solidFill>
                <a:latin typeface="HSE Sans"/>
              </a:rPr>
              <a:t>Cost/yr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163824"/>
            <a:ext cx="3200400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749039" y="3163824"/>
            <a:ext cx="1280160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" y="3200400"/>
            <a:ext cx="301752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D4D4D"/>
                </a:solidFill>
                <a:latin typeface="HSE Sans"/>
              </a:rPr>
              <a:t>Teacher API (12 sweeps)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94759" y="3200400"/>
            <a:ext cx="118872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D4D4D"/>
                </a:solidFill>
                <a:latin typeface="HSE Sans"/>
              </a:rPr>
              <a:t>$44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3493008"/>
            <a:ext cx="3200400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749039" y="3493008"/>
            <a:ext cx="1280160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1792" y="3529584"/>
            <a:ext cx="301752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D4D4D"/>
                </a:solidFill>
                <a:latin typeface="HSE Sans"/>
              </a:rPr>
              <a:t>Student evaluation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94759" y="3529584"/>
            <a:ext cx="118872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D4D4D"/>
                </a:solidFill>
                <a:latin typeface="HSE Sans"/>
              </a:rPr>
              <a:t>$2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3822191"/>
            <a:ext cx="3200400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749039" y="3822191"/>
            <a:ext cx="1280160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1792" y="3858768"/>
            <a:ext cx="301752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D4D4D"/>
                </a:solidFill>
                <a:latin typeface="HSE Sans"/>
              </a:rPr>
              <a:t>Pipeline maintenance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794759" y="3858768"/>
            <a:ext cx="118872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D4D4D"/>
                </a:solidFill>
                <a:latin typeface="HSE Sans"/>
              </a:rPr>
              <a:t>$2,000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4151376"/>
            <a:ext cx="3200400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749039" y="4151376"/>
            <a:ext cx="1280160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1792" y="4187952"/>
            <a:ext cx="301752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D4D4D"/>
                </a:solidFill>
                <a:latin typeface="HSE Sans"/>
              </a:rPr>
              <a:t>Human patch review (4h/mo)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794759" y="4187952"/>
            <a:ext cx="118872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D4D4D"/>
                </a:solidFill>
                <a:latin typeface="HSE Sans"/>
              </a:rPr>
              <a:t>$1,056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" y="4480560"/>
            <a:ext cx="3200400" cy="310896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749039" y="4480560"/>
            <a:ext cx="1280160" cy="310896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1792" y="4517136"/>
            <a:ext cx="301752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F2D69"/>
                </a:solidFill>
                <a:latin typeface="HSE Sans"/>
              </a:rPr>
              <a:t>TOTAL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794759" y="4517136"/>
            <a:ext cx="118872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F2D69"/>
                </a:solidFill>
                <a:latin typeface="HSE Sans"/>
              </a:rPr>
              <a:t>$3,102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48640" y="4946904"/>
            <a:ext cx="4480560" cy="457200"/>
          </a:xfrm>
          <a:prstGeom prst="roundRect">
            <a:avLst/>
          </a:prstGeom>
          <a:solidFill>
            <a:srgbClr val="FFF0F0"/>
          </a:solidFill>
          <a:ln w="12700">
            <a:solidFill>
              <a:srgbClr val="E61E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58368" y="4992624"/>
            <a:ext cx="420624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E61E3C"/>
                </a:solidFill>
                <a:latin typeface="HSE Sans"/>
              </a:rPr>
              <a:t>Manual baseline: $45,000–$55,000 /yr /deployment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8368" y="5193792"/>
            <a:ext cx="420624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7F7F7F"/>
                </a:solidFill>
                <a:latin typeface="HSE Sans"/>
              </a:rPr>
              <a:t>Industry estimate: 0.5–3 FTEs per deployment (Gartner, 2025)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17920" y="2423160"/>
            <a:ext cx="5486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F2D69"/>
                </a:solidFill>
                <a:latin typeface="HSE Sans"/>
              </a:rPr>
              <a:t>First-year ROI by deployment scale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217920" y="2834640"/>
            <a:ext cx="1828800" cy="2834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2D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217920" y="2834640"/>
            <a:ext cx="1828800" cy="502920"/>
          </a:xfrm>
          <a:prstGeom prst="rect">
            <a:avLst/>
          </a:prstGeom>
          <a:solidFill>
            <a:srgbClr val="0F2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291072" y="2852928"/>
            <a:ext cx="169164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HSE Sans"/>
              </a:rPr>
              <a:t>Small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91072" y="3090672"/>
            <a:ext cx="169164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B3B3B3"/>
                </a:solidFill>
                <a:latin typeface="HSE Sans"/>
              </a:rPr>
              <a:t>N = 3 deployments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309359" y="3429000"/>
            <a:ext cx="164592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7F7F7F"/>
                </a:solidFill>
                <a:latin typeface="HSE Sans"/>
              </a:rPr>
              <a:t>Manual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309359" y="3584448"/>
            <a:ext cx="16459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61E3C"/>
                </a:solidFill>
                <a:latin typeface="HSE Sans"/>
              </a:rPr>
              <a:t>$202K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309359" y="3886200"/>
            <a:ext cx="164592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7F7F7F"/>
                </a:solidFill>
                <a:latin typeface="HSE Sans"/>
              </a:rPr>
              <a:t>Automated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309359" y="4041648"/>
            <a:ext cx="16459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E7D32"/>
                </a:solidFill>
                <a:latin typeface="HSE Sans"/>
              </a:rPr>
              <a:t>$19K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400800" y="4389120"/>
            <a:ext cx="1463040" cy="1828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309359" y="4480560"/>
            <a:ext cx="164592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7F7F7F"/>
                </a:solidFill>
                <a:latin typeface="HSE Sans"/>
              </a:rPr>
              <a:t>Net saving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309359" y="4636008"/>
            <a:ext cx="16459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F2D69"/>
                </a:solidFill>
                <a:latin typeface="HSE Sans"/>
              </a:rPr>
              <a:t>$183K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227064" y="5074920"/>
            <a:ext cx="1810512" cy="585216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309359" y="5102352"/>
            <a:ext cx="164592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2E7D32"/>
                </a:solidFill>
                <a:latin typeface="HSE Sans"/>
              </a:rPr>
              <a:t>ROI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309359" y="5257800"/>
            <a:ext cx="16459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2E7D32"/>
                </a:solidFill>
                <a:latin typeface="HSE Sans"/>
              </a:rPr>
              <a:t>1,732%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183879" y="2834640"/>
            <a:ext cx="1828800" cy="2834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2D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8183879" y="2834640"/>
            <a:ext cx="1828800" cy="502920"/>
          </a:xfrm>
          <a:prstGeom prst="rect">
            <a:avLst/>
          </a:prstGeom>
          <a:solidFill>
            <a:srgbClr val="0F2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257031" y="2852928"/>
            <a:ext cx="169164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HSE Sans"/>
              </a:rPr>
              <a:t>Medium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257031" y="3090672"/>
            <a:ext cx="169164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B3B3B3"/>
                </a:solidFill>
                <a:latin typeface="HSE Sans"/>
              </a:rPr>
              <a:t>N = 10 deployments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275319" y="3429000"/>
            <a:ext cx="164592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7F7F7F"/>
                </a:solidFill>
                <a:latin typeface="HSE Sans"/>
              </a:rPr>
              <a:t>Manual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275319" y="3584448"/>
            <a:ext cx="16459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61E3C"/>
                </a:solidFill>
                <a:latin typeface="HSE Sans"/>
              </a:rPr>
              <a:t>$675K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275319" y="3886200"/>
            <a:ext cx="164592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7F7F7F"/>
                </a:solidFill>
                <a:latin typeface="HSE Sans"/>
              </a:rPr>
              <a:t>Automated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275319" y="4041648"/>
            <a:ext cx="16459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E7D32"/>
                </a:solidFill>
                <a:latin typeface="HSE Sans"/>
              </a:rPr>
              <a:t>$41K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366759" y="4389120"/>
            <a:ext cx="1463040" cy="1828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275319" y="4480560"/>
            <a:ext cx="164592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7F7F7F"/>
                </a:solidFill>
                <a:latin typeface="HSE Sans"/>
              </a:rPr>
              <a:t>Net saving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275319" y="4636008"/>
            <a:ext cx="16459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F2D69"/>
                </a:solidFill>
                <a:latin typeface="HSE Sans"/>
              </a:rPr>
              <a:t>$634K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193023" y="5074920"/>
            <a:ext cx="1810512" cy="585216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275319" y="5102352"/>
            <a:ext cx="164592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2E7D32"/>
                </a:solidFill>
                <a:latin typeface="HSE Sans"/>
              </a:rPr>
              <a:t>ROI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275319" y="5257800"/>
            <a:ext cx="16459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2E7D32"/>
                </a:solidFill>
                <a:latin typeface="HSE Sans"/>
              </a:rPr>
              <a:t>6,240%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10149840" y="2834640"/>
            <a:ext cx="1828800" cy="2834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2D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10149840" y="2834640"/>
            <a:ext cx="1828800" cy="502920"/>
          </a:xfrm>
          <a:prstGeom prst="rect">
            <a:avLst/>
          </a:prstGeom>
          <a:solidFill>
            <a:srgbClr val="0F2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0222992" y="2852928"/>
            <a:ext cx="169164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HSE Sans"/>
              </a:rPr>
              <a:t>Large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222992" y="3090672"/>
            <a:ext cx="169164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B3B3B3"/>
                </a:solidFill>
                <a:latin typeface="HSE Sans"/>
              </a:rPr>
              <a:t>N = 30 deployments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0241280" y="3429000"/>
            <a:ext cx="164592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7F7F7F"/>
                </a:solidFill>
                <a:latin typeface="HSE Sans"/>
              </a:rPr>
              <a:t>Manual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241280" y="3584448"/>
            <a:ext cx="16459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61E3C"/>
                </a:solidFill>
                <a:latin typeface="HSE Sans"/>
              </a:rPr>
              <a:t>$2,025K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241280" y="3886200"/>
            <a:ext cx="164592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7F7F7F"/>
                </a:solidFill>
                <a:latin typeface="HSE Sans"/>
              </a:rPr>
              <a:t>Automated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241280" y="4041648"/>
            <a:ext cx="16459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E7D32"/>
                </a:solidFill>
                <a:latin typeface="HSE Sans"/>
              </a:rPr>
              <a:t>$103K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0332719" y="4389120"/>
            <a:ext cx="1463040" cy="1828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10241280" y="4480560"/>
            <a:ext cx="164592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7F7F7F"/>
                </a:solidFill>
                <a:latin typeface="HSE Sans"/>
              </a:rPr>
              <a:t>Net saving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0241280" y="4636008"/>
            <a:ext cx="16459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F2D69"/>
                </a:solidFill>
                <a:latin typeface="HSE Sans"/>
              </a:rPr>
              <a:t>$1,922K</a:t>
            </a:r>
          </a:p>
        </p:txBody>
      </p:sp>
      <p:sp>
        <p:nvSpPr>
          <p:cNvPr id="87" name="Rectangle 86"/>
          <p:cNvSpPr/>
          <p:nvPr/>
        </p:nvSpPr>
        <p:spPr>
          <a:xfrm>
            <a:off x="10158984" y="5074920"/>
            <a:ext cx="1810512" cy="585216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10241280" y="5102352"/>
            <a:ext cx="164592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2E7D32"/>
                </a:solidFill>
                <a:latin typeface="HSE Sans"/>
              </a:rPr>
              <a:t>ROI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241280" y="5257800"/>
            <a:ext cx="16459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2E7D32"/>
                </a:solidFill>
                <a:latin typeface="HSE Sans"/>
              </a:rPr>
              <a:t>19,119%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0" y="5760720"/>
            <a:ext cx="12188952" cy="4572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0" y="5760720"/>
            <a:ext cx="73152" cy="4572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274320" y="5779008"/>
            <a:ext cx="114300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2D69"/>
                </a:solidFill>
                <a:latin typeface="HSE Sans"/>
              </a:rPr>
              <a:t>The economic case is robust: even 10x token estimation error yields costs 3 orders of magnitude below manual baseline. 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7F7F7F"/>
                </a:solidFill>
                <a:latin typeface="HSE Sans"/>
              </a:rPr>
              <a:t>Dominant cost is human review ($1,056/yr), not compute ($46/yr). API cost deflation (~10x/yr) widens the gap over time.</a:t>
            </a:r>
          </a:p>
        </p:txBody>
      </p:sp>
      <p:sp>
        <p:nvSpPr>
          <p:cNvPr id="93" name="Rectangle 92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081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548640" y="6309360"/>
            <a:ext cx="109728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B3B3B3"/>
                </a:solidFill>
                <a:latin typeface="HSE Sans"/>
              </a:rPr>
              <a:t>Sensitivity: even worst-case (Claude Opus teacher + weekly sweeps + 16h/mo review + 3x tokens) = $104K/yr for 10 deployments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F57F17"/>
                </a:solidFill>
                <a:latin typeface="HSE Sans"/>
              </a:rPr>
              <a:t>— still 6.5x cheaper than manual baseline of $675K/yr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