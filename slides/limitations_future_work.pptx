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e_gs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74320"/>
            <a:ext cx="640080" cy="32004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300984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8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77856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40312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64992" y="466344"/>
            <a:ext cx="36576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Limitations &amp; Further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466344"/>
            <a:ext cx="36576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Chapter 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" y="1097280"/>
            <a:ext cx="11494008" cy="0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D69"/>
                </a:solidFill>
                <a:latin typeface="HSE Sans"/>
              </a:rPr>
              <a:t>Limitations &amp; Directions for Future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7373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HSE Sans"/>
              </a:rPr>
              <a:t>Limitations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2011680"/>
            <a:ext cx="457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993392"/>
            <a:ext cx="51937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62828"/>
                </a:solidFill>
                <a:latin typeface="HSE Sans"/>
              </a:rPr>
              <a:t>Single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139696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Only airline domain of τ²-bench tested. Retail and telecom remain unvalidated — different failure distributions may respond differently to prompt patching.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487168"/>
            <a:ext cx="457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68880"/>
            <a:ext cx="51937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7F17"/>
                </a:solidFill>
                <a:latin typeface="HSE Sans"/>
              </a:rPr>
              <a:t>One teacher–student 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615184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Kimi K2.5 → Qwen3 30B-A3B as primary pair. Different teachers may produce qualitatively different diagnoses; sensitivity to teacher choice is unstudied.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2962656"/>
            <a:ext cx="457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944368"/>
            <a:ext cx="51937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7F17"/>
                </a:solidFill>
                <a:latin typeface="HSE Sans"/>
              </a:rPr>
              <a:t>Low statistical 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3090672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Only 3 trials per task — majority-vote pass/fail gives limited resolution. 10–20 trials needed for confidence intervals and significance testing.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3438144"/>
            <a:ext cx="457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419856"/>
            <a:ext cx="51937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62828"/>
                </a:solidFill>
                <a:latin typeface="HSE Sans"/>
              </a:rPr>
              <a:t>No comparison baselines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3566160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No head-to-head comparison with RLHF, DPO, or LoRA fine-tuning. Relative efficiency of prompt evolution vs training-time methods remains open.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913632"/>
            <a:ext cx="457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95344"/>
            <a:ext cx="51937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7F17"/>
                </a:solidFill>
                <a:latin typeface="HSE Sans"/>
              </a:rPr>
              <a:t>Cumulative patching without retirement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041648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Patches accumulate without pruning or consolidation. Observed interference (GLM −31% GC) suggests unbounded accumulation will eventually degrade any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4389120"/>
            <a:ext cx="45720" cy="38404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370832"/>
            <a:ext cx="51937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F7F7F"/>
                </a:solidFill>
                <a:latin typeface="HSE Sans"/>
              </a:rPr>
              <a:t>User simulator confound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4517136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τ²-bench user simulator is itself an LLM. Shared model-family biases may inflate benchmark results vs real human users.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4864608"/>
            <a:ext cx="45720" cy="384048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846320"/>
            <a:ext cx="51937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2D69"/>
                </a:solidFill>
                <a:latin typeface="HSE Sans"/>
              </a:rPr>
              <a:t>Far from enterprise reliability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4992624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Best result: 73% trial pass rate (5 tasks). Enterprise target: 99.99%. Framework is one layer, not a complete solution.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17373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7B"/>
                </a:solidFill>
                <a:latin typeface="HSE Sans"/>
              </a:rPr>
              <a:t>Directions for future research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011680"/>
            <a:ext cx="4572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1993392"/>
            <a:ext cx="5376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0897B"/>
                </a:solidFill>
                <a:latin typeface="HSE Sans"/>
              </a:rPr>
              <a:t>Cross-domain &amp; cross-benchmark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139696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Extend to retail/telecom domains of τ²-bench and related benchmarks (CRMArena, τ-bench) to test generalisability of patterns.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487168"/>
            <a:ext cx="45720" cy="384048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2468880"/>
            <a:ext cx="5376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34B9B"/>
                </a:solidFill>
                <a:latin typeface="HSE Sans"/>
              </a:rPr>
              <a:t>Teacher–student ablations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2615184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Systematically vary teacher (GPT-4 class, Claude, open-source) and student (across families, sizes, architectures) to map the design space.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962656"/>
            <a:ext cx="45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2944368"/>
            <a:ext cx="5376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HSE Sans"/>
              </a:rPr>
              <a:t>Hybrid prompt + weight evolution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309067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Two-stage pipeline: prompt patches for easy wins, then remaining failures as training signal for LoRA/adapter fine-tuning. Test complementarity.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438144"/>
            <a:ext cx="457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3419856"/>
            <a:ext cx="5376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7F17"/>
                </a:solidFill>
                <a:latin typeface="HSE Sans"/>
              </a:rPr>
              <a:t>Patch management &amp; consolidation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356616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Periodic prompt consolidation, regression-aware patch acceptance, automated rollback. Prompt-space analogues of continual learning techniques.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913632"/>
            <a:ext cx="45720" cy="384048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3895344"/>
            <a:ext cx="5376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2D69"/>
                </a:solidFill>
                <a:latin typeface="HSE Sans"/>
              </a:rPr>
              <a:t>Evolution compatibility prediction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4041648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Identify predictive features (instruction-following benchmarks, prompt sensitivity) that predict whether a model benefits from or is harmed by evolution.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389120"/>
            <a:ext cx="45720" cy="384048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4370832"/>
            <a:ext cx="5376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34B9B"/>
                </a:solidFill>
                <a:latin typeface="HSE Sans"/>
              </a:rPr>
              <a:t>Multi-agent decomposition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4517136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If a single prompt cannot grow indefinitely without interference, decompose complex tasks into sub-agents with focused prompts and narrow tool sets.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864608"/>
            <a:ext cx="45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4846320"/>
            <a:ext cx="5376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HSE Sans"/>
              </a:rPr>
              <a:t>Real-world deployment study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4992624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Deploy in production customer service: teacher processes actual failure traces, patches validated against real-world success criteria and customer satisfaction.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5577840"/>
            <a:ext cx="11494008" cy="457200"/>
          </a:xfrm>
          <a:prstGeom prst="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Key constraint:  prompt evolution is effective but bounded — single domain, one teacher–student pair, low trial count, no training-time baselines. Next steps: cross-domain validation, hybrid prompt+weight methods, patch lifecycle management, and real-world deployment to bridge the gap from 73% to enterprise-grade reliability.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" y="6080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HSE Sans"/>
              </a:rPr>
              <a:t>Source: Chapters 4–5. Limitations drawn from §5.6 and §4.6.6; future work from §5.7 and §4.6.7.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