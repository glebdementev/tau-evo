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e_gs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74320"/>
            <a:ext cx="640080" cy="32004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3300984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9048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277856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40312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64992" y="466344"/>
            <a:ext cx="2651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HSE Sans"/>
              </a:rPr>
              <a:t>Literature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466344"/>
            <a:ext cx="2651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HSE Sans"/>
              </a:rPr>
              <a:t>Chapter 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" y="1097280"/>
            <a:ext cx="11494008" cy="0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3776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D69"/>
                </a:solidFill>
                <a:latin typeface="HSE Sans"/>
              </a:rPr>
              <a:t>Literature Review: Why Prompt-Level Evolution?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1737360"/>
            <a:ext cx="2606040" cy="2743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HSE Sans"/>
              </a:rPr>
              <a:t>1. Agents 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084831"/>
            <a:ext cx="2459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2D69"/>
                </a:solidFill>
                <a:latin typeface="HSE Sans"/>
              </a:rPr>
              <a:t>Even frontier models are below
enterprise 99.99%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33472"/>
            <a:ext cx="24597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τ²-bench </a:t>
            </a:r>
            <a:r>
              <a:rPr sz="800" b="0">
                <a:solidFill>
                  <a:srgbClr val="7F7F7F"/>
                </a:solidFill>
                <a:latin typeface="HSE Sans"/>
              </a:rPr>
              <a:t>(Barres et al., 2025)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best ~98%; need 99.99%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Reliability </a:t>
            </a:r>
            <a:r>
              <a:rPr sz="800" b="0">
                <a:solidFill>
                  <a:srgbClr val="7F7F7F"/>
                </a:solidFill>
                <a:latin typeface="HSE Sans"/>
              </a:rPr>
              <a:t>(Rabanser et al., 2025)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capability &gt; reliability; not on track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ReliabilityBench </a:t>
            </a:r>
            <a:r>
              <a:rPr sz="800" b="0">
                <a:solidFill>
                  <a:srgbClr val="7F7F7F"/>
                </a:solidFill>
                <a:latin typeface="HSE Sans"/>
              </a:rPr>
              <a:t>(2026)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90% bench → 70–80% production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CRMArena </a:t>
            </a:r>
            <a:r>
              <a:rPr sz="800" b="0">
                <a:solidFill>
                  <a:srgbClr val="7F7F7F"/>
                </a:solidFill>
                <a:latin typeface="HSE Sans"/>
              </a:rPr>
              <a:t>(Huang et al., 2025)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58% single → 35% multi-turn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GAIA </a:t>
            </a:r>
            <a:r>
              <a:rPr sz="800" b="0">
                <a:solidFill>
                  <a:srgbClr val="7F7F7F"/>
                </a:solidFill>
                <a:latin typeface="HSE Sans"/>
              </a:rPr>
              <a:t>(Mialon et al.,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humans 92% vs GPT-4 15%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" y="4599431"/>
            <a:ext cx="2514600" cy="502920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F2D69"/>
                </a:solidFill>
                <a:latin typeface="HSE Sans"/>
              </a:rPr>
              <a:t>Even 98% is a broken experience
at scale. Can we prompt-engineer?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08960" y="3291839"/>
            <a:ext cx="164592" cy="182880"/>
          </a:xfrm>
          <a:prstGeom prst="rightArrow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82696" y="1737360"/>
            <a:ext cx="2606040" cy="2743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HSE Sans"/>
              </a:rPr>
              <a:t>2. Prompting is brittle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084831"/>
            <a:ext cx="2459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2D69"/>
                </a:solidFill>
                <a:latin typeface="HSE Sans"/>
              </a:rPr>
              <a:t>Scaffolds improve performance
but cannot adapt or self-repair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633472"/>
            <a:ext cx="24597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Sensitivity </a:t>
            </a:r>
            <a:r>
              <a:rPr sz="800" b="0">
                <a:solidFill>
                  <a:srgbClr val="7F7F7F"/>
                </a:solidFill>
                <a:latin typeface="HSE Sans"/>
              </a:rPr>
              <a:t>(Sclar et al.,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trivial format changes →
up to 76 pts accuracy swing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CoT </a:t>
            </a:r>
            <a:r>
              <a:rPr sz="800" b="0">
                <a:solidFill>
                  <a:srgbClr val="7F7F7F"/>
                </a:solidFill>
                <a:latin typeface="HSE Sans"/>
              </a:rPr>
              <a:t>(Wei et al., 2022)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emerges only at ≥100B params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ReAct </a:t>
            </a:r>
            <a:r>
              <a:rPr sz="800" b="0">
                <a:solidFill>
                  <a:srgbClr val="7F7F7F"/>
                </a:solidFill>
                <a:latin typeface="HSE Sans"/>
              </a:rPr>
              <a:t>(Yao et al.,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gains, but no self-repair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APE </a:t>
            </a:r>
            <a:r>
              <a:rPr sz="800" b="0">
                <a:solidFill>
                  <a:srgbClr val="7F7F7F"/>
                </a:solidFill>
                <a:latin typeface="HSE Sans"/>
              </a:rPr>
              <a:t>(Zhou et al., 2022)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optimal prompts are fragile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28416" y="4599431"/>
            <a:ext cx="2514600" cy="502920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F2D69"/>
                </a:solidFill>
                <a:latin typeface="HSE Sans"/>
              </a:rPr>
              <a:t>Static prompts can't learn from
failures. Fine-tune instead?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897880" y="3291839"/>
            <a:ext cx="164592" cy="182880"/>
          </a:xfrm>
          <a:prstGeom prst="rightArrow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71616" y="1737360"/>
            <a:ext cx="2606040" cy="2743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HSE Sans"/>
              </a:rPr>
              <a:t>3. Fine-tuning is costly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2084831"/>
            <a:ext cx="2459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2D69"/>
                </a:solidFill>
                <a:latin typeface="HSE Sans"/>
              </a:rPr>
              <a:t>Weight modification works but
is expensive and destructive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2633472"/>
            <a:ext cx="24597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Alignment tax </a:t>
            </a:r>
            <a:r>
              <a:rPr sz="800" b="0">
                <a:solidFill>
                  <a:srgbClr val="7F7F7F"/>
                </a:solidFill>
                <a:latin typeface="HSE Sans"/>
              </a:rPr>
              <a:t>(Young, 2026)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proven mathematically
irreducible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SFT harm </a:t>
            </a:r>
            <a:r>
              <a:rPr sz="800" b="0">
                <a:solidFill>
                  <a:srgbClr val="7F7F7F"/>
                </a:solidFill>
                <a:latin typeface="HSE Sans"/>
              </a:rPr>
              <a:t>(Shenfeld, 2026)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collapses reasoning behavior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LIMA </a:t>
            </a:r>
            <a:r>
              <a:rPr sz="800" b="0">
                <a:solidFill>
                  <a:srgbClr val="7F7F7F"/>
                </a:solidFill>
                <a:latin typeface="HSE Sans"/>
              </a:rPr>
              <a:t>(Zhou et al.,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alignment = style, not knowledge
→ prompts should suffice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InstructGPT </a:t>
            </a:r>
            <a:r>
              <a:rPr sz="800" b="0">
                <a:solidFill>
                  <a:srgbClr val="7F7F7F"/>
                </a:solidFill>
                <a:latin typeface="HSE Sans"/>
              </a:rPr>
              <a:t>(Ouyang et al., 2022)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1.3B&gt;175B, but regresses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17336" y="4599431"/>
            <a:ext cx="2514600" cy="502920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F2D69"/>
                </a:solidFill>
                <a:latin typeface="HSE Sans"/>
              </a:rPr>
              <a:t>Weights are the wrong level.
Automate prompts instead?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686800" y="3291839"/>
            <a:ext cx="164592" cy="182880"/>
          </a:xfrm>
          <a:prstGeom prst="rightArrow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0536" y="1737360"/>
            <a:ext cx="2606040" cy="2743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HSE Sans"/>
              </a:rPr>
              <a:t>4. Auto-optimization exists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2084831"/>
            <a:ext cx="2459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2D69"/>
                </a:solidFill>
                <a:latin typeface="HSE Sans"/>
              </a:rPr>
              <a:t>Prompt optimizers show strong
gains — but not on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2633472"/>
            <a:ext cx="24597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GEPA </a:t>
            </a:r>
            <a:r>
              <a:rPr sz="800" b="0">
                <a:solidFill>
                  <a:srgbClr val="7F7F7F"/>
                </a:solidFill>
                <a:latin typeface="HSE Sans"/>
              </a:rPr>
              <a:t>(Agrawal et al., 2025)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genetic-Pareto optimizer;
ICLR 2026 Oral; +20% vs RL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TextGrad </a:t>
            </a:r>
            <a:r>
              <a:rPr sz="800" b="0">
                <a:solidFill>
                  <a:srgbClr val="7F7F7F"/>
                </a:solidFill>
                <a:latin typeface="HSE Sans"/>
              </a:rPr>
              <a:t>(Yuksekgonul, 2024)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+20% LeetCode; Nature 2025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DSPy </a:t>
            </a:r>
            <a:r>
              <a:rPr sz="800" b="0">
                <a:solidFill>
                  <a:srgbClr val="7F7F7F"/>
                </a:solidFill>
                <a:latin typeface="HSE Sans"/>
              </a:rPr>
              <a:t>(Khattab et al.,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+5–46% on HotPotQA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EvoPrompt </a:t>
            </a:r>
            <a:r>
              <a:rPr sz="800" b="0">
                <a:solidFill>
                  <a:srgbClr val="7F7F7F"/>
                </a:solidFill>
                <a:latin typeface="HSE Sans"/>
              </a:rPr>
              <a:t>(Guo et al.,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+25% Big-Bench Hard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06256" y="4599431"/>
            <a:ext cx="2514600" cy="502920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F2D69"/>
                </a:solidFill>
                <a:latin typeface="HSE Sans"/>
              </a:rPr>
              <a:t>All tested on NLU/NLG — none
on multi-turn tool-calling.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571500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HSE Sans"/>
              </a:rPr>
              <a:t>Distillation trajectory confirms the direction:  Hinton (2015) → DistilBERT (2019) → Alpaca (Taori et al., 2023) → Lion (Jiang et al., 2023) → DeepSeek-R1 (2025) → Kimi K1.5 (2025)  —  each generation lighter, but all still modify weights. Prompt-level transfer (SPoT, Vu et al., 2022) is feasible but untested on tool-calling agents.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